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docProps/custom.xml" Type="http://schemas.openxmlformats.org/officeDocument/2006/relationships/custom-properties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type="ctrTitle"/>
          </p:nvPr>
        </p:nvSpPr>
        <p:spPr>
          <a:xfrm>
            <a:off x="1180395" y="1861130"/>
            <a:ext cx="6703784" cy="2387600"/>
          </a:xfr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100000"/>
              </a:lnSpc>
              <a:spcBef>
                <a:spcPct val="0"/>
              </a:spcBef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 </a:t>
            </a:r>
          </a:p>
        </p:txBody>
      </p:sp>
      <p:sp>
        <p:nvSpPr>
          <p:cNvPr name="AutoShape 4" id="4"/>
          <p:cNvSpPr/>
          <p:nvPr>
            <p:ph type="subTitle" idx="1"/>
          </p:nvPr>
        </p:nvSpPr>
        <p:spPr>
          <a:xfrm>
            <a:off x="1778131" y="4712334"/>
            <a:ext cx="3651251" cy="931862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50000"/>
              </a:lnSpc>
              <a:spcBef>
                <a:spcPct val="0"/>
              </a:spcBef>
            </a:pPr>
            <a:r>
              <a:rPr lang="en-US" b="false" i="false" sz="1050" baseline="0" u="none">
                <a:solidFill>
                  <a:srgbClr val="FFFFFF"/>
                </a:solidFill>
                <a:latin typeface="Arial"/>
                <a:ea typeface="Arial"/>
              </a:rP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2.jpg" id="2"/>
          <p:cNvPicPr>
            <a:picLocks noChangeAspect="true"/>
          </p:cNvPicPr>
          <p:nvPr/>
        </p:nvPicPr>
        <p:blipFill>
          <a:blip r:embed="rId2"/>
          <a:srcRect t="2439" b="2439"/>
          <a:stretch>
            <a:fillRect/>
          </a:stretch>
        </p:blipFill>
        <p:spPr>
          <a:xfrm>
            <a:off x="-12700" y="0"/>
            <a:ext cx="12192001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type="title"/>
          </p:nvPr>
        </p:nvSpPr>
        <p:spPr>
          <a:xfrm>
            <a:off x="5443210" y="1326222"/>
            <a:ext cx="5677105" cy="1133475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456E72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4" id="4"/>
          <p:cNvSpPr/>
          <p:nvPr>
            <p:ph type="body" idx="1"/>
          </p:nvPr>
        </p:nvSpPr>
        <p:spPr>
          <a:xfrm>
            <a:off x="5436861" y="2463237"/>
            <a:ext cx="5677105" cy="965763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200" baseline="0" u="none">
                <a:solidFill>
                  <a:srgbClr val="456E72"/>
                </a:solidFill>
                <a:latin typeface="Arial"/>
                <a:ea typeface="Arial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4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9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b="false" i="false" sz="9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b="false" i="false" sz="9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9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末尾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>
            <a:off x="12191318" y="0"/>
            <a:ext cx="684" cy="13546"/>
          </a:xfrm>
          <a:custGeom>
            <a:avLst/>
            <a:gdLst/>
            <a:ahLst/>
            <a:cxnLst/>
            <a:rect r="r" b="b" t="t" l="l"/>
            <a:pathLst>
              <a:path w="684" h="13546" stroke="true" fill="norm" extrusionOk="true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</a:p>
        </p:txBody>
      </p:sp>
      <p:sp>
        <p:nvSpPr>
          <p:cNvPr name="AutoShape 4" id="4"/>
          <p:cNvSpPr/>
          <p:nvPr>
            <p:ph type="body" sz="quarter" idx="13"/>
          </p:nvPr>
        </p:nvSpPr>
        <p:spPr>
          <a:xfrm>
            <a:off x="1106327" y="1895261"/>
            <a:ext cx="10858500" cy="2319337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单击此处编辑母版文本样式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二级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三级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四级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请在插入菜单</a:t>
            </a: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zh-CN" b="false" i="false" sz="1800" baseline="0" u="none" altLang="en-US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180395" y="1861130"/>
            <a:ext cx="6703784" cy="2387600"/>
          </a:xfr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100000"/>
              </a:lnSpc>
              <a:spcBef>
                <a:spcPct val="0"/>
              </a:spcBef>
            </a:pPr>
            <a:r>
              <a:rPr lang="zh-CN" b="true" i="false" sz="3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第一讲认识人工智能--人工智能的定义与技术分类</a:t>
            </a:r>
          </a:p>
        </p:txBody>
      </p:sp>
      <p:sp>
        <p:nvSpPr>
          <p:cNvPr name="AutoShape 3" id="3"/>
          <p:cNvSpPr/>
          <p:nvPr>
            <p:ph type="subTitle" idx="1"/>
          </p:nvPr>
        </p:nvSpPr>
        <p:spPr>
          <a:xfrm>
            <a:off x="1778131" y="4712334"/>
            <a:ext cx="3651251" cy="931862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50000"/>
              </a:lnSpc>
              <a:spcBef>
                <a:spcPct val="0"/>
              </a:spcBef>
            </a:pPr>
            <a:r>
              <a:rPr lang="zh-CN" b="fals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1180395" y="4753553"/>
            <a:ext cx="424979" cy="424979"/>
            <a:chOff x="3548132" y="5554707"/>
            <a:chExt cx="255557" cy="255557"/>
          </a:xfrm>
        </p:grpSpPr>
        <p:sp>
          <p:nvSpPr>
            <p:cNvPr name="AutoShape 5" id="5"/>
            <p:cNvSpPr/>
            <p:nvPr/>
          </p:nvSpPr>
          <p:spPr>
            <a:xfrm flipV="true">
              <a:off x="3548132" y="5554707"/>
              <a:ext cx="255557" cy="255557"/>
            </a:xfrm>
            <a:prstGeom prst="ellipse">
              <a:avLst/>
            </a:prstGeom>
            <a:noFill/>
            <a:ln w="6350" cap="rnd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normAutofit/>
            </a:bodyPr>
            <a:p>
              <a:pPr algn="ctr" marL="0">
                <a:lnSpc>
                  <a:spcPct val="96000"/>
                </a:lnSpc>
              </a:pPr>
              <a:r>
                <a:rPr lang="en-US" b="true" i="false" sz="1250" baseline="0" u="none">
                  <a:solidFill>
                    <a:schemeClr val="lt1"/>
                  </a:solidFill>
                  <a:latin typeface="微软雅黑"/>
                  <a:ea typeface="微软雅黑"/>
                </a:rPr>
                <a:t>0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V="true">
              <a:off x="3652018" y="5638500"/>
              <a:ext cx="77807" cy="87971"/>
            </a:xfrm>
            <a:custGeom>
              <a:avLst/>
              <a:gdLst/>
              <a:ahLst/>
              <a:cxnLst/>
              <a:rect r="r" b="b" t="t" l="l"/>
              <a:pathLst>
                <a:path w="1635382" h="1849045" stroke="true" fill="norm" extrusionOk="true">
                  <a:moveTo>
                    <a:pt x="1496663" y="679532"/>
                  </a:moveTo>
                  <a:lnTo>
                    <a:pt x="432721" y="41167"/>
                  </a:lnTo>
                  <a:cubicBezTo>
                    <a:pt x="242316" y="-73133"/>
                    <a:pt x="0" y="64122"/>
                    <a:pt x="0" y="286245"/>
                  </a:cubicBezTo>
                  <a:lnTo>
                    <a:pt x="0" y="1562881"/>
                  </a:lnTo>
                  <a:cubicBezTo>
                    <a:pt x="0" y="1785004"/>
                    <a:pt x="242316" y="1922164"/>
                    <a:pt x="432721" y="1807864"/>
                  </a:cubicBezTo>
                  <a:lnTo>
                    <a:pt x="1496568" y="1169594"/>
                  </a:lnTo>
                  <a:cubicBezTo>
                    <a:pt x="1681639" y="1058532"/>
                    <a:pt x="1681639" y="790499"/>
                    <a:pt x="1496663" y="679532"/>
                  </a:cubicBez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1" y="-3"/>
            <a:ext cx="2420470" cy="2880727"/>
          </a:xfrm>
          <a:custGeom>
            <a:avLst/>
            <a:gdLst/>
            <a:ahLst/>
            <a:cxnLst/>
            <a:rect r="r" b="b" t="t" l="l"/>
            <a:pathLst>
              <a:path w="2248349" h="2675877" stroke="true" fill="norm" extrusionOk="true">
                <a:moveTo>
                  <a:pt x="0" y="2675877"/>
                </a:moveTo>
                <a:lnTo>
                  <a:pt x="1575045" y="2675877"/>
                </a:lnTo>
                <a:lnTo>
                  <a:pt x="2248349" y="1337939"/>
                </a:lnTo>
                <a:lnTo>
                  <a:pt x="15750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 idx="4294967295"/>
          </p:nvPr>
        </p:nvSpPr>
        <p:spPr>
          <a:xfrm>
            <a:off x="660400" y="38905"/>
            <a:ext cx="509905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60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407011" y="3768725"/>
            <a:ext cx="2149864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人工智能的分类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407011" y="3030794"/>
            <a:ext cx="214986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4000" baseline="0" u="none">
                <a:solidFill>
                  <a:schemeClr val="accent2"/>
                </a:solidFill>
                <a:latin typeface="Arial"/>
                <a:ea typeface="Arial"/>
              </a:rPr>
              <a:t>03.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407009" y="4467883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786688" y="2113803"/>
            <a:ext cx="2149864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人工智能的定义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786688" y="1375872"/>
            <a:ext cx="214986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4000" baseline="0" u="none">
                <a:solidFill>
                  <a:schemeClr val="accent2"/>
                </a:solidFill>
                <a:latin typeface="Arial"/>
                <a:ea typeface="Arial"/>
              </a:rPr>
              <a:t>01.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786688" y="2812961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2" id="12"/>
          <p:cNvSpPr txBox="true"/>
          <p:nvPr/>
        </p:nvSpPr>
        <p:spPr>
          <a:xfrm>
            <a:off x="3571624" y="2113803"/>
            <a:ext cx="2149864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人工智能的主要技术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3571624" y="1375872"/>
            <a:ext cx="214986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4000" baseline="0" u="none">
                <a:solidFill>
                  <a:schemeClr val="accent2"/>
                </a:solidFill>
                <a:latin typeface="Arial"/>
                <a:ea typeface="Arial"/>
              </a:rPr>
              <a:t>02.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3571623" y="2812961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5" id="15"/>
          <p:cNvSpPr txBox="true"/>
          <p:nvPr/>
        </p:nvSpPr>
        <p:spPr>
          <a:xfrm>
            <a:off x="9191949" y="3768725"/>
            <a:ext cx="2149864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人工智能的应用领域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9191949" y="3030794"/>
            <a:ext cx="214986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4000" baseline="0" u="none">
                <a:solidFill>
                  <a:schemeClr val="accent2"/>
                </a:solidFill>
                <a:latin typeface="Arial"/>
                <a:ea typeface="Arial"/>
              </a:rPr>
              <a:t>04.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9191946" y="4467883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8" id="18"/>
          <p:cNvSpPr txBox="true"/>
          <p:nvPr/>
        </p:nvSpPr>
        <p:spPr>
          <a:xfrm>
            <a:off x="800351" y="5283702"/>
            <a:ext cx="2149864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人工智能的挑战与伦理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00351" y="4545771"/>
            <a:ext cx="214986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4000" baseline="0" u="none">
                <a:solidFill>
                  <a:schemeClr val="accent2"/>
                </a:solidFill>
                <a:latin typeface="Arial"/>
                <a:ea typeface="Arial"/>
              </a:rPr>
              <a:t>05.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800351" y="5982860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21" id="21"/>
          <p:cNvSpPr txBox="true"/>
          <p:nvPr/>
        </p:nvSpPr>
        <p:spPr>
          <a:xfrm>
            <a:off x="3585287" y="5283702"/>
            <a:ext cx="2149864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未来人工智能的发展趋势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3585287" y="4545771"/>
            <a:ext cx="2149864" cy="7078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4000" baseline="0" u="none">
                <a:solidFill>
                  <a:schemeClr val="accent2"/>
                </a:solidFill>
                <a:latin typeface="Arial"/>
                <a:ea typeface="Arial"/>
              </a:rPr>
              <a:t>06.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>
            <a:off x="3585286" y="5982860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00310" y="3317521"/>
            <a:ext cx="5677105" cy="480131"/>
          </a:xfrm>
        </p:spPr>
        <p:txBody>
          <a:bodyPr vert="horz" anchor="ctr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456E72"/>
                </a:solidFill>
                <a:latin typeface="微软雅黑"/>
                <a:ea typeface="微软雅黑"/>
              </a:rPr>
              <a:t>人工智能的定义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410730" y="2895868"/>
            <a:ext cx="1326005" cy="1323439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US" b="true" i="false" sz="8000" baseline="0" u="none">
                <a:ln w="12700"/>
                <a:solidFill>
                  <a:srgbClr val="456E72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什么是人工智能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140425" y="3501963"/>
            <a:ext cx="3160309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人工智能是研究和开发具有模拟人类智能能力的计算机系统的学科。它涵盖了感知、推理、学习和自主决策等多种功能。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140425" y="3024558"/>
            <a:ext cx="316030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定义总结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>
            <a:off x="8244077" y="2439445"/>
            <a:ext cx="258614" cy="359832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75403" y="112293"/>
                </a:moveTo>
                <a:lnTo>
                  <a:pt x="75403" y="112293"/>
                </a:lnTo>
                <a:cubicBezTo>
                  <a:pt x="75403" y="114770"/>
                  <a:pt x="78044" y="117247"/>
                  <a:pt x="80684" y="117247"/>
                </a:cubicBezTo>
                <a:cubicBezTo>
                  <a:pt x="109144" y="119724"/>
                  <a:pt x="109144" y="119724"/>
                  <a:pt x="109144" y="119724"/>
                </a:cubicBezTo>
                <a:cubicBezTo>
                  <a:pt x="112078" y="119724"/>
                  <a:pt x="112078" y="117247"/>
                  <a:pt x="114718" y="114770"/>
                </a:cubicBezTo>
                <a:cubicBezTo>
                  <a:pt x="114718" y="92752"/>
                  <a:pt x="114718" y="92752"/>
                  <a:pt x="114718" y="92752"/>
                </a:cubicBezTo>
                <a:cubicBezTo>
                  <a:pt x="78044" y="90275"/>
                  <a:pt x="78044" y="90275"/>
                  <a:pt x="78044" y="90275"/>
                </a:cubicBezTo>
                <a:lnTo>
                  <a:pt x="75403" y="112293"/>
                </a:lnTo>
                <a:close/>
                <a:moveTo>
                  <a:pt x="5281" y="92752"/>
                </a:moveTo>
                <a:lnTo>
                  <a:pt x="5281" y="92752"/>
                </a:lnTo>
                <a:cubicBezTo>
                  <a:pt x="5281" y="114770"/>
                  <a:pt x="5281" y="114770"/>
                  <a:pt x="5281" y="114770"/>
                </a:cubicBezTo>
                <a:cubicBezTo>
                  <a:pt x="5281" y="117247"/>
                  <a:pt x="7921" y="119724"/>
                  <a:pt x="10268" y="119724"/>
                </a:cubicBezTo>
                <a:cubicBezTo>
                  <a:pt x="39022" y="117247"/>
                  <a:pt x="39022" y="117247"/>
                  <a:pt x="39022" y="117247"/>
                </a:cubicBezTo>
                <a:cubicBezTo>
                  <a:pt x="41662" y="117247"/>
                  <a:pt x="44303" y="114770"/>
                  <a:pt x="44303" y="112293"/>
                </a:cubicBezTo>
                <a:cubicBezTo>
                  <a:pt x="41662" y="90275"/>
                  <a:pt x="41662" y="90275"/>
                  <a:pt x="41662" y="90275"/>
                </a:cubicBezTo>
                <a:lnTo>
                  <a:pt x="5281" y="92752"/>
                </a:lnTo>
                <a:close/>
                <a:moveTo>
                  <a:pt x="0" y="56422"/>
                </a:moveTo>
                <a:lnTo>
                  <a:pt x="0" y="56422"/>
                </a:lnTo>
                <a:cubicBezTo>
                  <a:pt x="2640" y="80642"/>
                  <a:pt x="2640" y="80642"/>
                  <a:pt x="2640" y="80642"/>
                </a:cubicBezTo>
                <a:cubicBezTo>
                  <a:pt x="39022" y="75688"/>
                  <a:pt x="39022" y="75688"/>
                  <a:pt x="39022" y="75688"/>
                </a:cubicBezTo>
                <a:cubicBezTo>
                  <a:pt x="39022" y="53944"/>
                  <a:pt x="39022" y="53944"/>
                  <a:pt x="39022" y="53944"/>
                </a:cubicBezTo>
                <a:lnTo>
                  <a:pt x="39022" y="51467"/>
                </a:lnTo>
                <a:cubicBezTo>
                  <a:pt x="39022" y="41834"/>
                  <a:pt x="46943" y="31926"/>
                  <a:pt x="59853" y="31926"/>
                </a:cubicBezTo>
                <a:cubicBezTo>
                  <a:pt x="72762" y="31926"/>
                  <a:pt x="80684" y="41834"/>
                  <a:pt x="80684" y="51467"/>
                </a:cubicBezTo>
                <a:lnTo>
                  <a:pt x="80684" y="53944"/>
                </a:lnTo>
                <a:cubicBezTo>
                  <a:pt x="78044" y="75688"/>
                  <a:pt x="78044" y="75688"/>
                  <a:pt x="78044" y="75688"/>
                </a:cubicBezTo>
                <a:cubicBezTo>
                  <a:pt x="117066" y="80642"/>
                  <a:pt x="117066" y="80642"/>
                  <a:pt x="117066" y="80642"/>
                </a:cubicBezTo>
                <a:cubicBezTo>
                  <a:pt x="119706" y="56422"/>
                  <a:pt x="119706" y="56422"/>
                  <a:pt x="119706" y="56422"/>
                </a:cubicBezTo>
                <a:cubicBezTo>
                  <a:pt x="119706" y="53944"/>
                  <a:pt x="119706" y="53944"/>
                  <a:pt x="119706" y="51467"/>
                </a:cubicBezTo>
                <a:cubicBezTo>
                  <a:pt x="119706" y="22018"/>
                  <a:pt x="93594" y="0"/>
                  <a:pt x="59853" y="0"/>
                </a:cubicBezTo>
                <a:cubicBezTo>
                  <a:pt x="25819" y="0"/>
                  <a:pt x="0" y="22018"/>
                  <a:pt x="0" y="51467"/>
                </a:cubicBezTo>
                <a:cubicBezTo>
                  <a:pt x="0" y="53944"/>
                  <a:pt x="0" y="53944"/>
                  <a:pt x="0" y="5642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fontAlgn="auto" algn="l" indent="0" marR="0" mar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TextBox 9" id="9"/>
          <p:cNvSpPr txBox="true"/>
          <p:nvPr/>
        </p:nvSpPr>
        <p:spPr>
          <a:xfrm>
            <a:off x="673100" y="3501963"/>
            <a:ext cx="3160309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人工智能的概念最早提出于1956年的达特茅斯会议，标志着这一领域的起步。在随后的几十年中，计算机技术及算法快速发展，为人工智能奠定了基础。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73100" y="3024558"/>
            <a:ext cx="316030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历史背景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>
            <a:off x="782082" y="2402346"/>
            <a:ext cx="287588" cy="297341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59879" y="45112"/>
                </a:moveTo>
                <a:lnTo>
                  <a:pt x="59879" y="45112"/>
                </a:lnTo>
                <a:cubicBezTo>
                  <a:pt x="49014" y="45112"/>
                  <a:pt x="42736" y="52932"/>
                  <a:pt x="42736" y="66466"/>
                </a:cubicBezTo>
                <a:cubicBezTo>
                  <a:pt x="42736" y="80000"/>
                  <a:pt x="49014" y="87819"/>
                  <a:pt x="59879" y="87819"/>
                </a:cubicBezTo>
                <a:cubicBezTo>
                  <a:pt x="70503" y="87819"/>
                  <a:pt x="77022" y="80000"/>
                  <a:pt x="77022" y="66466"/>
                </a:cubicBezTo>
                <a:cubicBezTo>
                  <a:pt x="77022" y="52932"/>
                  <a:pt x="70503" y="45112"/>
                  <a:pt x="59879" y="45112"/>
                </a:cubicBezTo>
                <a:close/>
                <a:moveTo>
                  <a:pt x="106720" y="21052"/>
                </a:moveTo>
                <a:lnTo>
                  <a:pt x="106720" y="21052"/>
                </a:lnTo>
                <a:cubicBezTo>
                  <a:pt x="93923" y="21052"/>
                  <a:pt x="93923" y="21052"/>
                  <a:pt x="93923" y="21052"/>
                </a:cubicBezTo>
                <a:cubicBezTo>
                  <a:pt x="91750" y="21052"/>
                  <a:pt x="89818" y="21052"/>
                  <a:pt x="87645" y="18345"/>
                </a:cubicBezTo>
                <a:cubicBezTo>
                  <a:pt x="85472" y="2406"/>
                  <a:pt x="85472" y="2406"/>
                  <a:pt x="85472" y="2406"/>
                </a:cubicBezTo>
                <a:cubicBezTo>
                  <a:pt x="83299" y="2406"/>
                  <a:pt x="81126" y="0"/>
                  <a:pt x="78953" y="0"/>
                </a:cubicBezTo>
                <a:cubicBezTo>
                  <a:pt x="38390" y="0"/>
                  <a:pt x="38390" y="0"/>
                  <a:pt x="38390" y="0"/>
                </a:cubicBezTo>
                <a:cubicBezTo>
                  <a:pt x="38390" y="0"/>
                  <a:pt x="36217" y="2406"/>
                  <a:pt x="34285" y="2406"/>
                </a:cubicBezTo>
                <a:cubicBezTo>
                  <a:pt x="29698" y="18345"/>
                  <a:pt x="29698" y="18345"/>
                  <a:pt x="29698" y="18345"/>
                </a:cubicBezTo>
                <a:cubicBezTo>
                  <a:pt x="29698" y="21052"/>
                  <a:pt x="27766" y="21052"/>
                  <a:pt x="25593" y="21052"/>
                </a:cubicBezTo>
                <a:cubicBezTo>
                  <a:pt x="12796" y="21052"/>
                  <a:pt x="12796" y="21052"/>
                  <a:pt x="12796" y="21052"/>
                </a:cubicBezTo>
                <a:cubicBezTo>
                  <a:pt x="4104" y="21052"/>
                  <a:pt x="0" y="29172"/>
                  <a:pt x="0" y="36992"/>
                </a:cubicBezTo>
                <a:cubicBezTo>
                  <a:pt x="0" y="103759"/>
                  <a:pt x="0" y="103759"/>
                  <a:pt x="0" y="103759"/>
                </a:cubicBezTo>
                <a:cubicBezTo>
                  <a:pt x="0" y="111879"/>
                  <a:pt x="4104" y="119699"/>
                  <a:pt x="12796" y="119699"/>
                </a:cubicBezTo>
                <a:cubicBezTo>
                  <a:pt x="106720" y="119699"/>
                  <a:pt x="106720" y="119699"/>
                  <a:pt x="106720" y="119699"/>
                </a:cubicBezTo>
                <a:cubicBezTo>
                  <a:pt x="113480" y="119699"/>
                  <a:pt x="119758" y="111879"/>
                  <a:pt x="119758" y="103759"/>
                </a:cubicBezTo>
                <a:cubicBezTo>
                  <a:pt x="119758" y="36992"/>
                  <a:pt x="119758" y="36992"/>
                  <a:pt x="119758" y="36992"/>
                </a:cubicBezTo>
                <a:cubicBezTo>
                  <a:pt x="119758" y="29172"/>
                  <a:pt x="113480" y="21052"/>
                  <a:pt x="106720" y="21052"/>
                </a:cubicBezTo>
                <a:close/>
                <a:moveTo>
                  <a:pt x="59879" y="103759"/>
                </a:moveTo>
                <a:lnTo>
                  <a:pt x="59879" y="103759"/>
                </a:lnTo>
                <a:cubicBezTo>
                  <a:pt x="42736" y="103759"/>
                  <a:pt x="29698" y="87819"/>
                  <a:pt x="29698" y="66466"/>
                </a:cubicBezTo>
                <a:cubicBezTo>
                  <a:pt x="29698" y="45112"/>
                  <a:pt x="42736" y="29172"/>
                  <a:pt x="59879" y="29172"/>
                </a:cubicBezTo>
                <a:cubicBezTo>
                  <a:pt x="77022" y="29172"/>
                  <a:pt x="89818" y="45112"/>
                  <a:pt x="89818" y="66466"/>
                </a:cubicBezTo>
                <a:cubicBezTo>
                  <a:pt x="89818" y="87819"/>
                  <a:pt x="77022" y="103759"/>
                  <a:pt x="59879" y="103759"/>
                </a:cubicBezTo>
                <a:close/>
                <a:moveTo>
                  <a:pt x="102615" y="47819"/>
                </a:moveTo>
                <a:lnTo>
                  <a:pt x="102615" y="47819"/>
                </a:lnTo>
                <a:cubicBezTo>
                  <a:pt x="100442" y="47819"/>
                  <a:pt x="98269" y="45112"/>
                  <a:pt x="98269" y="42406"/>
                </a:cubicBezTo>
                <a:cubicBezTo>
                  <a:pt x="98269" y="39699"/>
                  <a:pt x="100442" y="36992"/>
                  <a:pt x="102615" y="36992"/>
                </a:cubicBezTo>
                <a:cubicBezTo>
                  <a:pt x="104547" y="36992"/>
                  <a:pt x="106720" y="39699"/>
                  <a:pt x="106720" y="42406"/>
                </a:cubicBezTo>
                <a:cubicBezTo>
                  <a:pt x="106720" y="45112"/>
                  <a:pt x="104547" y="47819"/>
                  <a:pt x="102615" y="4781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fontAlgn="auto" algn="l" indent="0" marR="0" mar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TextBox 12" id="12"/>
          <p:cNvSpPr txBox="true"/>
          <p:nvPr/>
        </p:nvSpPr>
        <p:spPr>
          <a:xfrm>
            <a:off x="4419433" y="3501963"/>
            <a:ext cx="3160309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自20世纪50年代以来，人工智能经历了多个发展阶段，包括早期的符号主义、知识推理，到近年来的深度学习革命，技术不断演进，应用逐渐普及。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4419433" y="3024558"/>
            <a:ext cx="316030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发展历程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>
            <a:off x="4506934" y="2412864"/>
            <a:ext cx="292053" cy="307599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115324" y="2895"/>
                </a:moveTo>
                <a:lnTo>
                  <a:pt x="115324" y="2895"/>
                </a:lnTo>
                <a:cubicBezTo>
                  <a:pt x="112727" y="2895"/>
                  <a:pt x="4675" y="51474"/>
                  <a:pt x="2337" y="51474"/>
                </a:cubicBezTo>
                <a:cubicBezTo>
                  <a:pt x="0" y="51474"/>
                  <a:pt x="0" y="54369"/>
                  <a:pt x="2337" y="54369"/>
                </a:cubicBezTo>
                <a:cubicBezTo>
                  <a:pt x="4675" y="56943"/>
                  <a:pt x="25454" y="68525"/>
                  <a:pt x="25454" y="68525"/>
                </a:cubicBezTo>
                <a:lnTo>
                  <a:pt x="25454" y="68525"/>
                </a:lnTo>
                <a:cubicBezTo>
                  <a:pt x="41558" y="73994"/>
                  <a:pt x="41558" y="73994"/>
                  <a:pt x="41558" y="73994"/>
                </a:cubicBezTo>
                <a:cubicBezTo>
                  <a:pt x="41558" y="73994"/>
                  <a:pt x="110389" y="11260"/>
                  <a:pt x="112727" y="11260"/>
                </a:cubicBezTo>
                <a:cubicBezTo>
                  <a:pt x="112727" y="8364"/>
                  <a:pt x="112727" y="11260"/>
                  <a:pt x="112727" y="11260"/>
                </a:cubicBezTo>
                <a:lnTo>
                  <a:pt x="62337" y="79785"/>
                </a:lnTo>
                <a:lnTo>
                  <a:pt x="62337" y="79785"/>
                </a:lnTo>
                <a:cubicBezTo>
                  <a:pt x="59999" y="82680"/>
                  <a:pt x="59999" y="82680"/>
                  <a:pt x="59999" y="82680"/>
                </a:cubicBezTo>
                <a:cubicBezTo>
                  <a:pt x="62337" y="85576"/>
                  <a:pt x="62337" y="85576"/>
                  <a:pt x="62337" y="85576"/>
                </a:cubicBezTo>
                <a:lnTo>
                  <a:pt x="62337" y="85576"/>
                </a:lnTo>
                <a:cubicBezTo>
                  <a:pt x="62337" y="85576"/>
                  <a:pt x="94285" y="105522"/>
                  <a:pt x="94285" y="108418"/>
                </a:cubicBezTo>
                <a:cubicBezTo>
                  <a:pt x="96623" y="108418"/>
                  <a:pt x="98961" y="108418"/>
                  <a:pt x="101298" y="105522"/>
                </a:cubicBezTo>
                <a:cubicBezTo>
                  <a:pt x="101298" y="102627"/>
                  <a:pt x="119740" y="8364"/>
                  <a:pt x="119740" y="5790"/>
                </a:cubicBezTo>
                <a:cubicBezTo>
                  <a:pt x="119740" y="2895"/>
                  <a:pt x="117662" y="0"/>
                  <a:pt x="115324" y="2895"/>
                </a:cubicBezTo>
                <a:close/>
                <a:moveTo>
                  <a:pt x="41558" y="116782"/>
                </a:moveTo>
                <a:lnTo>
                  <a:pt x="41558" y="116782"/>
                </a:lnTo>
                <a:cubicBezTo>
                  <a:pt x="41558" y="119678"/>
                  <a:pt x="41558" y="119678"/>
                  <a:pt x="43896" y="119678"/>
                </a:cubicBezTo>
                <a:cubicBezTo>
                  <a:pt x="43896" y="116782"/>
                  <a:pt x="62337" y="99731"/>
                  <a:pt x="62337" y="99731"/>
                </a:cubicBezTo>
                <a:cubicBezTo>
                  <a:pt x="41558" y="85576"/>
                  <a:pt x="41558" y="85576"/>
                  <a:pt x="41558" y="85576"/>
                </a:cubicBezTo>
                <a:lnTo>
                  <a:pt x="41558" y="116782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fontAlgn="auto" algn="l" indent="0" marR="0" mar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TextBox 15" id="15"/>
          <p:cNvSpPr txBox="true"/>
          <p:nvPr/>
        </p:nvSpPr>
        <p:spPr>
          <a:xfrm>
            <a:off x="2722025" y="2009515"/>
            <a:ext cx="1436658" cy="162107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b="false" i="false" sz="7500" baseline="0" u="none">
                <a:ln/>
                <a:solidFill>
                  <a:srgbClr val="FFFFFF">
                    <a:lumMod val="95000"/>
                  </a:srgbClr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337893" y="2009515"/>
            <a:ext cx="1436658" cy="162107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b="false" i="false" sz="7500" baseline="0" u="none">
                <a:ln/>
                <a:solidFill>
                  <a:srgbClr val="FFFFFF">
                    <a:lumMod val="95000"/>
                  </a:srgb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0082242" y="2009515"/>
            <a:ext cx="1436658" cy="162107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b="false" i="false" sz="7500" baseline="0" u="none">
                <a:ln/>
                <a:solidFill>
                  <a:srgbClr val="FFFFFF">
                    <a:lumMod val="95000"/>
                  </a:srgbClr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>
            <a:off x="4097457" y="2035104"/>
            <a:ext cx="0" cy="2708203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name="Connector 19" id="19"/>
          <p:cNvCxnSpPr/>
          <p:nvPr/>
        </p:nvCxnSpPr>
        <p:spPr>
          <a:xfrm>
            <a:off x="7840993" y="2035104"/>
            <a:ext cx="0" cy="2708203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人工智能的目标</a:t>
            </a:r>
          </a:p>
        </p:txBody>
      </p:sp>
      <p:grpSp>
        <p:nvGrpSpPr>
          <p:cNvPr name="Group 6" id="6"/>
          <p:cNvGrpSpPr/>
          <p:nvPr/>
        </p:nvGrpSpPr>
        <p:grpSpPr>
          <a:xfrm rot="21314955">
            <a:off x="-1226458" y="2749928"/>
            <a:ext cx="14644914" cy="2027172"/>
            <a:chOff x="-1357086" y="2808513"/>
            <a:chExt cx="14644914" cy="2027172"/>
          </a:xfrm>
        </p:grpSpPr>
        <p:sp>
          <p:nvSpPr>
            <p:cNvPr name="Freeform 7" id="7"/>
            <p:cNvSpPr/>
            <p:nvPr/>
          </p:nvSpPr>
          <p:spPr>
            <a:xfrm>
              <a:off x="-1357086" y="2866571"/>
              <a:ext cx="14383657" cy="1771492"/>
            </a:xfrm>
            <a:custGeom>
              <a:avLst/>
              <a:gdLst/>
              <a:ahLst/>
              <a:cxnLst/>
              <a:rect r="r" b="b" t="t" l="l"/>
              <a:pathLst>
                <a:path w="14383657" h="2111829" stroke="true" fill="norm" extrusionOk="true">
                  <a:moveTo>
                    <a:pt x="0" y="2111829"/>
                  </a:moveTo>
                  <a:cubicBezTo>
                    <a:pt x="620485" y="1631648"/>
                    <a:pt x="1240971" y="1151467"/>
                    <a:pt x="1814285" y="1117600"/>
                  </a:cubicBezTo>
                  <a:cubicBezTo>
                    <a:pt x="2387599" y="1083733"/>
                    <a:pt x="2737152" y="1978781"/>
                    <a:pt x="3439885" y="1908629"/>
                  </a:cubicBezTo>
                  <a:cubicBezTo>
                    <a:pt x="4142618" y="1838477"/>
                    <a:pt x="5289247" y="749905"/>
                    <a:pt x="6030685" y="696686"/>
                  </a:cubicBezTo>
                  <a:cubicBezTo>
                    <a:pt x="6772123" y="643467"/>
                    <a:pt x="7218438" y="1611086"/>
                    <a:pt x="7888514" y="1589315"/>
                  </a:cubicBezTo>
                  <a:cubicBezTo>
                    <a:pt x="8558590" y="1567544"/>
                    <a:pt x="9368972" y="625324"/>
                    <a:pt x="10051143" y="566057"/>
                  </a:cubicBezTo>
                  <a:cubicBezTo>
                    <a:pt x="10733314" y="506790"/>
                    <a:pt x="11259457" y="1328058"/>
                    <a:pt x="11981543" y="1233715"/>
                  </a:cubicBezTo>
                  <a:cubicBezTo>
                    <a:pt x="12703629" y="1139372"/>
                    <a:pt x="13543643" y="569686"/>
                    <a:pt x="14383657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-1349829" y="3018971"/>
              <a:ext cx="14586857" cy="1473200"/>
            </a:xfrm>
            <a:custGeom>
              <a:avLst/>
              <a:gdLst/>
              <a:ahLst/>
              <a:cxnLst/>
              <a:rect r="r" b="b" t="t" l="l"/>
              <a:pathLst>
                <a:path w="14586857" h="1756229" stroke="true" fill="norm" extrusionOk="true">
                  <a:moveTo>
                    <a:pt x="0" y="1756229"/>
                  </a:moveTo>
                  <a:cubicBezTo>
                    <a:pt x="620485" y="1276048"/>
                    <a:pt x="1352247" y="1151467"/>
                    <a:pt x="1959428" y="1117600"/>
                  </a:cubicBezTo>
                  <a:cubicBezTo>
                    <a:pt x="2566609" y="1083733"/>
                    <a:pt x="2940352" y="1623181"/>
                    <a:pt x="3643085" y="1553029"/>
                  </a:cubicBezTo>
                  <a:cubicBezTo>
                    <a:pt x="4345818" y="1482877"/>
                    <a:pt x="5473095" y="737810"/>
                    <a:pt x="6175828" y="696686"/>
                  </a:cubicBezTo>
                  <a:cubicBezTo>
                    <a:pt x="6878561" y="655562"/>
                    <a:pt x="7189409" y="1328057"/>
                    <a:pt x="7859485" y="1306286"/>
                  </a:cubicBezTo>
                  <a:cubicBezTo>
                    <a:pt x="8529561" y="1284515"/>
                    <a:pt x="9493553" y="628952"/>
                    <a:pt x="10196286" y="566057"/>
                  </a:cubicBezTo>
                  <a:cubicBezTo>
                    <a:pt x="10899019" y="503162"/>
                    <a:pt x="11353800" y="1023258"/>
                    <a:pt x="12075886" y="928915"/>
                  </a:cubicBezTo>
                  <a:cubicBezTo>
                    <a:pt x="12797972" y="834572"/>
                    <a:pt x="13746843" y="569686"/>
                    <a:pt x="14586857" y="0"/>
                  </a:cubicBezTo>
                </a:path>
              </a:pathLst>
            </a:custGeom>
            <a:noFill/>
            <a:ln w="12700" cap="flat" cmpd="sng">
              <a:solidFill>
                <a:schemeClr val="accent1"/>
              </a:solidFill>
              <a:prstDash val="sysDot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-1182915" y="2808513"/>
              <a:ext cx="14470743" cy="2027172"/>
            </a:xfrm>
            <a:custGeom>
              <a:avLst/>
              <a:gdLst/>
              <a:ahLst/>
              <a:cxnLst/>
              <a:rect r="r" b="b" t="t" l="l"/>
              <a:pathLst>
                <a:path w="14470743" h="2416629" stroke="true" fill="norm" extrusionOk="true">
                  <a:moveTo>
                    <a:pt x="0" y="2416629"/>
                  </a:moveTo>
                  <a:cubicBezTo>
                    <a:pt x="620485" y="1936448"/>
                    <a:pt x="1342571" y="1152676"/>
                    <a:pt x="1915885" y="1117600"/>
                  </a:cubicBezTo>
                  <a:cubicBezTo>
                    <a:pt x="2489199" y="1082524"/>
                    <a:pt x="2731105" y="2279953"/>
                    <a:pt x="3439886" y="2206172"/>
                  </a:cubicBezTo>
                  <a:cubicBezTo>
                    <a:pt x="4148667" y="2132391"/>
                    <a:pt x="5442857" y="714830"/>
                    <a:pt x="6168571" y="674915"/>
                  </a:cubicBezTo>
                  <a:cubicBezTo>
                    <a:pt x="6894285" y="635001"/>
                    <a:pt x="7116838" y="1984828"/>
                    <a:pt x="7794171" y="1966685"/>
                  </a:cubicBezTo>
                  <a:cubicBezTo>
                    <a:pt x="8471504" y="1948542"/>
                    <a:pt x="9525001" y="641046"/>
                    <a:pt x="10232572" y="566056"/>
                  </a:cubicBezTo>
                  <a:cubicBezTo>
                    <a:pt x="10940144" y="491066"/>
                    <a:pt x="11317514" y="1611086"/>
                    <a:pt x="12039600" y="1516743"/>
                  </a:cubicBezTo>
                  <a:cubicBezTo>
                    <a:pt x="12761686" y="1422400"/>
                    <a:pt x="13630729" y="569686"/>
                    <a:pt x="14470743" y="0"/>
                  </a:cubicBezTo>
                </a:path>
              </a:pathLst>
            </a:custGeom>
            <a:noFill/>
            <a:ln w="6350" cap="flat" cmpd="sng">
              <a:gradFill>
                <a:gsLst>
                  <a:gs pos="0">
                    <a:srgbClr val="82D5EE">
                      <a:alpha val="5000"/>
                    </a:srgbClr>
                  </a:gs>
                  <a:gs pos="74000">
                    <a:srgbClr val="82D5EE"/>
                  </a:gs>
                  <a:gs pos="83000">
                    <a:srgbClr val="82D5EE">
                      <a:lumMod val="45000"/>
                      <a:lumOff val="55000"/>
                    </a:srgbClr>
                  </a:gs>
                  <a:gs pos="100000">
                    <a:srgbClr val="82D5EE">
                      <a:lumMod val="30000"/>
                      <a:lumOff val="70000"/>
                    </a:srgbClr>
                  </a:gs>
                </a:gsLst>
              </a:gra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AutoShape 10" id="10"/>
          <p:cNvSpPr/>
          <p:nvPr/>
        </p:nvSpPr>
        <p:spPr>
          <a:xfrm>
            <a:off x="855759" y="4180776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4917199" y="3435109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8247597" y="3401703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TextBox 13" id="13"/>
          <p:cNvSpPr txBox="true"/>
          <p:nvPr/>
        </p:nvSpPr>
        <p:spPr>
          <a:xfrm>
            <a:off x="1050540" y="1986842"/>
            <a:ext cx="379588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模拟人类智能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050540" y="2315071"/>
            <a:ext cx="3795880" cy="70205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人工智能的核心目标是复制和模拟人类智能，通过算法和数据，实现在知识推理、问题解决等领域的自主能力。</a:t>
            </a:r>
            <a:endParaRPr lang="en-US" sz="1100"/>
          </a:p>
        </p:txBody>
      </p:sp>
      <p:grpSp>
        <p:nvGrpSpPr>
          <p:cNvPr name="Group 15" id="15"/>
          <p:cNvGrpSpPr/>
          <p:nvPr/>
        </p:nvGrpSpPr>
        <p:grpSpPr>
          <a:xfrm>
            <a:off x="844573" y="2499491"/>
            <a:ext cx="159042" cy="1825042"/>
            <a:chOff x="713942" y="2558079"/>
            <a:chExt cx="159042" cy="1825042"/>
          </a:xfrm>
        </p:grpSpPr>
        <p:cxnSp>
          <p:nvCxnSpPr>
            <p:cNvPr name="Connector 16" id="16"/>
            <p:cNvCxnSpPr/>
            <p:nvPr/>
          </p:nvCxnSpPr>
          <p:spPr>
            <a:xfrm flipV="true">
              <a:off x="793464" y="2620257"/>
              <a:ext cx="0" cy="1762864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name="AutoShape 17" id="17"/>
            <p:cNvSpPr/>
            <p:nvPr/>
          </p:nvSpPr>
          <p:spPr>
            <a:xfrm>
              <a:off x="713942" y="2558079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TextBox 18" id="18"/>
          <p:cNvSpPr txBox="true"/>
          <p:nvPr/>
        </p:nvSpPr>
        <p:spPr>
          <a:xfrm>
            <a:off x="5086366" y="1427885"/>
            <a:ext cx="382149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实际应用场景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5086365" y="1756114"/>
            <a:ext cx="3821494" cy="70057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当前人工智能技术在智能助手、图像识别以及自动驾驶等场景中得到广泛应用，提升了效率和用户体验，为各行业带来变革。</a:t>
            </a:r>
            <a:endParaRPr lang="en-US" sz="1100"/>
          </a:p>
        </p:txBody>
      </p:sp>
      <p:grpSp>
        <p:nvGrpSpPr>
          <p:cNvPr name="Group 20" id="20"/>
          <p:cNvGrpSpPr/>
          <p:nvPr/>
        </p:nvGrpSpPr>
        <p:grpSpPr>
          <a:xfrm>
            <a:off x="4907468" y="1997542"/>
            <a:ext cx="159042" cy="1437567"/>
            <a:chOff x="713942" y="2522351"/>
            <a:chExt cx="159042" cy="1437567"/>
          </a:xfrm>
        </p:grpSpPr>
        <p:cxnSp>
          <p:nvCxnSpPr>
            <p:cNvPr name="Connector 21" id="21"/>
            <p:cNvCxnSpPr/>
            <p:nvPr/>
          </p:nvCxnSpPr>
          <p:spPr>
            <a:xfrm flipV="true">
              <a:off x="792009" y="2620258"/>
              <a:ext cx="1455" cy="1339660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name="AutoShape 22" id="22"/>
            <p:cNvSpPr/>
            <p:nvPr/>
          </p:nvSpPr>
          <p:spPr>
            <a:xfrm>
              <a:off x="713942" y="2522351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grpSp>
        <p:nvGrpSpPr>
          <p:cNvPr name="Group 23" id="23"/>
          <p:cNvGrpSpPr/>
          <p:nvPr/>
        </p:nvGrpSpPr>
        <p:grpSpPr>
          <a:xfrm flipV="true">
            <a:off x="8247597" y="3634275"/>
            <a:ext cx="159042" cy="562296"/>
            <a:chOff x="713942" y="1899867"/>
            <a:chExt cx="159042" cy="562296"/>
          </a:xfrm>
        </p:grpSpPr>
        <p:cxnSp>
          <p:nvCxnSpPr>
            <p:cNvPr name="Connector 24" id="24"/>
            <p:cNvCxnSpPr/>
            <p:nvPr/>
          </p:nvCxnSpPr>
          <p:spPr>
            <a:xfrm flipV="true">
              <a:off x="793464" y="1979364"/>
              <a:ext cx="0" cy="482799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name="AutoShape 25" id="25"/>
            <p:cNvSpPr/>
            <p:nvPr/>
          </p:nvSpPr>
          <p:spPr>
            <a:xfrm>
              <a:off x="713942" y="1899867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TextBox 26" id="26"/>
          <p:cNvSpPr txBox="true"/>
          <p:nvPr/>
        </p:nvSpPr>
        <p:spPr>
          <a:xfrm>
            <a:off x="7484209" y="4357172"/>
            <a:ext cx="343995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未来期待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7484209" y="4685401"/>
            <a:ext cx="3439953" cy="70205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未来人工智能的发展将期望实现更高级别的智能化，突破现有的技术瓶颈，使其在决策支持、预测分析等领域展现更大潜力。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00310" y="3317521"/>
            <a:ext cx="5677105" cy="480131"/>
          </a:xfrm>
        </p:spPr>
        <p:txBody>
          <a:bodyPr vert="horz" anchor="ctr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456E72"/>
                </a:solidFill>
                <a:latin typeface="微软雅黑"/>
                <a:ea typeface="微软雅黑"/>
              </a:rPr>
              <a:t>人工智能的主要技术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410730" y="2895868"/>
            <a:ext cx="1326005" cy="1323439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US" b="true" i="false" sz="8000" baseline="0" u="none">
                <a:ln w="12700"/>
                <a:solidFill>
                  <a:srgbClr val="456E7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机器学习</a:t>
            </a:r>
          </a:p>
        </p:txBody>
      </p:sp>
      <p:sp>
        <p:nvSpPr>
          <p:cNvPr name="AutoShape 5" id="5"/>
          <p:cNvSpPr/>
          <p:nvPr/>
        </p:nvSpPr>
        <p:spPr>
          <a:xfrm>
            <a:off x="4704619" y="1693793"/>
            <a:ext cx="2782763" cy="3754419"/>
          </a:xfrm>
          <a:prstGeom prst="roundRect">
            <a:avLst/>
          </a:prstGeom>
          <a:solidFill>
            <a:schemeClr val="accent1">
              <a:alpha val="50000"/>
              <a:lumMod val="20000"/>
              <a:lumOff val="80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4920756" y="2194591"/>
            <a:ext cx="238923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应用实例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8251876" y="1693793"/>
            <a:ext cx="2782763" cy="3754419"/>
          </a:xfrm>
          <a:prstGeom prst="roundRect">
            <a:avLst/>
          </a:prstGeom>
          <a:solidFill>
            <a:schemeClr val="accent5">
              <a:alpha val="90000"/>
              <a:lumMod val="20000"/>
              <a:lumOff val="80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8468013" y="2194591"/>
            <a:ext cx="238923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主要算法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157362" y="1693793"/>
            <a:ext cx="2782763" cy="3754419"/>
          </a:xfrm>
          <a:prstGeom prst="roundRect">
            <a:avLst/>
          </a:prstGeom>
          <a:solidFill>
            <a:schemeClr val="accent5">
              <a:alpha val="90000"/>
              <a:lumMod val="20000"/>
              <a:lumOff val="80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1373499" y="2194591"/>
            <a:ext cx="238923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定义与概念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2278603" y="1423793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5881824" y="1423793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9407772" y="1409788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263425" y="2778239"/>
            <a:ext cx="2573594" cy="199285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latin typeface="微软雅黑"/>
                <a:ea typeface="微软雅黑"/>
              </a:rPr>
              <a:t>机器学习是人工智能的重要分支，重点在于让机器通过数据学习并做出预测或决策，而无需明确编程。其核心是以经验为基础的模型训练。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809203" y="2778239"/>
            <a:ext cx="2573594" cy="199285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latin typeface="微软雅黑"/>
                <a:ea typeface="微软雅黑"/>
              </a:rPr>
              <a:t>机器学习广泛应用于推荐系统（如购物推荐）、欺诈检测、图像分类等领域，为企业决策提供智能支撑。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330361" y="2778239"/>
            <a:ext cx="2573594" cy="199285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latin typeface="微软雅黑"/>
                <a:ea typeface="微软雅黑"/>
              </a:rPr>
              <a:t>常用的机器学习算法包括线性回归、决策树、支持向量机等。每种算法根据不同的数据类型和任务目标，展现不同的优势。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深度学习</a:t>
            </a:r>
          </a:p>
        </p:txBody>
      </p:sp>
      <p:sp>
        <p:nvSpPr>
          <p:cNvPr name="AutoShape 6" id="6"/>
          <p:cNvSpPr/>
          <p:nvPr/>
        </p:nvSpPr>
        <p:spPr>
          <a:xfrm>
            <a:off x="1571025" y="1861199"/>
            <a:ext cx="1225296" cy="1097706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solid"/>
          </a:ln>
        </p:spPr>
        <p:txBody>
          <a:bodyPr vert="horz" rot="0" anchor="ctr" wrap="square" tIns="45720" lIns="91440" bIns="45720" rIns="91440">
            <a:noAutofit/>
          </a:bodyPr>
          <a:p>
            <a:pPr algn="ctr" marL="0"/>
            <a:r>
              <a:rPr lang="en-US" b="false" i="false" sz="2800" baseline="0" u="none">
                <a:solidFill>
                  <a:srgbClr val="000000"/>
                </a:solidFill>
                <a:latin typeface="Arial"/>
                <a:ea typeface="Arial"/>
              </a:rPr>
              <a:t>O1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7697" y="3164654"/>
            <a:ext cx="315608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概念介绍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37697" y="3650278"/>
            <a:ext cx="3156085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深度学习是机器学习的子集，通过多层神经网络模型进行数据分析和特征提取，能够捕捉数据内部的复杂模式。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5498238" y="1861199"/>
            <a:ext cx="1225296" cy="1097706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2800" baseline="0" u="none">
                <a:solidFill>
                  <a:schemeClr val="lt1"/>
                </a:solidFill>
                <a:latin typeface="Arial"/>
                <a:ea typeface="Arial"/>
              </a:rPr>
              <a:t>O2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584633" y="3164654"/>
            <a:ext cx="315608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技术特点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584633" y="3650278"/>
            <a:ext cx="315608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深度学习特别擅长处理图像、视频等高维数据，其通过大量数据进行训练，能够实现自主特征学习，减少对人工特征的依赖。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9425450" y="1861199"/>
            <a:ext cx="1225296" cy="1097706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solid"/>
          </a:ln>
        </p:spPr>
        <p:txBody>
          <a:bodyPr vert="horz" rot="0" anchor="ctr" wrap="square" tIns="45720" lIns="91440" bIns="45720" rIns="91440">
            <a:noAutofit/>
          </a:bodyPr>
          <a:p>
            <a:pPr algn="ctr" marL="0"/>
            <a:r>
              <a:rPr lang="en-US" b="false" i="false" sz="2800" baseline="0" u="none">
                <a:solidFill>
                  <a:srgbClr val="000000"/>
                </a:solidFill>
                <a:latin typeface="Arial"/>
                <a:ea typeface="Arial"/>
              </a:rPr>
              <a:t>O3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520778" y="3164654"/>
            <a:ext cx="315608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典型应用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520778" y="3650278"/>
            <a:ext cx="315608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典型应用包括图像识别（如人脸识别）、自然语言处理（如机器翻译）等，技术的进步使得深度学习在多个领域表现卓越。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>
            <a:off x="2796321" y="2410052"/>
            <a:ext cx="2701917" cy="0"/>
          </a:xfrm>
          <a:prstGeom prst="line">
            <a:avLst/>
          </a:prstGeom>
          <a:ln w="6350" cap="flat" cmpd="sng">
            <a:solidFill>
              <a:srgbClr val="000000"/>
            </a:solidFill>
            <a:prstDash val="dash"/>
          </a:ln>
        </p:spPr>
      </p:cxnSp>
      <p:cxnSp>
        <p:nvCxnSpPr>
          <p:cNvPr name="Connector 16" id="16"/>
          <p:cNvCxnSpPr/>
          <p:nvPr/>
        </p:nvCxnSpPr>
        <p:spPr>
          <a:xfrm>
            <a:off x="6723534" y="2410052"/>
            <a:ext cx="2701916" cy="0"/>
          </a:xfrm>
          <a:prstGeom prst="line">
            <a:avLst/>
          </a:prstGeom>
          <a:ln w="6350" cap="flat" cmpd="sng">
            <a:solidFill>
              <a:srgbClr val="000000"/>
            </a:solidFill>
            <a:prstDash val="dash"/>
          </a:ln>
        </p:spPr>
      </p:cxn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00310" y="3317521"/>
            <a:ext cx="5677105" cy="480131"/>
          </a:xfrm>
        </p:spPr>
        <p:txBody>
          <a:bodyPr vert="horz" anchor="ctr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456E72"/>
                </a:solidFill>
                <a:latin typeface="微软雅黑"/>
                <a:ea typeface="微软雅黑"/>
              </a:rPr>
              <a:t>人工智能的分类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410730" y="2895868"/>
            <a:ext cx="1326005" cy="1323439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US" b="true" i="false" sz="8000" baseline="0" u="none">
                <a:ln w="12700"/>
                <a:solidFill>
                  <a:srgbClr val="456E72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按功能分类</a:t>
            </a:r>
          </a:p>
        </p:txBody>
      </p:sp>
      <p:sp>
        <p:nvSpPr>
          <p:cNvPr name="AutoShape 6" id="6"/>
          <p:cNvSpPr/>
          <p:nvPr/>
        </p:nvSpPr>
        <p:spPr>
          <a:xfrm>
            <a:off x="670718" y="2996119"/>
            <a:ext cx="3224577" cy="3015678"/>
          </a:xfrm>
          <a:prstGeom prst="rect">
            <a:avLst/>
          </a:prstGeom>
          <a:noFill/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t" wrap="square" tIns="45720" lIns="91440" bIns="45720" rIns="91440">
            <a:normAutofit/>
          </a:bodyPr>
          <a:p>
            <a:pPr algn="l" marL="0">
              <a:lnSpc>
                <a:spcPct val="150000"/>
              </a:lnSpc>
              <a:spcBef>
                <a:spcPct val="0"/>
              </a:spcBef>
            </a:pPr>
          </a:p>
          <a:p>
            <a:pPr algn="l" marL="0">
              <a:lnSpc>
                <a:spcPct val="150000"/>
              </a:lnSpc>
              <a:spcBef>
                <a:spcPct val="0"/>
              </a:spcBef>
            </a:pPr>
            <a:r>
              <a:rPr lang="zh-CN" b="false" i="false" sz="1400" baseline="0" u="none" altLang="en-US">
                <a:solidFill>
                  <a:schemeClr val="dk1"/>
                </a:solidFill>
                <a:latin typeface="微软雅黑"/>
                <a:ea typeface="微软雅黑"/>
              </a:rPr>
              <a:t>强人工智能指的是具有自主意识和智慧的系统，能够执行任何人类智能活动，目前仍处于理论阶段，尚未实现。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791844" y="2750827"/>
            <a:ext cx="2982323" cy="4812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强人工智能</a:t>
            </a:r>
          </a:p>
        </p:txBody>
      </p:sp>
      <p:sp>
        <p:nvSpPr>
          <p:cNvPr name="AutoShape 8" id="8"/>
          <p:cNvSpPr/>
          <p:nvPr/>
        </p:nvSpPr>
        <p:spPr>
          <a:xfrm>
            <a:off x="4483712" y="2237363"/>
            <a:ext cx="3224577" cy="3774436"/>
          </a:xfrm>
          <a:prstGeom prst="rect">
            <a:avLst/>
          </a:prstGeom>
          <a:noFill/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l" marL="0">
              <a:lnSpc>
                <a:spcPct val="150000"/>
              </a:lnSpc>
              <a:spcBef>
                <a:spcPct val="0"/>
              </a:spcBef>
            </a:pPr>
          </a:p>
          <a:p>
            <a:pPr algn="l" marL="0">
              <a:lnSpc>
                <a:spcPct val="150000"/>
              </a:lnSpc>
              <a:spcBef>
                <a:spcPct val="0"/>
              </a:spcBef>
            </a:pPr>
            <a:r>
              <a:rPr lang="zh-CN" b="false" i="false" sz="1400" baseline="0" u="none" altLang="en-US">
                <a:solidFill>
                  <a:schemeClr val="dk1"/>
                </a:solidFill>
                <a:latin typeface="微软雅黑"/>
                <a:ea typeface="微软雅黑"/>
              </a:rPr>
              <a:t>弱人工智能专注于特定任务的智能表现，如聊天机器人和智能推荐系统等，已经在各行各业得到广泛应用。</a:t>
            </a:r>
          </a:p>
        </p:txBody>
      </p:sp>
      <p:sp>
        <p:nvSpPr>
          <p:cNvPr name="AutoShape 9" id="9"/>
          <p:cNvSpPr/>
          <p:nvPr/>
        </p:nvSpPr>
        <p:spPr>
          <a:xfrm>
            <a:off x="4598490" y="2011791"/>
            <a:ext cx="2982323" cy="48126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弱人工智能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296705" y="1649670"/>
            <a:ext cx="3224577" cy="4362128"/>
          </a:xfrm>
          <a:prstGeom prst="rect">
            <a:avLst/>
          </a:prstGeom>
          <a:noFill/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t" wrap="square" tIns="45720" lIns="91440" bIns="45720" rIns="91440">
            <a:normAutofit/>
          </a:bodyPr>
          <a:p>
            <a:pPr algn="l" marL="0">
              <a:lnSpc>
                <a:spcPct val="150000"/>
              </a:lnSpc>
              <a:spcBef>
                <a:spcPct val="0"/>
              </a:spcBef>
            </a:pPr>
          </a:p>
          <a:p>
            <a:pPr algn="l" marL="0">
              <a:lnSpc>
                <a:spcPct val="150000"/>
              </a:lnSpc>
              <a:spcBef>
                <a:spcPct val="0"/>
              </a:spcBef>
            </a:pPr>
            <a:r>
              <a:rPr lang="zh-CN" b="false" i="false" sz="1400" baseline="0" u="none" altLang="en-US">
                <a:solidFill>
                  <a:schemeClr val="dk1"/>
                </a:solidFill>
                <a:latin typeface="微软雅黑"/>
                <a:ea typeface="微软雅黑"/>
              </a:rPr>
              <a:t>当前弱人工智能在医疗诊断、军事决策、客户服务等领域发挥重要作用，提供高度专业化的支持。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393497" y="1303402"/>
            <a:ext cx="2982323" cy="4812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应用领域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按技术分支分类</a:t>
            </a:r>
          </a:p>
        </p:txBody>
      </p:sp>
      <p:sp>
        <p:nvSpPr>
          <p:cNvPr name="AutoShape 6" id="6"/>
          <p:cNvSpPr/>
          <p:nvPr/>
        </p:nvSpPr>
        <p:spPr>
          <a:xfrm>
            <a:off x="6235262" y="1604106"/>
            <a:ext cx="5123712" cy="1023317"/>
          </a:xfrm>
          <a:prstGeom prst="rect">
            <a:avLst/>
          </a:prstGeom>
          <a:noFill/>
        </p:spPr>
        <p:txBody>
          <a:bodyPr vert="horz" anchor="t" wrap="square" tIns="45700" lIns="91412" bIns="45700" rIns="91412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计算机视觉使机器能够解释和分析图像或视频内容，广泛应用于面部识别、自动驾驶等领域。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6245234" y="1235535"/>
            <a:ext cx="5120779" cy="338514"/>
          </a:xfrm>
          <a:prstGeom prst="rect">
            <a:avLst/>
          </a:prstGeom>
          <a:noFill/>
        </p:spPr>
        <p:txBody>
          <a:bodyPr vert="horz" anchor="ctr" wrap="square" tIns="45700" lIns="91412" bIns="45700" rIns="91412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计算机视觉</a:t>
            </a:r>
          </a:p>
        </p:txBody>
      </p:sp>
      <p:sp>
        <p:nvSpPr>
          <p:cNvPr name="AutoShape 8" id="8"/>
          <p:cNvSpPr/>
          <p:nvPr/>
        </p:nvSpPr>
        <p:spPr>
          <a:xfrm>
            <a:off x="5625961" y="1408869"/>
            <a:ext cx="515816" cy="515816"/>
          </a:xfrm>
          <a:prstGeom prst="ellipse">
            <a:avLst/>
          </a:prstGeom>
          <a:solidFill>
            <a:srgbClr val="7784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>
            <a:off x="5776598" y="1564960"/>
            <a:ext cx="214542" cy="203634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6235262" y="3307546"/>
            <a:ext cx="5123712" cy="1023317"/>
          </a:xfrm>
          <a:prstGeom prst="rect">
            <a:avLst/>
          </a:prstGeom>
          <a:noFill/>
        </p:spPr>
        <p:txBody>
          <a:bodyPr vert="horz" anchor="t" wrap="square" tIns="45700" lIns="91412" bIns="45700" rIns="91412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自然语言处理使计算机能够理解和生成自然语言，为人机交互提供了新的可能，应用于语音识别和智能客服等。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245234" y="2938975"/>
            <a:ext cx="5120779" cy="338514"/>
          </a:xfrm>
          <a:prstGeom prst="rect">
            <a:avLst/>
          </a:prstGeom>
          <a:noFill/>
        </p:spPr>
        <p:txBody>
          <a:bodyPr vert="horz" anchor="ctr" wrap="square" tIns="45700" lIns="91412" bIns="45700" rIns="91412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自然语言处理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625961" y="3112309"/>
            <a:ext cx="515816" cy="515816"/>
          </a:xfrm>
          <a:prstGeom prst="ellipse">
            <a:avLst/>
          </a:prstGeom>
          <a:solidFill>
            <a:srgbClr val="7784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" id="13"/>
          <p:cNvSpPr/>
          <p:nvPr/>
        </p:nvSpPr>
        <p:spPr>
          <a:xfrm>
            <a:off x="5776598" y="3276232"/>
            <a:ext cx="214542" cy="187970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6249191" y="5095898"/>
            <a:ext cx="5123712" cy="1023317"/>
          </a:xfrm>
          <a:prstGeom prst="rect">
            <a:avLst/>
          </a:prstGeom>
          <a:noFill/>
        </p:spPr>
        <p:txBody>
          <a:bodyPr vert="horz" anchor="t" wrap="square" tIns="45700" lIns="91412" bIns="45700" rIns="91412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机器人技术结合 AI 和机械工程，能够实现自动化的任务执行，应用于制造、医疗、服务等多种场景。</a:t>
            </a:r>
          </a:p>
        </p:txBody>
      </p:sp>
      <p:sp>
        <p:nvSpPr>
          <p:cNvPr name="AutoShape 15" id="15"/>
          <p:cNvSpPr/>
          <p:nvPr/>
        </p:nvSpPr>
        <p:spPr>
          <a:xfrm>
            <a:off x="6245237" y="4727327"/>
            <a:ext cx="5120779" cy="338514"/>
          </a:xfrm>
          <a:prstGeom prst="rect">
            <a:avLst/>
          </a:prstGeom>
          <a:noFill/>
        </p:spPr>
        <p:txBody>
          <a:bodyPr vert="horz" anchor="ctr" wrap="square" tIns="45700" lIns="91412" bIns="45700" rIns="91412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机器人技术</a:t>
            </a:r>
          </a:p>
        </p:txBody>
      </p:sp>
      <p:sp>
        <p:nvSpPr>
          <p:cNvPr name="AutoShape 16" id="16"/>
          <p:cNvSpPr/>
          <p:nvPr/>
        </p:nvSpPr>
        <p:spPr>
          <a:xfrm>
            <a:off x="5635937" y="4900661"/>
            <a:ext cx="515816" cy="515816"/>
          </a:xfrm>
          <a:prstGeom prst="ellipse">
            <a:avLst/>
          </a:prstGeom>
          <a:solidFill>
            <a:srgbClr val="7784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" id="17"/>
          <p:cNvSpPr/>
          <p:nvPr/>
        </p:nvSpPr>
        <p:spPr>
          <a:xfrm>
            <a:off x="5806932" y="5052053"/>
            <a:ext cx="173826" cy="213032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cxnSp>
        <p:nvCxnSpPr>
          <p:cNvPr name="Connector 18" id="18"/>
          <p:cNvCxnSpPr/>
          <p:nvPr/>
        </p:nvCxnSpPr>
        <p:spPr>
          <a:xfrm>
            <a:off x="5257025" y="1120483"/>
            <a:ext cx="0" cy="4998732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name="Connector 19" id="19"/>
          <p:cNvCxnSpPr/>
          <p:nvPr/>
        </p:nvCxnSpPr>
        <p:spPr>
          <a:xfrm>
            <a:off x="6345961" y="2770191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name="Connector 20" id="20"/>
          <p:cNvCxnSpPr/>
          <p:nvPr/>
        </p:nvCxnSpPr>
        <p:spPr>
          <a:xfrm>
            <a:off x="6345961" y="4586198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Freeform 21" id="21"/>
          <p:cNvSpPr/>
          <p:nvPr/>
        </p:nvSpPr>
        <p:spPr>
          <a:xfrm rot="18900000">
            <a:off x="2182370" y="1401428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2" id="22"/>
          <p:cNvSpPr/>
          <p:nvPr/>
        </p:nvSpPr>
        <p:spPr>
          <a:xfrm rot="18900000">
            <a:off x="3509788" y="2726661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3" id="23"/>
          <p:cNvSpPr/>
          <p:nvPr/>
        </p:nvSpPr>
        <p:spPr>
          <a:xfrm rot="18900000">
            <a:off x="3036079" y="2245704"/>
            <a:ext cx="923985" cy="949110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4" id="24"/>
          <p:cNvSpPr/>
          <p:nvPr/>
        </p:nvSpPr>
        <p:spPr>
          <a:xfrm rot="18900000">
            <a:off x="2088190" y="2814125"/>
            <a:ext cx="1309121" cy="1309121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5" id="25"/>
          <p:cNvSpPr/>
          <p:nvPr/>
        </p:nvSpPr>
        <p:spPr>
          <a:xfrm rot="18900000">
            <a:off x="3415607" y="4139358"/>
            <a:ext cx="1309121" cy="1309121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6" id="26"/>
          <p:cNvSpPr/>
          <p:nvPr/>
        </p:nvSpPr>
        <p:spPr>
          <a:xfrm rot="18900000">
            <a:off x="2941898" y="3658401"/>
            <a:ext cx="923984" cy="949110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7" id="27"/>
          <p:cNvSpPr/>
          <p:nvPr/>
        </p:nvSpPr>
        <p:spPr>
          <a:xfrm rot="18900000">
            <a:off x="671613" y="2895863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8" id="28"/>
          <p:cNvSpPr/>
          <p:nvPr/>
        </p:nvSpPr>
        <p:spPr>
          <a:xfrm rot="18900000">
            <a:off x="1999031" y="4221097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9" id="29"/>
          <p:cNvSpPr/>
          <p:nvPr/>
        </p:nvSpPr>
        <p:spPr>
          <a:xfrm rot="18900000">
            <a:off x="1525322" y="3740140"/>
            <a:ext cx="923984" cy="949110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30" id="30"/>
          <p:cNvSpPr/>
          <p:nvPr/>
        </p:nvSpPr>
        <p:spPr>
          <a:xfrm>
            <a:off x="3912575" y="3132513"/>
            <a:ext cx="522451" cy="503142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31" id="31"/>
          <p:cNvSpPr/>
          <p:nvPr/>
        </p:nvSpPr>
        <p:spPr>
          <a:xfrm>
            <a:off x="2600708" y="1831982"/>
            <a:ext cx="460986" cy="443948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32" id="32"/>
          <p:cNvSpPr/>
          <p:nvPr/>
        </p:nvSpPr>
        <p:spPr>
          <a:xfrm>
            <a:off x="2491673" y="4681270"/>
            <a:ext cx="371729" cy="357990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33" id="33"/>
          <p:cNvSpPr/>
          <p:nvPr/>
        </p:nvSpPr>
        <p:spPr>
          <a:xfrm>
            <a:off x="1149800" y="3388512"/>
            <a:ext cx="394553" cy="379970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34" id="34"/>
          <p:cNvSpPr/>
          <p:nvPr/>
        </p:nvSpPr>
        <p:spPr>
          <a:xfrm rot="16200000">
            <a:off x="2471635" y="3180922"/>
            <a:ext cx="587546" cy="601470"/>
          </a:xfrm>
          <a:custGeom>
            <a:avLst/>
            <a:gdLst/>
            <a:ahLst/>
            <a:cxnLst/>
            <a:rect r="r" b="b" t="t" l="l"/>
            <a:pathLst>
              <a:path w="452" h="462" stroke="true" fill="norm" extrusionOk="true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00310" y="3317521"/>
            <a:ext cx="5677105" cy="480131"/>
          </a:xfrm>
        </p:spPr>
        <p:txBody>
          <a:bodyPr vert="horz" anchor="ctr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456E72"/>
                </a:solidFill>
                <a:latin typeface="微软雅黑"/>
                <a:ea typeface="微软雅黑"/>
              </a:rPr>
              <a:t>人工智能的应用领域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410730" y="2895868"/>
            <a:ext cx="1326005" cy="1323439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US" b="true" i="false" sz="8000" baseline="0" u="none">
                <a:ln w="12700"/>
                <a:solidFill>
                  <a:srgbClr val="456E72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1" y="0"/>
            <a:ext cx="2496203" cy="1642188"/>
          </a:xfrm>
          <a:custGeom>
            <a:avLst/>
            <a:gdLst/>
            <a:ahLst/>
            <a:cxnLst/>
            <a:rect r="r" b="b" t="t" l="l"/>
            <a:pathLst>
              <a:path w="4953000" h="3258450" stroke="true" fill="norm" extrusionOk="true">
                <a:moveTo>
                  <a:pt x="0" y="3258450"/>
                </a:moveTo>
                <a:lnTo>
                  <a:pt x="4582503" y="3258450"/>
                </a:lnTo>
                <a:lnTo>
                  <a:pt x="4951136" y="2545428"/>
                </a:lnTo>
                <a:lnTo>
                  <a:pt x="4953000" y="2545428"/>
                </a:lnTo>
                <a:lnTo>
                  <a:pt x="4952068" y="2543625"/>
                </a:lnTo>
                <a:lnTo>
                  <a:pt x="4953000" y="2541822"/>
                </a:lnTo>
                <a:lnTo>
                  <a:pt x="4951136" y="2541822"/>
                </a:lnTo>
                <a:lnTo>
                  <a:pt x="3637014" y="0"/>
                </a:lnTo>
                <a:lnTo>
                  <a:pt x="523701" y="0"/>
                </a:lnTo>
                <a:lnTo>
                  <a:pt x="0" y="1012962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 flipV="true">
            <a:off x="0" y="4967249"/>
            <a:ext cx="1837776" cy="1890751"/>
          </a:xfrm>
          <a:custGeom>
            <a:avLst/>
            <a:gdLst/>
            <a:ahLst/>
            <a:cxnLst/>
            <a:rect r="r" b="b" t="t" l="l"/>
            <a:pathLst>
              <a:path w="1837776" h="1890751" stroke="true" fill="norm" extrusionOk="true">
                <a:moveTo>
                  <a:pt x="0" y="1890751"/>
                </a:moveTo>
                <a:lnTo>
                  <a:pt x="1209851" y="1890751"/>
                </a:lnTo>
                <a:lnTo>
                  <a:pt x="1836886" y="677916"/>
                </a:lnTo>
                <a:lnTo>
                  <a:pt x="1837776" y="677916"/>
                </a:lnTo>
                <a:lnTo>
                  <a:pt x="1837331" y="677056"/>
                </a:lnTo>
                <a:lnTo>
                  <a:pt x="1837776" y="676195"/>
                </a:lnTo>
                <a:lnTo>
                  <a:pt x="1836886" y="676195"/>
                </a:lnTo>
                <a:lnTo>
                  <a:pt x="148729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 flipV="true">
            <a:off x="1681302" y="6253522"/>
            <a:ext cx="2107121" cy="601158"/>
          </a:xfrm>
          <a:custGeom>
            <a:avLst/>
            <a:gdLst/>
            <a:ahLst/>
            <a:cxnLst/>
            <a:rect r="r" b="b" t="t" l="l"/>
            <a:pathLst>
              <a:path w="2107121" h="601158" stroke="true" fill="norm" extrusionOk="true">
                <a:moveTo>
                  <a:pt x="310799" y="601158"/>
                </a:moveTo>
                <a:lnTo>
                  <a:pt x="1796323" y="601158"/>
                </a:lnTo>
                <a:lnTo>
                  <a:pt x="210712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000000">
              <a:alpha val="5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82D5EE">
                        <a:lumMod val="60000"/>
                        <a:lumOff val="40000"/>
                      </a:srgbClr>
                    </a:gs>
                    <a:gs pos="61062">
                      <a:srgbClr val="82D5EE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813895" y="3668995"/>
            <a:ext cx="2742017" cy="1177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智能家居系统通过人工智能技术实现设备的智能控制，如语音助手可以管理家中灯光、温度，提升居住体验。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815482" y="3035116"/>
            <a:ext cx="332102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智能家居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82D5EE">
                        <a:lumMod val="60000"/>
                        <a:lumOff val="40000"/>
                      </a:srgbClr>
                    </a:gs>
                    <a:gs pos="61062">
                      <a:srgbClr val="82D5EE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8636089" y="3668995"/>
            <a:ext cx="2742017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社交媒体平台使用人工智能技术进行内容推荐和用户行为分析，提高用户粘性，并个性化推送信息。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637676" y="3035116"/>
            <a:ext cx="274042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社交媒体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82D5EE">
                        <a:lumMod val="60000"/>
                        <a:lumOff val="40000"/>
                      </a:srgbClr>
                    </a:gs>
                    <a:gs pos="60000">
                      <a:srgbClr val="82D5EE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4724992" y="3668995"/>
            <a:ext cx="2742017" cy="1177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虚拟助手如 Siri 和 Alexa，利用自然语言处理技术，为用户提供信息查询、日程安排等服务，方便日常生活。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726579" y="3035116"/>
            <a:ext cx="332102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虚拟助手</a:t>
            </a:r>
            <a:endParaRPr lang="en-US" sz="1100"/>
          </a:p>
        </p:txBody>
      </p:sp>
      <p:sp>
        <p:nvSpPr>
          <p:cNvPr name="AutoShape 17" id="17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生活中的人工智能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行业应用</a:t>
            </a:r>
          </a:p>
        </p:txBody>
      </p:sp>
      <p:cxnSp>
        <p:nvCxnSpPr>
          <p:cNvPr name="Connector 6" id="6"/>
          <p:cNvCxnSpPr/>
          <p:nvPr/>
        </p:nvCxnSpPr>
        <p:spPr>
          <a:xfrm flipV="true">
            <a:off x="660400" y="2193568"/>
            <a:ext cx="10858500" cy="2048256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AutoShape 7" id="7"/>
          <p:cNvSpPr/>
          <p:nvPr/>
        </p:nvSpPr>
        <p:spPr>
          <a:xfrm>
            <a:off x="1991726" y="3250418"/>
            <a:ext cx="1122400" cy="1122400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  <p:txBody>
          <a:bodyPr vert="horz" anchor="ctr" wrap="square" tIns="45720" lIns="91440" bIns="45720" rIns="91440">
            <a:normAutofit/>
          </a:bodyPr>
          <a:p>
            <a:pPr algn="ctr" indent="0" marR="0" marL="0"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>
            <a:off x="2308158" y="3566935"/>
            <a:ext cx="489537" cy="489366"/>
          </a:xfrm>
          <a:custGeom>
            <a:avLst/>
            <a:gdLst/>
            <a:ahLst/>
            <a:cxnLst/>
            <a:rect r="r" b="b" t="t" l="l"/>
            <a:pathLst>
              <a:path w="606933" h="606722" stroke="true" fill="norm" extrusionOk="true">
                <a:moveTo>
                  <a:pt x="0" y="362213"/>
                </a:moveTo>
                <a:lnTo>
                  <a:pt x="88983" y="362213"/>
                </a:lnTo>
                <a:lnTo>
                  <a:pt x="88983" y="364880"/>
                </a:lnTo>
                <a:lnTo>
                  <a:pt x="88983" y="398210"/>
                </a:lnTo>
                <a:lnTo>
                  <a:pt x="88983" y="560238"/>
                </a:lnTo>
                <a:lnTo>
                  <a:pt x="88983" y="570637"/>
                </a:lnTo>
                <a:lnTo>
                  <a:pt x="88983" y="606722"/>
                </a:lnTo>
                <a:lnTo>
                  <a:pt x="0" y="606722"/>
                </a:lnTo>
                <a:close/>
                <a:moveTo>
                  <a:pt x="276890" y="335751"/>
                </a:moveTo>
                <a:lnTo>
                  <a:pt x="443069" y="377345"/>
                </a:lnTo>
                <a:lnTo>
                  <a:pt x="443069" y="423559"/>
                </a:lnTo>
                <a:lnTo>
                  <a:pt x="442802" y="423648"/>
                </a:lnTo>
                <a:lnTo>
                  <a:pt x="323976" y="394764"/>
                </a:lnTo>
                <a:lnTo>
                  <a:pt x="315342" y="429781"/>
                </a:lnTo>
                <a:lnTo>
                  <a:pt x="443336" y="460887"/>
                </a:lnTo>
                <a:lnTo>
                  <a:pt x="593493" y="419649"/>
                </a:lnTo>
                <a:lnTo>
                  <a:pt x="606933" y="470663"/>
                </a:lnTo>
                <a:lnTo>
                  <a:pt x="382810" y="594021"/>
                </a:lnTo>
                <a:lnTo>
                  <a:pt x="212804" y="546384"/>
                </a:lnTo>
                <a:lnTo>
                  <a:pt x="125042" y="556249"/>
                </a:lnTo>
                <a:lnTo>
                  <a:pt x="125042" y="519900"/>
                </a:lnTo>
                <a:lnTo>
                  <a:pt x="125042" y="395742"/>
                </a:lnTo>
                <a:lnTo>
                  <a:pt x="125042" y="362236"/>
                </a:lnTo>
                <a:lnTo>
                  <a:pt x="125042" y="359303"/>
                </a:lnTo>
                <a:close/>
                <a:moveTo>
                  <a:pt x="382041" y="177119"/>
                </a:moveTo>
                <a:cubicBezTo>
                  <a:pt x="399471" y="181654"/>
                  <a:pt x="399471" y="192859"/>
                  <a:pt x="399471" y="197750"/>
                </a:cubicBezTo>
                <a:cubicBezTo>
                  <a:pt x="399471" y="202641"/>
                  <a:pt x="399471" y="213934"/>
                  <a:pt x="382041" y="218470"/>
                </a:cubicBezTo>
                <a:close/>
                <a:moveTo>
                  <a:pt x="345841" y="95828"/>
                </a:moveTo>
                <a:lnTo>
                  <a:pt x="345841" y="137109"/>
                </a:lnTo>
                <a:cubicBezTo>
                  <a:pt x="328341" y="132670"/>
                  <a:pt x="328341" y="121395"/>
                  <a:pt x="328341" y="116513"/>
                </a:cubicBezTo>
                <a:cubicBezTo>
                  <a:pt x="328341" y="111630"/>
                  <a:pt x="328341" y="100355"/>
                  <a:pt x="345841" y="95828"/>
                </a:cubicBezTo>
                <a:close/>
                <a:moveTo>
                  <a:pt x="345877" y="41411"/>
                </a:moveTo>
                <a:lnTo>
                  <a:pt x="345877" y="59184"/>
                </a:lnTo>
                <a:cubicBezTo>
                  <a:pt x="334220" y="60961"/>
                  <a:pt x="324253" y="64605"/>
                  <a:pt x="315978" y="70115"/>
                </a:cubicBezTo>
                <a:cubicBezTo>
                  <a:pt x="300494" y="80423"/>
                  <a:pt x="292308" y="96508"/>
                  <a:pt x="292308" y="116502"/>
                </a:cubicBezTo>
                <a:cubicBezTo>
                  <a:pt x="292308" y="136497"/>
                  <a:pt x="300494" y="152582"/>
                  <a:pt x="315978" y="162890"/>
                </a:cubicBezTo>
                <a:cubicBezTo>
                  <a:pt x="324253" y="168400"/>
                  <a:pt x="334220" y="172043"/>
                  <a:pt x="345877" y="173820"/>
                </a:cubicBezTo>
                <a:lnTo>
                  <a:pt x="345877" y="218431"/>
                </a:lnTo>
                <a:cubicBezTo>
                  <a:pt x="328347" y="213899"/>
                  <a:pt x="328347" y="202613"/>
                  <a:pt x="328347" y="197725"/>
                </a:cubicBezTo>
                <a:lnTo>
                  <a:pt x="292308" y="197725"/>
                </a:lnTo>
                <a:cubicBezTo>
                  <a:pt x="292308" y="217720"/>
                  <a:pt x="300494" y="233805"/>
                  <a:pt x="315978" y="244113"/>
                </a:cubicBezTo>
                <a:cubicBezTo>
                  <a:pt x="324253" y="249623"/>
                  <a:pt x="334220" y="253266"/>
                  <a:pt x="345877" y="255043"/>
                </a:cubicBezTo>
                <a:lnTo>
                  <a:pt x="345877" y="272816"/>
                </a:lnTo>
                <a:lnTo>
                  <a:pt x="382004" y="272816"/>
                </a:lnTo>
                <a:lnTo>
                  <a:pt x="382004" y="255043"/>
                </a:lnTo>
                <a:cubicBezTo>
                  <a:pt x="393573" y="253266"/>
                  <a:pt x="403628" y="249623"/>
                  <a:pt x="411814" y="244113"/>
                </a:cubicBezTo>
                <a:cubicBezTo>
                  <a:pt x="427387" y="233805"/>
                  <a:pt x="435573" y="217720"/>
                  <a:pt x="435573" y="197725"/>
                </a:cubicBezTo>
                <a:cubicBezTo>
                  <a:pt x="435573" y="177731"/>
                  <a:pt x="427387" y="161735"/>
                  <a:pt x="411814" y="151338"/>
                </a:cubicBezTo>
                <a:cubicBezTo>
                  <a:pt x="403628" y="145917"/>
                  <a:pt x="393573" y="142273"/>
                  <a:pt x="382004" y="140407"/>
                </a:cubicBezTo>
                <a:lnTo>
                  <a:pt x="382004" y="95797"/>
                </a:lnTo>
                <a:cubicBezTo>
                  <a:pt x="399446" y="100329"/>
                  <a:pt x="399446" y="111615"/>
                  <a:pt x="399446" y="116502"/>
                </a:cubicBezTo>
                <a:lnTo>
                  <a:pt x="435573" y="116502"/>
                </a:lnTo>
                <a:cubicBezTo>
                  <a:pt x="435573" y="96508"/>
                  <a:pt x="427387" y="80423"/>
                  <a:pt x="411814" y="70115"/>
                </a:cubicBezTo>
                <a:cubicBezTo>
                  <a:pt x="403628" y="64605"/>
                  <a:pt x="393573" y="60961"/>
                  <a:pt x="382004" y="59184"/>
                </a:cubicBezTo>
                <a:lnTo>
                  <a:pt x="382004" y="41411"/>
                </a:lnTo>
                <a:close/>
                <a:moveTo>
                  <a:pt x="363941" y="0"/>
                </a:moveTo>
                <a:cubicBezTo>
                  <a:pt x="450701" y="0"/>
                  <a:pt x="521266" y="70470"/>
                  <a:pt x="521266" y="157114"/>
                </a:cubicBezTo>
                <a:cubicBezTo>
                  <a:pt x="521266" y="243758"/>
                  <a:pt x="450701" y="314228"/>
                  <a:pt x="363941" y="314228"/>
                </a:cubicBezTo>
                <a:cubicBezTo>
                  <a:pt x="277180" y="314228"/>
                  <a:pt x="206615" y="243758"/>
                  <a:pt x="206615" y="157114"/>
                </a:cubicBezTo>
                <a:cubicBezTo>
                  <a:pt x="206615" y="70470"/>
                  <a:pt x="277180" y="0"/>
                  <a:pt x="3639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l" indent="0" marR="0" marL="0"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>
            <a:off x="5821982" y="2613608"/>
            <a:ext cx="1122400" cy="1122400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  <p:txBody>
          <a:bodyPr vert="horz" anchor="ctr" wrap="square" tIns="45720" lIns="91440" bIns="45720" rIns="91440">
            <a:normAutofit/>
          </a:bodyPr>
          <a:p>
            <a:pPr algn="ctr" indent="0" marR="0" marL="0"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>
            <a:off x="6138414" y="2930410"/>
            <a:ext cx="489537" cy="488797"/>
          </a:xfrm>
          <a:custGeom>
            <a:avLst/>
            <a:gdLst/>
            <a:ahLst/>
            <a:cxnLst/>
            <a:rect r="r" b="b" t="t" l="l"/>
            <a:pathLst>
              <a:path w="607356" h="606439" stroke="true" fill="norm" extrusionOk="true">
                <a:moveTo>
                  <a:pt x="186482" y="210567"/>
                </a:moveTo>
                <a:lnTo>
                  <a:pt x="202880" y="210567"/>
                </a:lnTo>
                <a:lnTo>
                  <a:pt x="202880" y="232708"/>
                </a:lnTo>
                <a:cubicBezTo>
                  <a:pt x="197869" y="237106"/>
                  <a:pt x="194529" y="243475"/>
                  <a:pt x="194529" y="250754"/>
                </a:cubicBezTo>
                <a:cubicBezTo>
                  <a:pt x="194529" y="263947"/>
                  <a:pt x="205309" y="274715"/>
                  <a:pt x="218671" y="274715"/>
                </a:cubicBezTo>
                <a:cubicBezTo>
                  <a:pt x="231880" y="274715"/>
                  <a:pt x="242661" y="263947"/>
                  <a:pt x="242661" y="250754"/>
                </a:cubicBezTo>
                <a:cubicBezTo>
                  <a:pt x="242661" y="243475"/>
                  <a:pt x="239472" y="237106"/>
                  <a:pt x="234462" y="232708"/>
                </a:cubicBezTo>
                <a:lnTo>
                  <a:pt x="234462" y="210567"/>
                </a:lnTo>
                <a:lnTo>
                  <a:pt x="370353" y="210567"/>
                </a:lnTo>
                <a:lnTo>
                  <a:pt x="370353" y="232708"/>
                </a:lnTo>
                <a:cubicBezTo>
                  <a:pt x="365343" y="237106"/>
                  <a:pt x="362003" y="243475"/>
                  <a:pt x="362003" y="250754"/>
                </a:cubicBezTo>
                <a:cubicBezTo>
                  <a:pt x="362003" y="263947"/>
                  <a:pt x="372783" y="274715"/>
                  <a:pt x="386144" y="274715"/>
                </a:cubicBezTo>
                <a:cubicBezTo>
                  <a:pt x="399354" y="274715"/>
                  <a:pt x="410134" y="263947"/>
                  <a:pt x="410134" y="250754"/>
                </a:cubicBezTo>
                <a:cubicBezTo>
                  <a:pt x="410134" y="243475"/>
                  <a:pt x="406946" y="237106"/>
                  <a:pt x="401935" y="232708"/>
                </a:cubicBezTo>
                <a:lnTo>
                  <a:pt x="401935" y="210567"/>
                </a:lnTo>
                <a:lnTo>
                  <a:pt x="418181" y="210567"/>
                </a:lnTo>
                <a:cubicBezTo>
                  <a:pt x="427443" y="210567"/>
                  <a:pt x="435035" y="218149"/>
                  <a:pt x="435035" y="227400"/>
                </a:cubicBezTo>
                <a:lnTo>
                  <a:pt x="435035" y="452144"/>
                </a:lnTo>
                <a:cubicBezTo>
                  <a:pt x="435035" y="461395"/>
                  <a:pt x="427443" y="468977"/>
                  <a:pt x="418181" y="468977"/>
                </a:cubicBezTo>
                <a:lnTo>
                  <a:pt x="186482" y="468977"/>
                </a:lnTo>
                <a:cubicBezTo>
                  <a:pt x="177220" y="468977"/>
                  <a:pt x="169780" y="461395"/>
                  <a:pt x="169780" y="452144"/>
                </a:cubicBezTo>
                <a:lnTo>
                  <a:pt x="169780" y="227400"/>
                </a:lnTo>
                <a:cubicBezTo>
                  <a:pt x="169780" y="218149"/>
                  <a:pt x="177220" y="210567"/>
                  <a:pt x="186482" y="210567"/>
                </a:cubicBezTo>
                <a:close/>
                <a:moveTo>
                  <a:pt x="302297" y="87642"/>
                </a:moveTo>
                <a:cubicBezTo>
                  <a:pt x="339804" y="87642"/>
                  <a:pt x="370327" y="118123"/>
                  <a:pt x="370327" y="155579"/>
                </a:cubicBezTo>
                <a:lnTo>
                  <a:pt x="370327" y="179236"/>
                </a:lnTo>
                <a:lnTo>
                  <a:pt x="234418" y="179236"/>
                </a:lnTo>
                <a:lnTo>
                  <a:pt x="234418" y="155579"/>
                </a:lnTo>
                <a:cubicBezTo>
                  <a:pt x="234418" y="118123"/>
                  <a:pt x="264941" y="87642"/>
                  <a:pt x="302297" y="87642"/>
                </a:cubicBezTo>
                <a:close/>
                <a:moveTo>
                  <a:pt x="302311" y="56247"/>
                </a:moveTo>
                <a:cubicBezTo>
                  <a:pt x="247498" y="56247"/>
                  <a:pt x="202857" y="100820"/>
                  <a:pt x="202857" y="155552"/>
                </a:cubicBezTo>
                <a:lnTo>
                  <a:pt x="202857" y="179203"/>
                </a:lnTo>
                <a:lnTo>
                  <a:pt x="186458" y="179203"/>
                </a:lnTo>
                <a:cubicBezTo>
                  <a:pt x="159886" y="179203"/>
                  <a:pt x="138173" y="200883"/>
                  <a:pt x="138173" y="227415"/>
                </a:cubicBezTo>
                <a:lnTo>
                  <a:pt x="138173" y="452100"/>
                </a:lnTo>
                <a:cubicBezTo>
                  <a:pt x="138173" y="478632"/>
                  <a:pt x="159886" y="500312"/>
                  <a:pt x="186458" y="500312"/>
                </a:cubicBezTo>
                <a:lnTo>
                  <a:pt x="418165" y="500312"/>
                </a:lnTo>
                <a:cubicBezTo>
                  <a:pt x="444888" y="500312"/>
                  <a:pt x="466601" y="478632"/>
                  <a:pt x="466601" y="452100"/>
                </a:cubicBezTo>
                <a:lnTo>
                  <a:pt x="466601" y="227415"/>
                </a:lnTo>
                <a:cubicBezTo>
                  <a:pt x="466601" y="200883"/>
                  <a:pt x="444888" y="179203"/>
                  <a:pt x="418165" y="179203"/>
                </a:cubicBezTo>
                <a:lnTo>
                  <a:pt x="401918" y="179203"/>
                </a:lnTo>
                <a:lnTo>
                  <a:pt x="401918" y="155552"/>
                </a:lnTo>
                <a:cubicBezTo>
                  <a:pt x="401918" y="100820"/>
                  <a:pt x="357277" y="56247"/>
                  <a:pt x="302311" y="56247"/>
                </a:cubicBezTo>
                <a:close/>
                <a:moveTo>
                  <a:pt x="303678" y="0"/>
                </a:moveTo>
                <a:cubicBezTo>
                  <a:pt x="471460" y="0"/>
                  <a:pt x="607356" y="135691"/>
                  <a:pt x="607356" y="303220"/>
                </a:cubicBezTo>
                <a:cubicBezTo>
                  <a:pt x="607356" y="470748"/>
                  <a:pt x="471460" y="606439"/>
                  <a:pt x="303678" y="606439"/>
                </a:cubicBezTo>
                <a:cubicBezTo>
                  <a:pt x="135896" y="606439"/>
                  <a:pt x="0" y="470748"/>
                  <a:pt x="0" y="303220"/>
                </a:cubicBezTo>
                <a:cubicBezTo>
                  <a:pt x="0" y="135691"/>
                  <a:pt x="135896" y="0"/>
                  <a:pt x="30367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l" indent="0" marR="0" marL="0">
              <a:spcBef>
                <a:spcPct val="0"/>
              </a:spcBef>
            </a:pPr>
          </a:p>
        </p:txBody>
      </p:sp>
      <p:sp>
        <p:nvSpPr>
          <p:cNvPr name="AutoShape 11" id="11"/>
          <p:cNvSpPr/>
          <p:nvPr/>
        </p:nvSpPr>
        <p:spPr>
          <a:xfrm>
            <a:off x="9093365" y="1990213"/>
            <a:ext cx="1122400" cy="1122400"/>
          </a:xfrm>
          <a:prstGeom prst="ellipse">
            <a:avLst/>
          </a:pr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indent="0" marR="0" marL="0"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>
            <a:off x="9409797" y="2326748"/>
            <a:ext cx="489537" cy="449330"/>
          </a:xfrm>
          <a:custGeom>
            <a:avLst/>
            <a:gdLst/>
            <a:ahLst/>
            <a:cxnLst/>
            <a:rect r="r" b="b" t="t" l="l"/>
            <a:pathLst>
              <a:path w="608426" h="558455" stroke="true" fill="norm" extrusionOk="true">
                <a:moveTo>
                  <a:pt x="93434" y="245427"/>
                </a:moveTo>
                <a:cubicBezTo>
                  <a:pt x="98197" y="245427"/>
                  <a:pt x="102653" y="247729"/>
                  <a:pt x="105418" y="251565"/>
                </a:cubicBezTo>
                <a:lnTo>
                  <a:pt x="184086" y="358669"/>
                </a:lnTo>
                <a:cubicBezTo>
                  <a:pt x="187312" y="363273"/>
                  <a:pt x="187927" y="369257"/>
                  <a:pt x="185315" y="374167"/>
                </a:cubicBezTo>
                <a:cubicBezTo>
                  <a:pt x="182857" y="379078"/>
                  <a:pt x="177786" y="382300"/>
                  <a:pt x="172101" y="382300"/>
                </a:cubicBezTo>
                <a:lnTo>
                  <a:pt x="139835" y="382300"/>
                </a:lnTo>
                <a:lnTo>
                  <a:pt x="139835" y="543571"/>
                </a:lnTo>
                <a:cubicBezTo>
                  <a:pt x="139835" y="551703"/>
                  <a:pt x="133228" y="558455"/>
                  <a:pt x="124931" y="558455"/>
                </a:cubicBezTo>
                <a:lnTo>
                  <a:pt x="61936" y="558455"/>
                </a:lnTo>
                <a:cubicBezTo>
                  <a:pt x="53793" y="558455"/>
                  <a:pt x="47186" y="551703"/>
                  <a:pt x="47186" y="543571"/>
                </a:cubicBezTo>
                <a:lnTo>
                  <a:pt x="47186" y="382300"/>
                </a:lnTo>
                <a:lnTo>
                  <a:pt x="14766" y="382300"/>
                </a:lnTo>
                <a:cubicBezTo>
                  <a:pt x="9235" y="382300"/>
                  <a:pt x="4164" y="379078"/>
                  <a:pt x="1552" y="374167"/>
                </a:cubicBezTo>
                <a:cubicBezTo>
                  <a:pt x="-906" y="369257"/>
                  <a:pt x="-445" y="363273"/>
                  <a:pt x="2935" y="358669"/>
                </a:cubicBezTo>
                <a:lnTo>
                  <a:pt x="81603" y="251565"/>
                </a:lnTo>
                <a:cubicBezTo>
                  <a:pt x="84368" y="247729"/>
                  <a:pt x="88824" y="245427"/>
                  <a:pt x="93434" y="245427"/>
                </a:cubicBezTo>
                <a:close/>
                <a:moveTo>
                  <a:pt x="259204" y="157855"/>
                </a:moveTo>
                <a:cubicBezTo>
                  <a:pt x="263814" y="157855"/>
                  <a:pt x="268270" y="160156"/>
                  <a:pt x="271035" y="163839"/>
                </a:cubicBezTo>
                <a:lnTo>
                  <a:pt x="349703" y="271085"/>
                </a:lnTo>
                <a:cubicBezTo>
                  <a:pt x="353083" y="275534"/>
                  <a:pt x="353544" y="281518"/>
                  <a:pt x="351086" y="286581"/>
                </a:cubicBezTo>
                <a:cubicBezTo>
                  <a:pt x="348474" y="291491"/>
                  <a:pt x="343403" y="294559"/>
                  <a:pt x="337872" y="294559"/>
                </a:cubicBezTo>
                <a:lnTo>
                  <a:pt x="305452" y="294559"/>
                </a:lnTo>
                <a:lnTo>
                  <a:pt x="305452" y="543572"/>
                </a:lnTo>
                <a:cubicBezTo>
                  <a:pt x="305452" y="551704"/>
                  <a:pt x="298845" y="558455"/>
                  <a:pt x="290702" y="558455"/>
                </a:cubicBezTo>
                <a:lnTo>
                  <a:pt x="227707" y="558455"/>
                </a:lnTo>
                <a:cubicBezTo>
                  <a:pt x="219410" y="558455"/>
                  <a:pt x="212803" y="551704"/>
                  <a:pt x="212803" y="543572"/>
                </a:cubicBezTo>
                <a:lnTo>
                  <a:pt x="212803" y="294559"/>
                </a:lnTo>
                <a:lnTo>
                  <a:pt x="180537" y="294559"/>
                </a:lnTo>
                <a:cubicBezTo>
                  <a:pt x="174852" y="294559"/>
                  <a:pt x="169781" y="291491"/>
                  <a:pt x="167323" y="286581"/>
                </a:cubicBezTo>
                <a:cubicBezTo>
                  <a:pt x="164711" y="281518"/>
                  <a:pt x="165326" y="275534"/>
                  <a:pt x="168552" y="271085"/>
                </a:cubicBezTo>
                <a:lnTo>
                  <a:pt x="247220" y="163839"/>
                </a:lnTo>
                <a:cubicBezTo>
                  <a:pt x="249985" y="160156"/>
                  <a:pt x="254441" y="157855"/>
                  <a:pt x="259204" y="157855"/>
                </a:cubicBezTo>
                <a:close/>
                <a:moveTo>
                  <a:pt x="446012" y="156011"/>
                </a:moveTo>
                <a:cubicBezTo>
                  <a:pt x="448317" y="156011"/>
                  <a:pt x="450468" y="157392"/>
                  <a:pt x="451390" y="159693"/>
                </a:cubicBezTo>
                <a:lnTo>
                  <a:pt x="490572" y="267094"/>
                </a:lnTo>
                <a:cubicBezTo>
                  <a:pt x="492877" y="273231"/>
                  <a:pt x="501636" y="273231"/>
                  <a:pt x="503787" y="267094"/>
                </a:cubicBezTo>
                <a:lnTo>
                  <a:pt x="542969" y="159693"/>
                </a:lnTo>
                <a:cubicBezTo>
                  <a:pt x="544044" y="156778"/>
                  <a:pt x="547271" y="155244"/>
                  <a:pt x="550191" y="156165"/>
                </a:cubicBezTo>
                <a:lnTo>
                  <a:pt x="568783" y="161841"/>
                </a:lnTo>
                <a:lnTo>
                  <a:pt x="568937" y="161995"/>
                </a:lnTo>
                <a:cubicBezTo>
                  <a:pt x="592446" y="169666"/>
                  <a:pt x="608426" y="191607"/>
                  <a:pt x="608426" y="216462"/>
                </a:cubicBezTo>
                <a:lnTo>
                  <a:pt x="608426" y="330306"/>
                </a:lnTo>
                <a:cubicBezTo>
                  <a:pt x="608426" y="331380"/>
                  <a:pt x="608119" y="332454"/>
                  <a:pt x="607504" y="333375"/>
                </a:cubicBezTo>
                <a:lnTo>
                  <a:pt x="566632" y="395514"/>
                </a:lnTo>
                <a:lnTo>
                  <a:pt x="566632" y="552625"/>
                </a:lnTo>
                <a:cubicBezTo>
                  <a:pt x="566632" y="555847"/>
                  <a:pt x="564020" y="558455"/>
                  <a:pt x="560793" y="558455"/>
                </a:cubicBezTo>
                <a:lnTo>
                  <a:pt x="433566" y="558455"/>
                </a:lnTo>
                <a:cubicBezTo>
                  <a:pt x="430339" y="558455"/>
                  <a:pt x="427727" y="555847"/>
                  <a:pt x="427727" y="552625"/>
                </a:cubicBezTo>
                <a:lnTo>
                  <a:pt x="427727" y="395514"/>
                </a:lnTo>
                <a:lnTo>
                  <a:pt x="386855" y="333375"/>
                </a:lnTo>
                <a:cubicBezTo>
                  <a:pt x="386240" y="332454"/>
                  <a:pt x="385933" y="331380"/>
                  <a:pt x="385933" y="330306"/>
                </a:cubicBezTo>
                <a:lnTo>
                  <a:pt x="385933" y="216769"/>
                </a:lnTo>
                <a:cubicBezTo>
                  <a:pt x="385933" y="191760"/>
                  <a:pt x="401913" y="169820"/>
                  <a:pt x="425730" y="161841"/>
                </a:cubicBezTo>
                <a:cubicBezTo>
                  <a:pt x="425730" y="161841"/>
                  <a:pt x="445398" y="156011"/>
                  <a:pt x="446012" y="156011"/>
                </a:cubicBezTo>
                <a:close/>
                <a:moveTo>
                  <a:pt x="487387" y="148470"/>
                </a:moveTo>
                <a:lnTo>
                  <a:pt x="507184" y="148470"/>
                </a:lnTo>
                <a:cubicBezTo>
                  <a:pt x="509793" y="148470"/>
                  <a:pt x="512402" y="149544"/>
                  <a:pt x="514244" y="151386"/>
                </a:cubicBezTo>
                <a:cubicBezTo>
                  <a:pt x="517007" y="154455"/>
                  <a:pt x="517467" y="158905"/>
                  <a:pt x="515472" y="162281"/>
                </a:cubicBezTo>
                <a:lnTo>
                  <a:pt x="504882" y="178239"/>
                </a:lnTo>
                <a:lnTo>
                  <a:pt x="509793" y="220131"/>
                </a:lnTo>
                <a:lnTo>
                  <a:pt x="499971" y="246064"/>
                </a:lnTo>
                <a:cubicBezTo>
                  <a:pt x="499050" y="248673"/>
                  <a:pt x="495367" y="248673"/>
                  <a:pt x="494446" y="246064"/>
                </a:cubicBezTo>
                <a:lnTo>
                  <a:pt x="484624" y="220131"/>
                </a:lnTo>
                <a:lnTo>
                  <a:pt x="489689" y="178239"/>
                </a:lnTo>
                <a:lnTo>
                  <a:pt x="478946" y="162281"/>
                </a:lnTo>
                <a:cubicBezTo>
                  <a:pt x="477104" y="158905"/>
                  <a:pt x="477411" y="154455"/>
                  <a:pt x="480173" y="151386"/>
                </a:cubicBezTo>
                <a:cubicBezTo>
                  <a:pt x="482015" y="149544"/>
                  <a:pt x="484624" y="148470"/>
                  <a:pt x="487387" y="148470"/>
                </a:cubicBezTo>
                <a:close/>
                <a:moveTo>
                  <a:pt x="497215" y="0"/>
                </a:moveTo>
                <a:cubicBezTo>
                  <a:pt x="533264" y="0"/>
                  <a:pt x="562488" y="29192"/>
                  <a:pt x="562488" y="65203"/>
                </a:cubicBezTo>
                <a:cubicBezTo>
                  <a:pt x="562488" y="101214"/>
                  <a:pt x="533264" y="130406"/>
                  <a:pt x="497215" y="130406"/>
                </a:cubicBezTo>
                <a:cubicBezTo>
                  <a:pt x="461166" y="130406"/>
                  <a:pt x="431942" y="101214"/>
                  <a:pt x="431942" y="65203"/>
                </a:cubicBezTo>
                <a:cubicBezTo>
                  <a:pt x="431942" y="29192"/>
                  <a:pt x="461166" y="0"/>
                  <a:pt x="49721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wrap="square" tIns="45720" lIns="91440" bIns="45720" rIns="91440">
            <a:normAutofit/>
          </a:bodyPr>
          <a:p>
            <a:pPr algn="l" indent="0" marR="0" marL="0"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>
            <a:off x="573932" y="4629278"/>
            <a:ext cx="4965689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医疗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573932" y="4967833"/>
            <a:ext cx="4965689" cy="70019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人工智能在医疗领域通过图像分析辅助诊断、药物研究和个性化医疗方案，显著提高医疗服务效率和质量。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308158" y="1189975"/>
            <a:ext cx="5311842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金融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2308158" y="1528530"/>
            <a:ext cx="5311842" cy="70019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金融行业应用人工智能进行信用评分、风险管理及市场预测，提升决策过程的智能化和自动化水平。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6944382" y="3576111"/>
            <a:ext cx="4398783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自动驾驶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6944382" y="3914666"/>
            <a:ext cx="4398783" cy="70019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自动驾驶技术结合计算机视觉和深度学习，实现车辆的自主导航和安全行驶，正逐步走向商用化。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00310" y="3317521"/>
            <a:ext cx="5677105" cy="480131"/>
          </a:xfrm>
        </p:spPr>
        <p:txBody>
          <a:bodyPr vert="horz" anchor="ctr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456E72"/>
                </a:solidFill>
                <a:latin typeface="微软雅黑"/>
                <a:ea typeface="微软雅黑"/>
              </a:rPr>
              <a:t>人工智能的挑战与伦理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410730" y="2895868"/>
            <a:ext cx="1326005" cy="1323439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US" b="true" i="false" sz="8000" baseline="0" u="none">
                <a:ln w="12700"/>
                <a:solidFill>
                  <a:srgbClr val="456E72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技术挑战</a:t>
            </a:r>
          </a:p>
        </p:txBody>
      </p:sp>
      <p:sp>
        <p:nvSpPr>
          <p:cNvPr name="AutoShape 6" id="6"/>
          <p:cNvSpPr/>
          <p:nvPr/>
        </p:nvSpPr>
        <p:spPr>
          <a:xfrm>
            <a:off x="660402" y="1647730"/>
            <a:ext cx="3377074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数据隐私</a:t>
            </a:r>
          </a:p>
        </p:txBody>
      </p:sp>
      <p:sp>
        <p:nvSpPr>
          <p:cNvPr name="AutoShape 7" id="7"/>
          <p:cNvSpPr/>
          <p:nvPr/>
        </p:nvSpPr>
        <p:spPr>
          <a:xfrm>
            <a:off x="660403" y="2132106"/>
            <a:ext cx="3377074" cy="179546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随着数据采集范围的扩大，用户的隐私安全问题日益突出，如何在保证数据隐私的同时利用数据是重大挑战。</a:t>
            </a:r>
          </a:p>
        </p:txBody>
      </p:sp>
      <p:cxnSp>
        <p:nvCxnSpPr>
          <p:cNvPr name="Connector 8" id="8"/>
          <p:cNvCxnSpPr/>
          <p:nvPr/>
        </p:nvCxnSpPr>
        <p:spPr>
          <a:xfrm flipH="true">
            <a:off x="4297856" y="1847932"/>
            <a:ext cx="1426023" cy="0"/>
          </a:xfrm>
          <a:prstGeom prst="line">
            <a:avLst/>
          </a:prstGeom>
          <a:ln w="19050" cap="flat" cmpd="sng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prstDash val="solid"/>
            <a:tailEnd type="oval"/>
          </a:ln>
        </p:spPr>
      </p:cxnSp>
      <p:sp>
        <p:nvSpPr>
          <p:cNvPr name="AutoShape 9" id="9"/>
          <p:cNvSpPr/>
          <p:nvPr/>
        </p:nvSpPr>
        <p:spPr>
          <a:xfrm>
            <a:off x="8391725" y="3071600"/>
            <a:ext cx="3127177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偏见与公平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391726" y="3555976"/>
            <a:ext cx="3127177" cy="179399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AI 系统可能会因训练数据中的偏见而带来不公平的结果，如何确保算法的公正性，是技术发展需重视的问题。</a:t>
            </a:r>
          </a:p>
        </p:txBody>
      </p:sp>
      <p:cxnSp>
        <p:nvCxnSpPr>
          <p:cNvPr name="Connector 11" id="11"/>
          <p:cNvCxnSpPr/>
          <p:nvPr/>
        </p:nvCxnSpPr>
        <p:spPr>
          <a:xfrm>
            <a:off x="6790680" y="3253595"/>
            <a:ext cx="1426023" cy="0"/>
          </a:xfrm>
          <a:prstGeom prst="line">
            <a:avLst/>
          </a:prstGeom>
          <a:ln w="19050" cap="flat" cmpd="sng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prstDash val="solid"/>
            <a:tailEnd type="oval"/>
          </a:ln>
        </p:spPr>
      </p:cxnSp>
      <p:sp>
        <p:nvSpPr>
          <p:cNvPr name="Freeform 12" id="12"/>
          <p:cNvSpPr/>
          <p:nvPr/>
        </p:nvSpPr>
        <p:spPr>
          <a:xfrm>
            <a:off x="4297856" y="5057666"/>
            <a:ext cx="3917577" cy="1300634"/>
          </a:xfrm>
          <a:custGeom>
            <a:avLst/>
            <a:gdLst/>
            <a:ahLst/>
            <a:cxnLst/>
            <a:rect r="r" b="b" t="t" l="l"/>
            <a:pathLst>
              <a:path w="3917577" h="1300634" stroke="true" fill="norm" extrusionOk="true">
                <a:moveTo>
                  <a:pt x="828926" y="0"/>
                </a:moveTo>
                <a:lnTo>
                  <a:pt x="3105726" y="0"/>
                </a:lnTo>
                <a:lnTo>
                  <a:pt x="3178250" y="138207"/>
                </a:lnTo>
                <a:cubicBezTo>
                  <a:pt x="3376266" y="503376"/>
                  <a:pt x="3619401" y="892116"/>
                  <a:pt x="3917577" y="1300634"/>
                </a:cubicBezTo>
                <a:lnTo>
                  <a:pt x="34675" y="1300634"/>
                </a:lnTo>
                <a:lnTo>
                  <a:pt x="0" y="1300634"/>
                </a:lnTo>
                <a:lnTo>
                  <a:pt x="0" y="1299061"/>
                </a:lnTo>
                <a:lnTo>
                  <a:pt x="3876" y="1294271"/>
                </a:lnTo>
                <a:cubicBezTo>
                  <a:pt x="47982" y="1239414"/>
                  <a:pt x="368888" y="833652"/>
                  <a:pt x="709309" y="224137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</a:p>
        </p:txBody>
      </p:sp>
      <p:grpSp>
        <p:nvGrpSpPr>
          <p:cNvPr name="Group 13" id="13"/>
          <p:cNvGrpSpPr/>
          <p:nvPr/>
        </p:nvGrpSpPr>
        <p:grpSpPr>
          <a:xfrm>
            <a:off x="5511707" y="1152416"/>
            <a:ext cx="1480320" cy="1301750"/>
            <a:chOff x="5586768" y="1651000"/>
            <a:chExt cx="1480320" cy="1301750"/>
          </a:xfrm>
        </p:grpSpPr>
        <p:sp>
          <p:nvSpPr>
            <p:cNvPr name="Freeform 14" id="14"/>
            <p:cNvSpPr/>
            <p:nvPr/>
          </p:nvSpPr>
          <p:spPr>
            <a:xfrm>
              <a:off x="5586768" y="1651000"/>
              <a:ext cx="1480320" cy="1301750"/>
            </a:xfrm>
            <a:custGeom>
              <a:avLst/>
              <a:gdLst/>
              <a:ahLst/>
              <a:cxnLst/>
              <a:rect r="r" b="b" t="t" l="l"/>
              <a:pathLst>
                <a:path w="1480320" h="1301750" stroke="true" fill="norm" extrusionOk="true">
                  <a:moveTo>
                    <a:pt x="742815" y="0"/>
                  </a:moveTo>
                  <a:lnTo>
                    <a:pt x="744874" y="0"/>
                  </a:lnTo>
                  <a:lnTo>
                    <a:pt x="1480320" y="786943"/>
                  </a:lnTo>
                  <a:lnTo>
                    <a:pt x="1141531" y="786943"/>
                  </a:lnTo>
                  <a:cubicBezTo>
                    <a:pt x="1141531" y="786943"/>
                    <a:pt x="1107729" y="963157"/>
                    <a:pt x="1119490" y="1285240"/>
                  </a:cubicBezTo>
                  <a:lnTo>
                    <a:pt x="1120522" y="1301750"/>
                  </a:lnTo>
                  <a:lnTo>
                    <a:pt x="359642" y="1301750"/>
                  </a:lnTo>
                  <a:lnTo>
                    <a:pt x="361413" y="1227292"/>
                  </a:lnTo>
                  <a:cubicBezTo>
                    <a:pt x="361217" y="1090654"/>
                    <a:pt x="353988" y="953480"/>
                    <a:pt x="338790" y="816305"/>
                  </a:cubicBezTo>
                  <a:lnTo>
                    <a:pt x="0" y="81630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5" id="15"/>
            <p:cNvSpPr/>
            <p:nvPr/>
          </p:nvSpPr>
          <p:spPr>
            <a:xfrm>
              <a:off x="6053847" y="2196708"/>
              <a:ext cx="556986" cy="551090"/>
            </a:xfrm>
            <a:prstGeom prst="rect">
              <a:avLst/>
            </a:prstGeom>
            <a:noFill/>
            <a:ln cap="flat" cmpd="sng">
              <a:prstDash val="solid"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5658229" y="2454166"/>
            <a:ext cx="1208676" cy="1301750"/>
            <a:chOff x="5733290" y="2952750"/>
            <a:chExt cx="1208676" cy="1301750"/>
          </a:xfrm>
        </p:grpSpPr>
        <p:sp>
          <p:nvSpPr>
            <p:cNvPr name="Freeform 17" id="17"/>
            <p:cNvSpPr/>
            <p:nvPr/>
          </p:nvSpPr>
          <p:spPr>
            <a:xfrm>
              <a:off x="5733290" y="2952750"/>
              <a:ext cx="1208676" cy="1301750"/>
            </a:xfrm>
            <a:custGeom>
              <a:avLst/>
              <a:gdLst/>
              <a:ahLst/>
              <a:cxnLst/>
              <a:rect r="r" b="b" t="t" l="l"/>
              <a:pathLst>
                <a:path w="1208676" h="1301750" stroke="true" fill="norm" extrusionOk="true">
                  <a:moveTo>
                    <a:pt x="213120" y="0"/>
                  </a:moveTo>
                  <a:lnTo>
                    <a:pt x="974000" y="0"/>
                  </a:lnTo>
                  <a:lnTo>
                    <a:pt x="986126" y="194001"/>
                  </a:lnTo>
                  <a:cubicBezTo>
                    <a:pt x="1006021" y="421530"/>
                    <a:pt x="1048033" y="699388"/>
                    <a:pt x="1129304" y="1021019"/>
                  </a:cubicBezTo>
                  <a:lnTo>
                    <a:pt x="1208676" y="1301750"/>
                  </a:lnTo>
                  <a:lnTo>
                    <a:pt x="0" y="1301750"/>
                  </a:lnTo>
                  <a:lnTo>
                    <a:pt x="52059" y="1126354"/>
                  </a:lnTo>
                  <a:cubicBezTo>
                    <a:pt x="135984" y="804851"/>
                    <a:pt x="193519" y="469953"/>
                    <a:pt x="210027" y="13003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8" id="18"/>
            <p:cNvSpPr/>
            <p:nvPr/>
          </p:nvSpPr>
          <p:spPr>
            <a:xfrm>
              <a:off x="6053847" y="3439476"/>
              <a:ext cx="556986" cy="551090"/>
            </a:xfrm>
            <a:prstGeom prst="rect">
              <a:avLst/>
            </a:prstGeom>
            <a:noFill/>
            <a:ln cap="flat" cmpd="sng">
              <a:prstDash val="solid"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>
            <a:off x="5126782" y="3755916"/>
            <a:ext cx="2276800" cy="1301750"/>
            <a:chOff x="5201843" y="4254500"/>
            <a:chExt cx="2276800" cy="1301750"/>
          </a:xfrm>
        </p:grpSpPr>
        <p:sp>
          <p:nvSpPr>
            <p:cNvPr name="Freeform 20" id="20"/>
            <p:cNvSpPr/>
            <p:nvPr/>
          </p:nvSpPr>
          <p:spPr>
            <a:xfrm>
              <a:off x="5201843" y="4254500"/>
              <a:ext cx="2276800" cy="1301750"/>
            </a:xfrm>
            <a:custGeom>
              <a:avLst/>
              <a:gdLst/>
              <a:ahLst/>
              <a:cxnLst/>
              <a:rect r="r" b="b" t="t" l="l"/>
              <a:pathLst>
                <a:path w="2276800" h="1301750" stroke="true" fill="norm" extrusionOk="true">
                  <a:moveTo>
                    <a:pt x="531447" y="0"/>
                  </a:moveTo>
                  <a:lnTo>
                    <a:pt x="1740123" y="0"/>
                  </a:lnTo>
                  <a:lnTo>
                    <a:pt x="1755743" y="55248"/>
                  </a:lnTo>
                  <a:cubicBezTo>
                    <a:pt x="1865092" y="405333"/>
                    <a:pt x="2019413" y="797007"/>
                    <a:pt x="2235850" y="1223714"/>
                  </a:cubicBezTo>
                  <a:lnTo>
                    <a:pt x="2276800" y="1301750"/>
                  </a:lnTo>
                  <a:lnTo>
                    <a:pt x="0" y="1301750"/>
                  </a:lnTo>
                  <a:lnTo>
                    <a:pt x="37949" y="1230641"/>
                  </a:lnTo>
                  <a:cubicBezTo>
                    <a:pt x="195027" y="921999"/>
                    <a:pt x="347831" y="574776"/>
                    <a:pt x="471065" y="203441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cap="flat">
              <a:prstDash val="solid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21" id="21"/>
            <p:cNvSpPr/>
            <p:nvPr/>
          </p:nvSpPr>
          <p:spPr>
            <a:xfrm>
              <a:off x="6053847" y="4682243"/>
              <a:ext cx="556986" cy="551090"/>
            </a:xfrm>
            <a:prstGeom prst="rect">
              <a:avLst/>
            </a:prstGeom>
            <a:noFill/>
            <a:ln cap="flat" cmpd="sng">
              <a:prstDash val="solid"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660402" y="4146181"/>
            <a:ext cx="3377074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算法透明性</a:t>
            </a:r>
          </a:p>
        </p:txBody>
      </p:sp>
      <p:sp>
        <p:nvSpPr>
          <p:cNvPr name="AutoShape 23" id="23"/>
          <p:cNvSpPr/>
          <p:nvPr/>
        </p:nvSpPr>
        <p:spPr>
          <a:xfrm>
            <a:off x="660403" y="4630557"/>
            <a:ext cx="3377074" cy="179546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当前许多 AI 系统仍不够透明，难以理解其决策过程，这影响了用户的信任和对结果的接受度。</a:t>
            </a:r>
          </a:p>
        </p:txBody>
      </p:sp>
      <p:cxnSp>
        <p:nvCxnSpPr>
          <p:cNvPr name="Connector 24" id="24"/>
          <p:cNvCxnSpPr/>
          <p:nvPr/>
        </p:nvCxnSpPr>
        <p:spPr>
          <a:xfrm flipH="true">
            <a:off x="4297856" y="4346383"/>
            <a:ext cx="1121223" cy="0"/>
          </a:xfrm>
          <a:prstGeom prst="line">
            <a:avLst/>
          </a:prstGeom>
          <a:ln w="19050" cap="flat" cmpd="sng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prstDash val="solid"/>
            <a:tailEnd type="oval"/>
          </a:ln>
        </p:spPr>
      </p:cxn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伦理考量</a:t>
            </a:r>
          </a:p>
        </p:txBody>
      </p:sp>
      <p:sp>
        <p:nvSpPr>
          <p:cNvPr name="AutoShape 6" id="6"/>
          <p:cNvSpPr/>
          <p:nvPr/>
        </p:nvSpPr>
        <p:spPr>
          <a:xfrm>
            <a:off x="2045660" y="2495915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7" id="7"/>
          <p:cNvSpPr/>
          <p:nvPr/>
        </p:nvSpPr>
        <p:spPr>
          <a:xfrm>
            <a:off x="1812792" y="3684284"/>
            <a:ext cx="2571835" cy="130185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人工智能的普及对人类社会构成影响，如人们对机器的依赖是否会削弱人类的思考能力和社会互动等。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1611108" y="2897850"/>
            <a:ext cx="139700" cy="139700"/>
            <a:chOff x="1886293" y="4670068"/>
            <a:chExt cx="139700" cy="139700"/>
          </a:xfrm>
        </p:grpSpPr>
        <p:sp>
          <p:nvSpPr>
            <p:cNvPr name="AutoShape 9" id="9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  <a:effectLst>
              <a:outerShdw algn="ctr" blurRad="127000" dir="2700000" dist="63500" rotWithShape="false">
                <a:schemeClr val="accent2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cxnSp>
        <p:nvCxnSpPr>
          <p:cNvPr name="Connector 11" id="11"/>
          <p:cNvCxnSpPr/>
          <p:nvPr/>
        </p:nvCxnSpPr>
        <p:spPr>
          <a:xfrm>
            <a:off x="1676313" y="2896011"/>
            <a:ext cx="1" cy="2952780"/>
          </a:xfrm>
          <a:prstGeom prst="line">
            <a:avLst/>
          </a:prstGeom>
          <a:ln w="6350" cap="flat" cmpd="sng">
            <a:solidFill>
              <a:schemeClr val="accent1">
                <a:alpha val="50000"/>
              </a:schemeClr>
            </a:solidFill>
            <a:prstDash val="sysDash"/>
          </a:ln>
        </p:spPr>
      </p:cxnSp>
      <p:cxnSp>
        <p:nvCxnSpPr>
          <p:cNvPr name="Connector 12" id="12"/>
          <p:cNvCxnSpPr/>
          <p:nvPr/>
        </p:nvCxnSpPr>
        <p:spPr>
          <a:xfrm>
            <a:off x="4585801" y="2370967"/>
            <a:ext cx="0" cy="3584540"/>
          </a:xfrm>
          <a:prstGeom prst="line">
            <a:avLst/>
          </a:prstGeom>
          <a:ln w="6350" cap="flat" cmpd="sng">
            <a:solidFill>
              <a:schemeClr val="accent2">
                <a:alpha val="50000"/>
              </a:schemeClr>
            </a:solidFill>
            <a:prstDash val="sysDash"/>
          </a:ln>
        </p:spPr>
      </p:cxnSp>
      <p:sp>
        <p:nvSpPr>
          <p:cNvPr name="AutoShape 13" id="13"/>
          <p:cNvSpPr/>
          <p:nvPr/>
        </p:nvSpPr>
        <p:spPr>
          <a:xfrm>
            <a:off x="4964291" y="1767521"/>
            <a:ext cx="1854890" cy="438475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flat" cmpd="sng">
            <a:prstDash val="solid"/>
          </a:ln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>
            <a:off x="4529739" y="2374170"/>
            <a:ext cx="139700" cy="139700"/>
            <a:chOff x="1886293" y="4670068"/>
            <a:chExt cx="139700" cy="139700"/>
          </a:xfrm>
        </p:grpSpPr>
        <p:sp>
          <p:nvSpPr>
            <p:cNvPr name="AutoShape 15" id="15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6" id="16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2"/>
            </a:solidFill>
            <a:ln cap="flat" cmpd="sng">
              <a:prstDash val="solid"/>
            </a:ln>
            <a:effectLst>
              <a:outerShdw algn="ctr" blurRad="127000" dir="2700000" dist="63500" rotWithShape="false">
                <a:schemeClr val="accent4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17" id="17"/>
          <p:cNvSpPr/>
          <p:nvPr/>
        </p:nvSpPr>
        <p:spPr>
          <a:xfrm>
            <a:off x="7920159" y="1130300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>
            <a:off x="7448370" y="1568775"/>
            <a:ext cx="139700" cy="139700"/>
            <a:chOff x="1886293" y="4670068"/>
            <a:chExt cx="139700" cy="139700"/>
          </a:xfrm>
        </p:grpSpPr>
        <p:sp>
          <p:nvSpPr>
            <p:cNvPr name="AutoShape 19" id="19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20" id="20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3"/>
            </a:solidFill>
            <a:ln cap="flat" cmpd="sng">
              <a:prstDash val="solid"/>
            </a:ln>
            <a:effectLst>
              <a:outerShdw algn="ctr" blurRad="127000" dir="2700000" dist="63500" rotWithShape="false">
                <a:schemeClr val="accent6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cxnSp>
        <p:nvCxnSpPr>
          <p:cNvPr name="Connector 21" id="21"/>
          <p:cNvCxnSpPr/>
          <p:nvPr/>
        </p:nvCxnSpPr>
        <p:spPr>
          <a:xfrm>
            <a:off x="7501295" y="1596789"/>
            <a:ext cx="0" cy="3778487"/>
          </a:xfrm>
          <a:prstGeom prst="line">
            <a:avLst/>
          </a:prstGeom>
          <a:ln w="6350" cap="flat" cmpd="sng">
            <a:solidFill>
              <a:schemeClr val="accent1">
                <a:alpha val="50000"/>
              </a:schemeClr>
            </a:solidFill>
            <a:prstDash val="sysDash"/>
          </a:ln>
        </p:spPr>
      </p:cxnSp>
      <p:sp>
        <p:nvSpPr>
          <p:cNvPr name="TextBox 22" id="22"/>
          <p:cNvSpPr txBox="true"/>
          <p:nvPr/>
        </p:nvSpPr>
        <p:spPr>
          <a:xfrm>
            <a:off x="1812792" y="3167902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人机关系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>
            <a:off x="4695639" y="2973857"/>
            <a:ext cx="2571835" cy="130185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随着人工智能技术的进步，一些传统岗位可能被替代，如何平衡自动化和人力劳动之间的关系成为重要议题。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695639" y="2457475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职业替代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>
            <a:off x="7621641" y="2311557"/>
            <a:ext cx="2571835" cy="114913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在人工智能引发的事故或错误中，责任的归属问题复杂，需要法律在新技术面前进行更新和完善。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7621641" y="1795175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法律责任</a:t>
            </a:r>
            <a:endParaRPr lang="en-US" sz="1100"/>
          </a:p>
        </p:txBody>
      </p:sp>
      <p:grpSp>
        <p:nvGrpSpPr>
          <p:cNvPr name="Group 27" id="27"/>
          <p:cNvGrpSpPr/>
          <p:nvPr/>
        </p:nvGrpSpPr>
        <p:grpSpPr>
          <a:xfrm rot="405838">
            <a:off x="1707872" y="3040031"/>
            <a:ext cx="8929531" cy="3610665"/>
            <a:chOff x="1785483" y="1336696"/>
            <a:chExt cx="7702756" cy="3929491"/>
          </a:xfrm>
          <a:solidFill>
            <a:srgbClr val="0070C0"/>
          </a:solidFill>
        </p:grpSpPr>
        <p:sp>
          <p:nvSpPr>
            <p:cNvPr name="Freeform 28" id="28"/>
            <p:cNvSpPr/>
            <p:nvPr/>
          </p:nvSpPr>
          <p:spPr>
            <a:xfrm>
              <a:off x="1785483" y="1614094"/>
              <a:ext cx="7550848" cy="3652093"/>
            </a:xfrm>
            <a:custGeom>
              <a:avLst/>
              <a:gdLst/>
              <a:ahLst/>
              <a:cxnLst/>
              <a:rect r="r" b="b" t="t" l="l"/>
              <a:pathLst>
                <a:path w="7550848" h="3652093" stroke="true" fill="norm" extrusionOk="true">
                  <a:moveTo>
                    <a:pt x="1424" y="3618319"/>
                  </a:moveTo>
                  <a:cubicBezTo>
                    <a:pt x="179089" y="3630541"/>
                    <a:pt x="357295" y="3632900"/>
                    <a:pt x="535220" y="3625383"/>
                  </a:cubicBezTo>
                  <a:cubicBezTo>
                    <a:pt x="2850736" y="3533018"/>
                    <a:pt x="5062424" y="2437037"/>
                    <a:pt x="6669143" y="790200"/>
                  </a:cubicBezTo>
                  <a:cubicBezTo>
                    <a:pt x="6917315" y="538296"/>
                    <a:pt x="7153225" y="275103"/>
                    <a:pt x="7376873" y="635"/>
                  </a:cubicBezTo>
                  <a:lnTo>
                    <a:pt x="7550807" y="145912"/>
                  </a:lnTo>
                  <a:cubicBezTo>
                    <a:pt x="7316136" y="419408"/>
                    <a:pt x="7069164" y="681534"/>
                    <a:pt x="6809889" y="932278"/>
                  </a:cubicBezTo>
                  <a:cubicBezTo>
                    <a:pt x="5142394" y="2558191"/>
                    <a:pt x="2879658" y="3616586"/>
                    <a:pt x="535887" y="3652040"/>
                  </a:cubicBezTo>
                  <a:cubicBezTo>
                    <a:pt x="357006" y="3655038"/>
                    <a:pt x="178094" y="3648241"/>
                    <a:pt x="-42" y="3631647"/>
                  </a:cubicBezTo>
                  <a:lnTo>
                    <a:pt x="1424" y="3618319"/>
                  </a:lnTo>
                  <a:close/>
                </a:path>
              </a:pathLst>
            </a:custGeom>
            <a:grpFill/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 rot="698765">
              <a:off x="9002135" y="1336696"/>
              <a:ext cx="486104" cy="570182"/>
            </a:xfrm>
            <a:custGeom>
              <a:avLst/>
              <a:gdLst/>
              <a:ahLst/>
              <a:cxnLst/>
              <a:rect r="r" b="b" t="t" l="l"/>
              <a:pathLst>
                <a:path w="486104" h="570182" stroke="true" fill="norm" extrusionOk="true">
                  <a:moveTo>
                    <a:pt x="0" y="223733"/>
                  </a:moveTo>
                  <a:lnTo>
                    <a:pt x="486104" y="570182"/>
                  </a:lnTo>
                  <a:lnTo>
                    <a:pt x="486104" y="0"/>
                  </a:lnTo>
                  <a:lnTo>
                    <a:pt x="0" y="223733"/>
                  </a:lnTo>
                  <a:close/>
                </a:path>
              </a:pathLst>
            </a:custGeom>
            <a:grpFill/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00310" y="3317521"/>
            <a:ext cx="5677105" cy="480131"/>
          </a:xfrm>
        </p:spPr>
        <p:txBody>
          <a:bodyPr vert="horz" anchor="ctr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456E72"/>
                </a:solidFill>
                <a:latin typeface="微软雅黑"/>
                <a:ea typeface="微软雅黑"/>
              </a:rPr>
              <a:t>未来人工智能的发展趋势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410730" y="2895868"/>
            <a:ext cx="1326005" cy="1323439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US" b="true" i="false" sz="8000" baseline="0" u="none">
                <a:ln w="12700"/>
                <a:solidFill>
                  <a:srgbClr val="456E72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3006" y="1"/>
            <a:ext cx="2682181" cy="2731532"/>
          </a:xfrm>
          <a:custGeom>
            <a:avLst/>
            <a:gdLst/>
            <a:ahLst/>
            <a:cxnLst/>
            <a:rect r="r" b="b" t="t" l="l"/>
            <a:pathLst>
              <a:path w="3257357" h="3317291" stroke="true" fill="norm" extrusionOk="true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359643" y="5846617"/>
            <a:ext cx="2459315" cy="1011383"/>
          </a:xfrm>
          <a:custGeom>
            <a:avLst/>
            <a:gdLst/>
            <a:ahLst/>
            <a:cxnLst/>
            <a:rect r="r" b="b" t="t" l="l"/>
            <a:pathLst>
              <a:path w="2459315" h="1011383" stroke="true" fill="norm" extrusionOk="true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10416410" y="4475018"/>
            <a:ext cx="1775590" cy="2382981"/>
          </a:xfrm>
          <a:custGeom>
            <a:avLst/>
            <a:gdLst/>
            <a:ahLst/>
            <a:cxnLst/>
            <a:rect r="r" b="b" t="t" l="l"/>
            <a:pathLst>
              <a:path w="1775590" h="2382981" stroke="true" fill="norm" extrusionOk="true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技术革新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616925" y="4483559"/>
            <a:ext cx="2823200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latin typeface="微软雅黑"/>
                <a:ea typeface="微软雅黑"/>
              </a:rPr>
              <a:t>自主学习技术将使机器能在无需人工干预的情境中进行高效学习，提升智能系统的独立性和灵活性。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32348" y="3628562"/>
            <a:ext cx="3650304" cy="825892"/>
          </a:xfrm>
          <a:prstGeom prst="roundRect">
            <a:avLst>
              <a:gd name="adj" fmla="val 33500"/>
            </a:avLst>
          </a:prstGeom>
          <a:solidFill>
            <a:srgbClr val="F5F5F5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1032348" y="3459285"/>
            <a:ext cx="338554" cy="338554"/>
          </a:xfrm>
          <a:prstGeom prst="ellipse">
            <a:avLst/>
          </a:prstGeom>
          <a:gradFill>
            <a:gsLst>
              <a:gs pos="0">
                <a:srgbClr val="82D5EE">
                  <a:lumMod val="60000"/>
                  <a:lumOff val="40000"/>
                </a:srgbClr>
              </a:gs>
              <a:gs pos="60000">
                <a:srgbClr val="82D5EE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2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8093925" y="2373381"/>
            <a:ext cx="2823200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latin typeface="微软雅黑"/>
                <a:ea typeface="微软雅黑"/>
              </a:rPr>
              <a:t>边缘计算技术使得数据在产生源头进行处理，解决了数据传输延迟及隐私问题，成为人工智能发展的新方向。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7509348" y="1520362"/>
            <a:ext cx="3650304" cy="825892"/>
          </a:xfrm>
          <a:prstGeom prst="roundRect">
            <a:avLst>
              <a:gd name="adj" fmla="val 33500"/>
            </a:avLst>
          </a:prstGeom>
          <a:solidFill>
            <a:srgbClr val="F5F5F5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1" id="11"/>
          <p:cNvSpPr txBox="true"/>
          <p:nvPr/>
        </p:nvSpPr>
        <p:spPr>
          <a:xfrm>
            <a:off x="8011428" y="1764031"/>
            <a:ext cx="2949853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indent="-285750" marL="285750">
              <a:buFont typeface="Wingdings"/>
              <a:buChar char="n"/>
              <a:defRPr/>
            </a:pPr>
            <a:r>
              <a:rPr lang="zh-CN" b="true" i="false" sz="1600" baseline="0" u="none" altLang="en-US">
                <a:gradFill>
                  <a:gsLst>
                    <a:gs pos="0">
                      <a:srgbClr val="82D5EE">
                        <a:lumMod val="60000"/>
                        <a:lumOff val="40000"/>
                      </a:srgbClr>
                    </a:gs>
                    <a:gs pos="60000">
                      <a:srgbClr val="82D5EE"/>
                    </a:gs>
                  </a:gsLst>
                  <a:lin ang="2700000"/>
                </a:gradFill>
                <a:latin typeface="微软雅黑"/>
                <a:ea typeface="微软雅黑"/>
              </a:rPr>
              <a:t>边缘计算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7509348" y="1351085"/>
            <a:ext cx="338554" cy="338554"/>
          </a:xfrm>
          <a:prstGeom prst="ellipse">
            <a:avLst/>
          </a:prstGeom>
          <a:gradFill>
            <a:gsLst>
              <a:gs pos="0">
                <a:srgbClr val="82D5EE">
                  <a:lumMod val="60000"/>
                  <a:lumOff val="40000"/>
                </a:srgbClr>
              </a:gs>
              <a:gs pos="60000">
                <a:srgbClr val="82D5EE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3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3" id="13"/>
          <p:cNvSpPr txBox="true"/>
          <p:nvPr/>
        </p:nvSpPr>
        <p:spPr>
          <a:xfrm>
            <a:off x="4821608" y="3437455"/>
            <a:ext cx="2823200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000000"/>
                </a:solidFill>
                <a:latin typeface="微软雅黑"/>
                <a:ea typeface="微软雅黑"/>
              </a:rPr>
              <a:t>增强现实技术与人工智能结合，将提供更沉浸的用户体验，应用在教育、游戏等多个领域前景广阔。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4270848" y="2574462"/>
            <a:ext cx="3650304" cy="825892"/>
          </a:xfrm>
          <a:prstGeom prst="roundRect">
            <a:avLst>
              <a:gd name="adj" fmla="val 33500"/>
            </a:avLst>
          </a:prstGeom>
          <a:solidFill>
            <a:srgbClr val="F5F5F5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5" id="15"/>
          <p:cNvSpPr txBox="true"/>
          <p:nvPr/>
        </p:nvSpPr>
        <p:spPr>
          <a:xfrm>
            <a:off x="4753194" y="2810666"/>
            <a:ext cx="2949853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indent="-285750" marL="285750">
              <a:buFont typeface="Wingdings"/>
              <a:buChar char="n"/>
              <a:defRPr/>
            </a:pPr>
            <a:r>
              <a:rPr lang="zh-CN" b="true" i="false" sz="1600" baseline="0" u="none" altLang="en-US">
                <a:gradFill>
                  <a:gsLst>
                    <a:gs pos="0">
                      <a:srgbClr val="82D5EE">
                        <a:lumMod val="60000"/>
                        <a:lumOff val="40000"/>
                      </a:srgbClr>
                    </a:gs>
                    <a:gs pos="60000">
                      <a:srgbClr val="82D5EE"/>
                    </a:gs>
                  </a:gsLst>
                  <a:lin ang="2700000"/>
                </a:gradFill>
                <a:latin typeface="微软雅黑"/>
                <a:ea typeface="微软雅黑"/>
              </a:rPr>
              <a:t>增强现实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4270848" y="2420646"/>
            <a:ext cx="338554" cy="338554"/>
          </a:xfrm>
          <a:prstGeom prst="ellipse">
            <a:avLst/>
          </a:prstGeom>
          <a:gradFill>
            <a:gsLst>
              <a:gs pos="0">
                <a:srgbClr val="82D5EE">
                  <a:lumMod val="60000"/>
                  <a:lumOff val="40000"/>
                </a:srgbClr>
              </a:gs>
              <a:gs pos="60000">
                <a:srgbClr val="82D5EE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4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 rot="16200000">
            <a:off x="3727262" y="3112431"/>
            <a:ext cx="914400" cy="914400"/>
          </a:xfrm>
          <a:prstGeom prst="arc">
            <a:avLst/>
          </a:prstGeom>
          <a:ln w="38100" cap="rnd" cmpd="sng">
            <a:gradFill>
              <a:gsLst>
                <a:gs pos="20000">
                  <a:srgbClr val="82D5EE"/>
                </a:gs>
                <a:gs pos="100000">
                  <a:srgbClr val="82D5EE">
                    <a:alpha val="0"/>
                    <a:lumMod val="60000"/>
                    <a:lumOff val="40000"/>
                  </a:srgbClr>
                </a:gs>
              </a:gsLst>
              <a:lin ang="12000000"/>
            </a:gradFill>
            <a:prstDash val="solid"/>
            <a:headEnd w="lg" len="lg"/>
            <a:tailEnd len="sm" type="stealth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8" id="18"/>
          <p:cNvSpPr/>
          <p:nvPr/>
        </p:nvSpPr>
        <p:spPr>
          <a:xfrm rot="16200000">
            <a:off x="6933502" y="2014621"/>
            <a:ext cx="914400" cy="914400"/>
          </a:xfrm>
          <a:prstGeom prst="arc">
            <a:avLst/>
          </a:prstGeom>
          <a:ln w="38100" cap="rnd" cmpd="sng">
            <a:gradFill>
              <a:gsLst>
                <a:gs pos="20000">
                  <a:srgbClr val="82D5EE"/>
                </a:gs>
                <a:gs pos="100000">
                  <a:srgbClr val="82D5EE">
                    <a:alpha val="0"/>
                    <a:lumMod val="60000"/>
                    <a:lumOff val="40000"/>
                  </a:srgbClr>
                </a:gs>
              </a:gsLst>
              <a:lin ang="12000000"/>
            </a:gradFill>
            <a:prstDash val="solid"/>
            <a:headEnd w="lg" len="lg"/>
            <a:tailEnd len="sm" type="stealth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9" id="19"/>
          <p:cNvSpPr txBox="true"/>
          <p:nvPr/>
        </p:nvSpPr>
        <p:spPr>
          <a:xfrm>
            <a:off x="1490272" y="3857554"/>
            <a:ext cx="2949853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indent="-285750" marL="285750">
              <a:buFont typeface="Wingdings"/>
              <a:buChar char="n"/>
              <a:defRPr/>
            </a:pPr>
            <a:r>
              <a:rPr lang="zh-CN" b="true" i="false" sz="1600" baseline="0" u="none" altLang="en-US">
                <a:gradFill>
                  <a:gsLst>
                    <a:gs pos="0">
                      <a:srgbClr val="82D5EE">
                        <a:lumMod val="60000"/>
                        <a:lumOff val="40000"/>
                      </a:srgbClr>
                    </a:gs>
                    <a:gs pos="60000">
                      <a:srgbClr val="82D5EE"/>
                    </a:gs>
                  </a:gsLst>
                  <a:lin ang="2700000"/>
                </a:gradFill>
                <a:latin typeface="微软雅黑"/>
                <a:ea typeface="微软雅黑"/>
              </a:rPr>
              <a:t>自主学习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V="true">
            <a:off x="9913919" y="-12700"/>
            <a:ext cx="2278081" cy="2311335"/>
          </a:xfrm>
          <a:custGeom>
            <a:avLst/>
            <a:gdLst/>
            <a:ahLst/>
            <a:cxnLst/>
            <a:rect r="r" b="b" t="t" l="l"/>
            <a:pathLst>
              <a:path w="2278081" h="2311335" stroke="true" fill="norm" extrusionOk="true">
                <a:moveTo>
                  <a:pt x="339833" y="2311335"/>
                </a:moveTo>
                <a:lnTo>
                  <a:pt x="2278081" y="2311335"/>
                </a:lnTo>
                <a:lnTo>
                  <a:pt x="2278081" y="0"/>
                </a:lnTo>
                <a:lnTo>
                  <a:pt x="856340" y="0"/>
                </a:lnTo>
                <a:lnTo>
                  <a:pt x="1213" y="1654017"/>
                </a:lnTo>
                <a:lnTo>
                  <a:pt x="0" y="1654017"/>
                </a:lnTo>
                <a:lnTo>
                  <a:pt x="607" y="1655190"/>
                </a:lnTo>
                <a:lnTo>
                  <a:pt x="0" y="1656364"/>
                </a:lnTo>
                <a:lnTo>
                  <a:pt x="1213" y="1656364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8214273" y="0"/>
            <a:ext cx="1852574" cy="610548"/>
          </a:xfrm>
          <a:custGeom>
            <a:avLst/>
            <a:gdLst/>
            <a:ahLst/>
            <a:cxnLst/>
            <a:rect r="r" b="b" t="t" l="l"/>
            <a:pathLst>
              <a:path w="1852574" h="610548" stroke="true" fill="norm" extrusionOk="true">
                <a:moveTo>
                  <a:pt x="0" y="610548"/>
                </a:moveTo>
                <a:lnTo>
                  <a:pt x="1852574" y="610548"/>
                </a:lnTo>
                <a:lnTo>
                  <a:pt x="1536921" y="0"/>
                </a:lnTo>
                <a:lnTo>
                  <a:pt x="315653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flipV="true">
            <a:off x="0" y="4967249"/>
            <a:ext cx="1837776" cy="1890751"/>
          </a:xfrm>
          <a:custGeom>
            <a:avLst/>
            <a:gdLst/>
            <a:ahLst/>
            <a:cxnLst/>
            <a:rect r="r" b="b" t="t" l="l"/>
            <a:pathLst>
              <a:path w="1837776" h="1890751" stroke="true" fill="norm" extrusionOk="true">
                <a:moveTo>
                  <a:pt x="0" y="1890751"/>
                </a:moveTo>
                <a:lnTo>
                  <a:pt x="1209851" y="1890751"/>
                </a:lnTo>
                <a:lnTo>
                  <a:pt x="1836886" y="677916"/>
                </a:lnTo>
                <a:lnTo>
                  <a:pt x="1837776" y="677916"/>
                </a:lnTo>
                <a:lnTo>
                  <a:pt x="1837331" y="677056"/>
                </a:lnTo>
                <a:lnTo>
                  <a:pt x="1837776" y="676195"/>
                </a:lnTo>
                <a:lnTo>
                  <a:pt x="1836886" y="676195"/>
                </a:lnTo>
                <a:lnTo>
                  <a:pt x="148729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 flipV="true">
            <a:off x="1681302" y="6253522"/>
            <a:ext cx="2107121" cy="601158"/>
          </a:xfrm>
          <a:custGeom>
            <a:avLst/>
            <a:gdLst/>
            <a:ahLst/>
            <a:cxnLst/>
            <a:rect r="r" b="b" t="t" l="l"/>
            <a:pathLst>
              <a:path w="2107121" h="601158" stroke="true" fill="norm" extrusionOk="true">
                <a:moveTo>
                  <a:pt x="310799" y="601158"/>
                </a:moveTo>
                <a:lnTo>
                  <a:pt x="1796323" y="601158"/>
                </a:lnTo>
                <a:lnTo>
                  <a:pt x="210712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1276160" y="3070041"/>
            <a:ext cx="195080" cy="195080"/>
          </a:xfrm>
          <a:prstGeom prst="rect">
            <a:avLst/>
          </a:prstGeom>
          <a:gradFill>
            <a:gsLst>
              <a:gs pos="0">
                <a:srgbClr val="82D5EE">
                  <a:lumMod val="60000"/>
                  <a:lumOff val="40000"/>
                </a:srgbClr>
              </a:gs>
              <a:gs pos="50000">
                <a:srgbClr val="82D5EE"/>
              </a:gs>
            </a:gsLst>
            <a:lin ang="2700000"/>
          </a:gradFill>
          <a:ln cap="flat">
            <a:prstDash val="solid"/>
          </a:ln>
        </p:spPr>
        <p:txBody>
          <a:bodyPr vert="horz" anchor="ctr" wrap="non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1276160" y="4844747"/>
            <a:ext cx="195080" cy="195080"/>
          </a:xfrm>
          <a:prstGeom prst="rect">
            <a:avLst/>
          </a:prstGeom>
          <a:gradFill>
            <a:gsLst>
              <a:gs pos="0">
                <a:srgbClr val="82D5EE">
                  <a:lumMod val="60000"/>
                  <a:lumOff val="40000"/>
                </a:srgbClr>
              </a:gs>
              <a:gs pos="50000">
                <a:srgbClr val="82D5EE"/>
              </a:gs>
            </a:gsLst>
            <a:lin ang="2700000"/>
          </a:gradFill>
        </p:spPr>
        <p:txBody>
          <a:bodyPr vert="horz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1276160" y="1483833"/>
            <a:ext cx="195080" cy="195080"/>
          </a:xfrm>
          <a:prstGeom prst="rect">
            <a:avLst/>
          </a:prstGeom>
          <a:gradFill>
            <a:gsLst>
              <a:gs pos="0">
                <a:srgbClr val="82D5EE">
                  <a:lumMod val="60000"/>
                  <a:lumOff val="40000"/>
                </a:srgbClr>
              </a:gs>
              <a:gs pos="50000">
                <a:srgbClr val="82D5EE"/>
              </a:gs>
            </a:gsLst>
            <a:lin ang="2700000"/>
          </a:gradFill>
        </p:spPr>
        <p:txBody>
          <a:bodyPr vert="horz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1560688" y="1739052"/>
            <a:ext cx="5467759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人工智能领域的投资热潮持续升温，吸引资本流入各类创新项目，推动技术的迅速发展和商业化应用。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561115" y="1400498"/>
            <a:ext cx="546693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+mn-ea"/>
                <a:ea typeface="+mn-ea"/>
              </a:rPr>
              <a:t>投资趋势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560688" y="3323365"/>
            <a:ext cx="5467759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随着各行业数字化转型加速，对人工智能解决方案的需求不断增加，市场规模预计将持续扩大。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561115" y="2984811"/>
            <a:ext cx="546693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+mn-ea"/>
                <a:ea typeface="+mn-ea"/>
              </a:rPr>
              <a:t>市场需求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560688" y="5096176"/>
            <a:ext cx="5467759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在全球范围内，不同国家在人工智能领域的竞争日益激烈，未来将在技术研发、人才培养等方面愈加重要。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561115" y="4757622"/>
            <a:ext cx="546693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+mn-ea"/>
                <a:ea typeface="+mn-ea"/>
              </a:rPr>
              <a:t>国际竞争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>
            <a:off x="8130755" y="2236055"/>
            <a:ext cx="2566021" cy="3879030"/>
          </a:xfrm>
          <a:custGeom>
            <a:avLst/>
            <a:gdLst/>
            <a:ahLst/>
            <a:cxnLst/>
            <a:rect r="r" b="b" t="t" l="l"/>
            <a:pathLst>
              <a:path w="689" h="1041" stroke="true" fill="norm" extrusionOk="true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" id="16"/>
          <p:cNvSpPr/>
          <p:nvPr/>
        </p:nvSpPr>
        <p:spPr>
          <a:xfrm>
            <a:off x="8280746" y="3168314"/>
            <a:ext cx="1218399" cy="1220707"/>
          </a:xfrm>
          <a:custGeom>
            <a:avLst/>
            <a:gdLst/>
            <a:ahLst/>
            <a:cxnLst/>
            <a:rect r="r" b="b" t="t" l="l"/>
            <a:pathLst>
              <a:path w="327" h="328" stroke="true" fill="norm" extrusionOk="true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" id="17"/>
          <p:cNvSpPr/>
          <p:nvPr/>
        </p:nvSpPr>
        <p:spPr>
          <a:xfrm>
            <a:off x="7807694" y="2561421"/>
            <a:ext cx="535357" cy="535357"/>
          </a:xfrm>
          <a:custGeom>
            <a:avLst/>
            <a:gdLst/>
            <a:ahLst/>
            <a:cxnLst/>
            <a:rect r="r" b="b" t="t" l="l"/>
            <a:pathLst>
              <a:path w="144" h="144" stroke="true" fill="norm" extrusionOk="true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8" id="18"/>
          <p:cNvSpPr/>
          <p:nvPr/>
        </p:nvSpPr>
        <p:spPr>
          <a:xfrm>
            <a:off x="10449865" y="3205235"/>
            <a:ext cx="537665" cy="535357"/>
          </a:xfrm>
          <a:custGeom>
            <a:avLst/>
            <a:gdLst/>
            <a:ahLst/>
            <a:cxnLst/>
            <a:rect r="r" b="b" t="t" l="l"/>
            <a:pathLst>
              <a:path w="144" h="144" stroke="true" fill="norm" extrusionOk="true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9" id="19"/>
          <p:cNvSpPr/>
          <p:nvPr/>
        </p:nvSpPr>
        <p:spPr>
          <a:xfrm>
            <a:off x="9063014" y="3454453"/>
            <a:ext cx="539972" cy="537665"/>
          </a:xfrm>
          <a:custGeom>
            <a:avLst/>
            <a:gdLst/>
            <a:ahLst/>
            <a:cxnLst/>
            <a:rect r="r" b="b" t="t" l="l"/>
            <a:pathLst>
              <a:path w="145" h="144" stroke="true" fill="norm" extrusionOk="true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0" id="20"/>
          <p:cNvSpPr/>
          <p:nvPr/>
        </p:nvSpPr>
        <p:spPr>
          <a:xfrm>
            <a:off x="9083781" y="1896840"/>
            <a:ext cx="537665" cy="537665"/>
          </a:xfrm>
          <a:custGeom>
            <a:avLst/>
            <a:gdLst/>
            <a:ahLst/>
            <a:cxnLst/>
            <a:rect r="r" b="b" t="t" l="l"/>
            <a:pathLst>
              <a:path w="144" h="144" stroke="true" fill="norm" extrusionOk="true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1" id="21"/>
          <p:cNvSpPr/>
          <p:nvPr/>
        </p:nvSpPr>
        <p:spPr>
          <a:xfrm>
            <a:off x="10461403" y="1654546"/>
            <a:ext cx="200760" cy="203066"/>
          </a:xfrm>
          <a:custGeom>
            <a:avLst/>
            <a:gdLst/>
            <a:ahLst/>
            <a:cxnLst/>
            <a:rect r="r" b="b" t="t" l="l"/>
            <a:pathLst>
              <a:path w="54" h="54" stroke="true" fill="norm" extrusionOk="true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2" id="22"/>
          <p:cNvSpPr/>
          <p:nvPr/>
        </p:nvSpPr>
        <p:spPr>
          <a:xfrm>
            <a:off x="10666777" y="2030680"/>
            <a:ext cx="55382" cy="57690"/>
          </a:xfrm>
          <a:custGeom>
            <a:avLst/>
            <a:gdLst/>
            <a:ahLst/>
            <a:cxnLst/>
            <a:rect r="r" b="b" t="t" l="l"/>
            <a:pathLst>
              <a:path w="15" h="15" stroke="true" fill="norm" extrusionOk="true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3" id="23"/>
          <p:cNvSpPr/>
          <p:nvPr/>
        </p:nvSpPr>
        <p:spPr>
          <a:xfrm>
            <a:off x="8310770" y="2522192"/>
            <a:ext cx="55382" cy="57690"/>
          </a:xfrm>
          <a:custGeom>
            <a:avLst/>
            <a:gdLst/>
            <a:ahLst/>
            <a:cxnLst/>
            <a:rect r="r" b="b" t="t" l="l"/>
            <a:pathLst>
              <a:path w="15" h="15" stroke="true" fill="norm" extrusionOk="true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4" id="24"/>
          <p:cNvSpPr/>
          <p:nvPr/>
        </p:nvSpPr>
        <p:spPr>
          <a:xfrm>
            <a:off x="8580758" y="2397582"/>
            <a:ext cx="916111" cy="918413"/>
          </a:xfrm>
          <a:custGeom>
            <a:avLst/>
            <a:gdLst/>
            <a:ahLst/>
            <a:cxnLst/>
            <a:rect r="r" b="b" t="t" l="l"/>
            <a:pathLst>
              <a:path w="246" h="247" stroke="true" fill="norm" extrusionOk="true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5" id="25"/>
          <p:cNvSpPr/>
          <p:nvPr/>
        </p:nvSpPr>
        <p:spPr>
          <a:xfrm>
            <a:off x="9563788" y="2956013"/>
            <a:ext cx="768426" cy="766113"/>
          </a:xfrm>
          <a:custGeom>
            <a:avLst/>
            <a:gdLst/>
            <a:ahLst/>
            <a:cxnLst/>
            <a:rect r="r" b="b" t="t" l="l"/>
            <a:pathLst>
              <a:path w="206" h="206" stroke="true" fill="norm" extrusionOk="true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6" id="26"/>
          <p:cNvSpPr/>
          <p:nvPr/>
        </p:nvSpPr>
        <p:spPr>
          <a:xfrm>
            <a:off x="9358384" y="1679929"/>
            <a:ext cx="745346" cy="740732"/>
          </a:xfrm>
          <a:custGeom>
            <a:avLst/>
            <a:gdLst/>
            <a:ahLst/>
            <a:cxnLst/>
            <a:rect r="r" b="b" t="t" l="l"/>
            <a:pathLst>
              <a:path w="200" h="199" stroke="true" fill="norm" extrusionOk="true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7" id="27"/>
          <p:cNvSpPr/>
          <p:nvPr/>
        </p:nvSpPr>
        <p:spPr>
          <a:xfrm>
            <a:off x="10292950" y="2148367"/>
            <a:ext cx="256141" cy="258448"/>
          </a:xfrm>
          <a:custGeom>
            <a:avLst/>
            <a:gdLst/>
            <a:ahLst/>
            <a:cxnLst/>
            <a:rect r="r" b="b" t="t" l="l"/>
            <a:pathLst>
              <a:path w="69" h="69" stroke="true" fill="norm" extrusionOk="true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8" id="28"/>
          <p:cNvSpPr/>
          <p:nvPr/>
        </p:nvSpPr>
        <p:spPr>
          <a:xfrm>
            <a:off x="8013068" y="1855304"/>
            <a:ext cx="235373" cy="237681"/>
          </a:xfrm>
          <a:custGeom>
            <a:avLst/>
            <a:gdLst/>
            <a:ahLst/>
            <a:cxnLst/>
            <a:rect r="r" b="b" t="t" l="l"/>
            <a:pathLst>
              <a:path w="63" h="64" stroke="true" fill="norm" extrusionOk="true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9" id="29"/>
          <p:cNvSpPr/>
          <p:nvPr/>
        </p:nvSpPr>
        <p:spPr>
          <a:xfrm>
            <a:off x="9891432" y="1324563"/>
            <a:ext cx="237681" cy="239987"/>
          </a:xfrm>
          <a:custGeom>
            <a:avLst/>
            <a:gdLst/>
            <a:ahLst/>
            <a:cxnLst/>
            <a:rect r="r" b="b" t="t" l="l"/>
            <a:pathLst>
              <a:path w="64" h="64" stroke="true" fill="norm" extrusionOk="true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0" id="30"/>
          <p:cNvSpPr/>
          <p:nvPr/>
        </p:nvSpPr>
        <p:spPr>
          <a:xfrm>
            <a:off x="10196032" y="2319127"/>
            <a:ext cx="55382" cy="57690"/>
          </a:xfrm>
          <a:custGeom>
            <a:avLst/>
            <a:gdLst/>
            <a:ahLst/>
            <a:cxnLst/>
            <a:rect r="r" b="b" t="t" l="l"/>
            <a:pathLst>
              <a:path w="15" h="15" stroke="true" fill="norm" extrusionOk="true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1" id="31"/>
          <p:cNvSpPr/>
          <p:nvPr/>
        </p:nvSpPr>
        <p:spPr>
          <a:xfrm>
            <a:off x="10682930" y="3050627"/>
            <a:ext cx="55382" cy="55382"/>
          </a:xfrm>
          <a:custGeom>
            <a:avLst/>
            <a:gdLst/>
            <a:ahLst/>
            <a:cxnLst/>
            <a:rect r="r" b="b" t="t" l="l"/>
            <a:pathLst>
              <a:path w="15" h="15" stroke="true" fill="norm" extrusionOk="true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2" id="32"/>
          <p:cNvSpPr/>
          <p:nvPr/>
        </p:nvSpPr>
        <p:spPr>
          <a:xfrm>
            <a:off x="8889946" y="2074525"/>
            <a:ext cx="55382" cy="55382"/>
          </a:xfrm>
          <a:custGeom>
            <a:avLst/>
            <a:gdLst/>
            <a:ahLst/>
            <a:cxnLst/>
            <a:rect r="r" b="b" t="t" l="l"/>
            <a:pathLst>
              <a:path w="15" h="15" stroke="true" fill="norm" extrusionOk="true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3" id="33"/>
          <p:cNvSpPr/>
          <p:nvPr/>
        </p:nvSpPr>
        <p:spPr>
          <a:xfrm>
            <a:off x="8553040" y="1269181"/>
            <a:ext cx="57690" cy="55382"/>
          </a:xfrm>
          <a:custGeom>
            <a:avLst/>
            <a:gdLst/>
            <a:ahLst/>
            <a:cxnLst/>
            <a:rect r="r" b="b" t="t" l="l"/>
            <a:pathLst>
              <a:path w="15" h="15" stroke="true" fill="norm" extrusionOk="true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4" id="34"/>
          <p:cNvSpPr/>
          <p:nvPr/>
        </p:nvSpPr>
        <p:spPr>
          <a:xfrm>
            <a:off x="8349973" y="3057551"/>
            <a:ext cx="55382" cy="55382"/>
          </a:xfrm>
          <a:custGeom>
            <a:avLst/>
            <a:gdLst/>
            <a:ahLst/>
            <a:cxnLst/>
            <a:rect r="r" b="b" t="t" l="l"/>
            <a:pathLst>
              <a:path w="15" h="15" stroke="true" fill="norm" extrusionOk="true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5" id="35"/>
          <p:cNvSpPr/>
          <p:nvPr/>
        </p:nvSpPr>
        <p:spPr>
          <a:xfrm>
            <a:off x="8442277" y="2233747"/>
            <a:ext cx="341521" cy="346136"/>
          </a:xfrm>
          <a:custGeom>
            <a:avLst/>
            <a:gdLst/>
            <a:ahLst/>
            <a:cxnLst/>
            <a:rect r="r" b="b" t="t" l="l"/>
            <a:pathLst>
              <a:path w="92" h="93" stroke="true" fill="norm" extrusionOk="true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6" id="36"/>
          <p:cNvSpPr/>
          <p:nvPr/>
        </p:nvSpPr>
        <p:spPr>
          <a:xfrm>
            <a:off x="10373715" y="2651418"/>
            <a:ext cx="346136" cy="346136"/>
          </a:xfrm>
          <a:custGeom>
            <a:avLst/>
            <a:gdLst/>
            <a:ahLst/>
            <a:cxnLst/>
            <a:rect r="r" b="b" t="t" l="l"/>
            <a:pathLst>
              <a:path w="93" h="93" stroke="true" fill="norm" extrusionOk="true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7" id="37"/>
          <p:cNvSpPr/>
          <p:nvPr/>
        </p:nvSpPr>
        <p:spPr>
          <a:xfrm>
            <a:off x="8659188" y="1103036"/>
            <a:ext cx="978411" cy="978410"/>
          </a:xfrm>
          <a:prstGeom prst="ellipse">
            <a:avLst/>
          </a:prstGeom>
          <a:solidFill>
            <a:schemeClr val="accent1"/>
          </a:solidFill>
          <a:ln cap="flat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cxnSp>
        <p:nvCxnSpPr>
          <p:cNvPr name="Connector 38" id="38"/>
          <p:cNvCxnSpPr/>
          <p:nvPr/>
        </p:nvCxnSpPr>
        <p:spPr>
          <a:xfrm>
            <a:off x="8473119" y="3652812"/>
            <a:ext cx="1142924" cy="414214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39" id="39"/>
          <p:cNvCxnSpPr/>
          <p:nvPr/>
        </p:nvCxnSpPr>
        <p:spPr>
          <a:xfrm flipV="true">
            <a:off x="9631384" y="3783213"/>
            <a:ext cx="1020194" cy="276143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sp>
        <p:nvSpPr>
          <p:cNvPr name="Freeform 40" id="40"/>
          <p:cNvSpPr/>
          <p:nvPr/>
        </p:nvSpPr>
        <p:spPr>
          <a:xfrm>
            <a:off x="8793262" y="3162547"/>
            <a:ext cx="1169940" cy="1169941"/>
          </a:xfrm>
          <a:custGeom>
            <a:avLst/>
            <a:gdLst/>
            <a:ahLst/>
            <a:cxnLst/>
            <a:rect r="r" b="b" t="t" l="l"/>
            <a:pathLst>
              <a:path w="314" h="314" stroke="true" fill="norm" extrusionOk="true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1" id="41"/>
          <p:cNvSpPr/>
          <p:nvPr/>
        </p:nvSpPr>
        <p:spPr>
          <a:xfrm>
            <a:off x="8442276" y="2300668"/>
            <a:ext cx="953029" cy="948413"/>
          </a:xfrm>
          <a:custGeom>
            <a:avLst/>
            <a:gdLst/>
            <a:ahLst/>
            <a:cxnLst/>
            <a:rect r="r" b="b" t="t" l="l"/>
            <a:pathLst>
              <a:path w="256" h="255" stroke="true" fill="norm" extrusionOk="true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2" id="42"/>
          <p:cNvSpPr/>
          <p:nvPr/>
        </p:nvSpPr>
        <p:spPr>
          <a:xfrm>
            <a:off x="8322282" y="1730696"/>
            <a:ext cx="1169940" cy="1169941"/>
          </a:xfrm>
          <a:custGeom>
            <a:avLst/>
            <a:gdLst/>
            <a:ahLst/>
            <a:cxnLst/>
            <a:rect r="r" b="b" t="t" l="l"/>
            <a:pathLst>
              <a:path w="314" h="314" stroke="true" fill="norm" extrusionOk="true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FF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3" id="43"/>
          <p:cNvSpPr/>
          <p:nvPr/>
        </p:nvSpPr>
        <p:spPr>
          <a:xfrm>
            <a:off x="9759900" y="2512964"/>
            <a:ext cx="856111" cy="856111"/>
          </a:xfrm>
          <a:custGeom>
            <a:avLst/>
            <a:gdLst/>
            <a:ahLst/>
            <a:cxnLst/>
            <a:rect r="r" b="b" t="t" l="l"/>
            <a:pathLst>
              <a:path w="230" h="230" stroke="true" fill="norm" extrusionOk="true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4" id="44"/>
          <p:cNvSpPr/>
          <p:nvPr/>
        </p:nvSpPr>
        <p:spPr>
          <a:xfrm>
            <a:off x="9016863" y="2053756"/>
            <a:ext cx="1220707" cy="1220707"/>
          </a:xfrm>
          <a:custGeom>
            <a:avLst/>
            <a:gdLst/>
            <a:ahLst/>
            <a:cxnLst/>
            <a:rect r="r" b="b" t="t" l="l"/>
            <a:pathLst>
              <a:path w="328" h="328" stroke="true" fill="norm" extrusionOk="true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5" id="45"/>
          <p:cNvSpPr/>
          <p:nvPr/>
        </p:nvSpPr>
        <p:spPr>
          <a:xfrm>
            <a:off x="10274489" y="3426762"/>
            <a:ext cx="722271" cy="717656"/>
          </a:xfrm>
          <a:custGeom>
            <a:avLst/>
            <a:gdLst/>
            <a:ahLst/>
            <a:cxnLst/>
            <a:rect r="r" b="b" t="t" l="l"/>
            <a:pathLst>
              <a:path w="194" h="193" stroke="true" fill="norm" extrusionOk="true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6" id="46"/>
          <p:cNvSpPr/>
          <p:nvPr/>
        </p:nvSpPr>
        <p:spPr>
          <a:xfrm>
            <a:off x="8059220" y="3207543"/>
            <a:ext cx="869955" cy="869956"/>
          </a:xfrm>
          <a:custGeom>
            <a:avLst/>
            <a:gdLst/>
            <a:ahLst/>
            <a:cxnLst/>
            <a:rect r="r" b="b" t="t" l="l"/>
            <a:pathLst>
              <a:path w="234" h="234" stroke="true" fill="norm" extrusionOk="true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wrap="none" tIns="0" lIns="0" bIns="0" rIns="0">
            <a:normAutofit/>
          </a:bodyPr>
          <a:p>
            <a:pPr algn="ctr" marL="0"/>
          </a:p>
        </p:txBody>
      </p:sp>
      <p:sp>
        <p:nvSpPr>
          <p:cNvPr name="AutoShape 47" id="47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市场前景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sz="quarter" idx="13"/>
          </p:nvPr>
        </p:nvSpPr>
        <p:spPr>
          <a:xfrm>
            <a:off x="1106327" y="1895261"/>
            <a:ext cx="10858500" cy="2319337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1180395" y="4753553"/>
            <a:ext cx="424979" cy="424979"/>
            <a:chOff x="3548132" y="5554707"/>
            <a:chExt cx="255557" cy="255557"/>
          </a:xfrm>
        </p:grpSpPr>
        <p:sp>
          <p:nvSpPr>
            <p:cNvPr name="AutoShape 4" id="4"/>
            <p:cNvSpPr/>
            <p:nvPr/>
          </p:nvSpPr>
          <p:spPr>
            <a:xfrm flipV="true">
              <a:off x="3548132" y="5554707"/>
              <a:ext cx="255557" cy="255557"/>
            </a:xfrm>
            <a:prstGeom prst="ellipse">
              <a:avLst/>
            </a:prstGeom>
            <a:noFill/>
            <a:ln w="6350" cap="rnd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normAutofit/>
            </a:bodyPr>
            <a:p>
              <a:pPr algn="ctr" marL="0">
                <a:lnSpc>
                  <a:spcPct val="96000"/>
                </a:lnSpc>
              </a:pPr>
              <a:r>
                <a:rPr lang="en-US" b="true" i="false" sz="1250" baseline="0" u="none">
                  <a:solidFill>
                    <a:schemeClr val="lt1"/>
                  </a:solidFill>
                  <a:latin typeface="微软雅黑"/>
                  <a:ea typeface="微软雅黑"/>
                </a:rPr>
                <a:t>0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V="true">
              <a:off x="3652018" y="5638500"/>
              <a:ext cx="77807" cy="87971"/>
            </a:xfrm>
            <a:custGeom>
              <a:avLst/>
              <a:gdLst/>
              <a:ahLst/>
              <a:cxnLst/>
              <a:rect r="r" b="b" t="t" l="l"/>
              <a:pathLst>
                <a:path w="1635382" h="1849045" stroke="true" fill="norm" extrusionOk="true">
                  <a:moveTo>
                    <a:pt x="1496663" y="679532"/>
                  </a:moveTo>
                  <a:lnTo>
                    <a:pt x="432721" y="41167"/>
                  </a:lnTo>
                  <a:cubicBezTo>
                    <a:pt x="242316" y="-73133"/>
                    <a:pt x="0" y="64122"/>
                    <a:pt x="0" y="286245"/>
                  </a:cubicBezTo>
                  <a:lnTo>
                    <a:pt x="0" y="1562881"/>
                  </a:lnTo>
                  <a:cubicBezTo>
                    <a:pt x="0" y="1785004"/>
                    <a:pt x="242316" y="1922164"/>
                    <a:pt x="432721" y="1807864"/>
                  </a:cubicBezTo>
                  <a:lnTo>
                    <a:pt x="1496568" y="1169594"/>
                  </a:lnTo>
                  <a:cubicBezTo>
                    <a:pt x="1681639" y="1058532"/>
                    <a:pt x="1681639" y="790499"/>
                    <a:pt x="1496663" y="679532"/>
                  </a:cubicBez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6" id="6"/>
          <p:cNvSpPr txBox="true"/>
          <p:nvPr/>
        </p:nvSpPr>
        <p:spPr>
          <a:xfrm>
            <a:off x="1778131" y="4826634"/>
            <a:ext cx="3651251" cy="351898"/>
          </a:xfrm>
          <a:prstGeom prst="rect">
            <a:avLst/>
          </a:prstGeom>
        </p:spPr>
        <p:txBody>
          <a:bodyPr anchor="t" rtlCol="false" vert="horz" tIns="45720" lIns="91440" bIns="45720" rIns="91440">
            <a:normAutofit/>
          </a:bodyPr>
          <a:lstStyle/>
          <a:p>
            <a:pPr algn="l" indent="0" marL="0"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b="fals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2D5EE"/>
      </a:accent1>
      <a:accent2>
        <a:srgbClr val="82D5EE"/>
      </a:accent2>
      <a:accent3>
        <a:srgbClr val="82D5EE"/>
      </a:accent3>
      <a:accent4>
        <a:srgbClr val="82D5EE"/>
      </a:accent4>
      <a:accent5>
        <a:srgbClr val="82D5EE"/>
      </a:accent5>
      <a:accent6>
        <a:srgbClr val="82D5EE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2025-07-13T11:31:05Z</dcterms:created>
  <cp:lastModifiedBy>user</cp:lastModifiedBy>
  <dcterms:modified xsi:type="dcterms:W3CDTF">2025-07-13T11:31:05Z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</Properties>
</file>