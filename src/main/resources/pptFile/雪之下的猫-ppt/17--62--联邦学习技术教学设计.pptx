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omments/modernComment_100_0.xml" ContentType="application/vnd.ms-powerpoint.comments+xml"/>
  <Override PartName="/ppt/comments/modernComment_101_0.xml" ContentType="application/vnd.ms-powerpoint.comments+xml"/>
  <Override PartName="/ppt/comments/modernComment_102_0.xml" ContentType="application/vnd.ms-powerpoint.comments+xml"/>
  <Override PartName="/ppt/comments/modernComment_103_0.xml" ContentType="application/vnd.ms-powerpoint.comments+xml"/>
  <Override PartName="/ppt/comments/modernComment_104_0.xml" ContentType="application/vnd.ms-powerpoint.comments+xml"/>
  <Override PartName="/ppt/comments/modernComment_105_0.xml" ContentType="application/vnd.ms-powerpoint.comments+xml"/>
  <Override PartName="/ppt/comments/modernComment_106_0.xml" ContentType="application/vnd.ms-powerpoint.comments+xml"/>
  <Override PartName="/ppt/comments/modernComment_107_0.xml" ContentType="application/vnd.ms-powerpoint.comments+xml"/>
  <Override PartName="/ppt/comments/modernComment_108_0.xml" ContentType="application/vnd.ms-powerpoint.comments+xml"/>
  <Override PartName="/ppt/comments/modernComment_109_0.xml" ContentType="application/vnd.ms-powerpoint.comments+xml"/>
  <Override PartName="/ppt/comments/modernComment_10A_0.xml" ContentType="application/vnd.ms-powerpoint.comments+xml"/>
  <Override PartName="/ppt/comments/modernComment_10B_0.xml" ContentType="application/vnd.ms-powerpoint.comments+xml"/>
  <Override PartName="/ppt/comments/modernComment_10C_0.xml" ContentType="application/vnd.ms-powerpoint.comments+xml"/>
  <Override PartName="/ppt/comments/modernComment_10D_0.xml" ContentType="application/vnd.ms-powerpoint.comments+xml"/>
  <Override PartName="/ppt/comments/modernComment_10E_0.xml" ContentType="application/vnd.ms-powerpoint.comments+xml"/>
  <Override PartName="/ppt/comments/modernComment_10F_0.xml" ContentType="application/vnd.ms-powerpoint.comments+xml"/>
  <Override PartName="/ppt/comments/modernComment_110_0.xml" ContentType="application/vnd.ms-powerpoint.comments+xml"/>
  <Override PartName="/ppt/comments/modernComment_111_0.xml" ContentType="application/vnd.ms-powerpoint.comments+xml"/>
  <Override PartName="/ppt/comments/modernComment_112_0.xml" ContentType="application/vnd.ms-powerpoint.comments+xml"/>
  <Override PartName="/ppt/comments/modernComment_113_0.xml" ContentType="application/vnd.ms-powerpoint.comments+xml"/>
  <Override PartName="/ppt/comments/modernComment_117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EDB4E6F-FBD6-FF5D-3947-84D9301DD603}" name="充 刘" initials="充刘" userId="807eb20ee4d2c00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96" d="100"/>
          <a:sy n="96" d="100"/>
        </p:scale>
        <p:origin x="102" y="2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8/10/relationships/authors" Target="author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2B11DF51-4E77-46D2-92B2-1726952B11A7}" authorId="{4EDB4E6F-FBD6-FF5D-3947-84D9301DD603}" created="2025-07-23T02:27:18.688">
    <pc:sldMkLst xmlns:pc="http://schemas.microsoft.com/office/powerpoint/2013/main/command">
      <pc:docMk/>
      <pc:sldMk cId="0" sldId="266"/>
    </pc:sldMkLst>
    <p188:txBody>
      <a:bodyPr/>
      <a:lstStyle/>
      <a:p>
        <a:r>
          <a:rPr lang="zh-CN" altLang="en-US"/>
          <a:t>联邦学习在金融行业，于风险管理助机构共享模型、优化评估，用户行为分析侧护隐私推个性化服务，赋能金融创新 。</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67998262-7108-4700-A5C3-65BAE666D9DF}" authorId="{4EDB4E6F-FBD6-FF5D-3947-84D9301DD603}" created="2025-07-23T02:27:46.775">
    <pc:sldMkLst xmlns:pc="http://schemas.microsoft.com/office/powerpoint/2013/main/command">
      <pc:docMk/>
      <pc:sldMk cId="0" sldId="267"/>
    </pc:sldMkLst>
    <p188:txBody>
      <a:bodyPr/>
      <a:lstStyle/>
      <a:p>
        <a:r>
          <a:rPr lang="zh-CN" altLang="en-US"/>
          <a:t>联邦学习赋能智能设备，手机端学习惯、优推荐与防护，家居端借其适配偏好，均守护数据隐私，推动设备智能升级 。</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103887F1-8223-409B-BBCE-A4F30CC6783C}" authorId="{4EDB4E6F-FBD6-FF5D-3947-84D9301DD603}" created="2025-07-23T02:28:06.711">
    <pc:sldMkLst xmlns:pc="http://schemas.microsoft.com/office/powerpoint/2013/main/command">
      <pc:docMk/>
      <pc:sldMk cId="0" sldId="268"/>
    </pc:sldMkLst>
    <p188:txBody>
      <a:bodyPr/>
      <a:lstStyle/>
      <a:p>
        <a:r>
          <a:rPr lang="zh-CN" altLang="en-US"/>
          <a:t>联邦学习虽有价值，也面临挑战。比如数据异构、通信效率、安全隐私等问题，需突破技术瓶颈，推动其更成熟落地 。</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CB27D2F5-0D01-4B3E-A8BB-08FB70DCA259}" authorId="{4EDB4E6F-FBD6-FF5D-3947-84D9301DD603}" created="2025-07-23T02:28:26.322">
    <pc:sldMkLst xmlns:pc="http://schemas.microsoft.com/office/powerpoint/2013/main/command">
      <pc:docMk/>
      <pc:sldMk cId="0" sldId="269"/>
    </pc:sldMkLst>
    <p188:txBody>
      <a:bodyPr/>
      <a:lstStyle/>
      <a:p>
        <a:r>
          <a:rPr lang="zh-CN" altLang="en-US"/>
          <a:t>联邦学习面临数据异质性挑战，因客户端数据分布不均影响模型效果。可借自适应算法等，优化处理，提升模型质量 。</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0FD72DBD-1D33-499D-BD3D-4AABB316E88F}" authorId="{4EDB4E6F-FBD6-FF5D-3947-84D9301DD603}" created="2025-07-23T02:28:51.792">
    <pc:sldMkLst xmlns:pc="http://schemas.microsoft.com/office/powerpoint/2013/main/command">
      <pc:docMk/>
      <pc:sldMk cId="0" sldId="270"/>
    </pc:sldMkLst>
    <p188:txBody>
      <a:bodyPr/>
      <a:lstStyle/>
      <a:p>
        <a:r>
          <a:rPr lang="zh-CN" altLang="en-US"/>
          <a:t>联邦学习隐私安全，靠同态加密等护传输隐私，借防护机制防攻击，识别过滤异常，保障模型稳定可靠 。</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D36C2F6F-8EE7-4319-B8E6-4A43F639D80F}" authorId="{4EDB4E6F-FBD6-FF5D-3947-84D9301DD603}" created="2025-07-23T02:29:12.366">
    <pc:sldMkLst xmlns:pc="http://schemas.microsoft.com/office/powerpoint/2013/main/command">
      <pc:docMk/>
      <pc:sldMk cId="0" sldId="271"/>
    </pc:sldMkLst>
    <p188:txBody>
      <a:bodyPr/>
      <a:lstStyle/>
      <a:p>
        <a:r>
          <a:rPr lang="zh-CN" altLang="en-US"/>
          <a:t>联邦学习通信效率存挑战，频繁传输易压带宽。优化协议、减频率，或调更新周期，平衡成本与训练时效 。</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003E4A75-AF30-4ED4-945F-26D56A0B61C5}" authorId="{4EDB4E6F-FBD6-FF5D-3947-84D9301DD603}" created="2025-07-23T02:22:18.117">
    <pc:sldMkLst xmlns:pc="http://schemas.microsoft.com/office/powerpoint/2013/main/command">
      <pc:docMk/>
      <pc:sldMk cId="0" sldId="256"/>
    </pc:sldMkLst>
    <p188:txBody>
      <a:bodyPr/>
      <a:lstStyle/>
      <a:p>
        <a:r>
          <a:rPr lang="zh-CN" altLang="en-US"/>
          <a:t>今天咱们聚焦联邦学习技术 ，它能在数据不出本地时协同建模。借这奇妙 “实验” 场景，一起探索如何打破数据孤岛，守护隐私又挖掘价值，开启智能新可能 。</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46C8F6B6-AA35-4DD3-9890-E87B544CD765}" authorId="{4EDB4E6F-FBD6-FF5D-3947-84D9301DD603}" created="2025-07-23T02:23:38.982">
    <pc:sldMkLst xmlns:pc="http://schemas.microsoft.com/office/powerpoint/2013/main/command">
      <pc:docMk/>
      <pc:sldMk cId="0" sldId="257"/>
    </pc:sldMkLst>
    <p188:txBody>
      <a:bodyPr/>
      <a:lstStyle/>
      <a:p>
        <a:r>
          <a:rPr lang="zh-CN" altLang="en-US"/>
          <a:t>本次课程围绕联邦学习展开，先了解其概述，剖析工作原理，再看应用场景、挑战问题，展望未来趋势，最后总结，一起深入探索这项技术 。</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63578873-C4D6-4B06-BDAA-216E98471354}" authorId="{4EDB4E6F-FBD6-FF5D-3947-84D9301DD603}" created="2025-07-23T02:24:06.507">
    <pc:sldMkLst xmlns:pc="http://schemas.microsoft.com/office/powerpoint/2013/main/command">
      <pc:docMk/>
      <pc:sldMk cId="0" sldId="258"/>
    </pc:sldMkLst>
    <p188:txBody>
      <a:bodyPr/>
      <a:lstStyle/>
      <a:p>
        <a:r>
          <a:rPr lang="zh-CN" altLang="en-US"/>
          <a:t>联邦学习，作为隐私计算关键技术，打破数据孤岛，让多方数据 “协同学习”。接下来，我们从基础讲起，看它如何在保护数据隐私时，实现模型共建 。</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3197830B-8F7A-4E40-93B6-74FCAA1A774E}" authorId="{4EDB4E6F-FBD6-FF5D-3947-84D9301DD603}" created="2025-07-23T02:24:31.793">
    <pc:sldMkLst xmlns:pc="http://schemas.microsoft.com/office/powerpoint/2013/main/command">
      <pc:docMk/>
      <pc:sldMk cId="0" sldId="259"/>
    </pc:sldMkLst>
    <p188:txBody>
      <a:bodyPr/>
      <a:lstStyle/>
      <a:p>
        <a:r>
          <a:rPr lang="zh-CN" altLang="en-US"/>
          <a:t>现在聚焦 “什么是联邦学习” 。它是新兴机器学习法，2016 年提出，从移动推荐拓展多领域，对比传统学习，有隐私保护、降本等优势，助力数据安全利用。</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8543AD03-B49D-48C6-986E-C8C65D357FA6}" authorId="{4EDB4E6F-FBD6-FF5D-3947-84D9301DD603}" created="2025-07-23T02:24:56.978">
    <pc:sldMkLst xmlns:pc="http://schemas.microsoft.com/office/powerpoint/2013/main/command">
      <pc:docMk/>
      <pc:sldMk cId="0" sldId="260"/>
    </pc:sldMkLst>
    <p188:txBody>
      <a:bodyPr/>
      <a:lstStyle/>
      <a:p>
        <a:r>
          <a:rPr lang="zh-CN" altLang="en-US"/>
          <a:t>联邦学习的主要特点，一是本地更新模型保隐私，二是分散训练提资源利用率，三是聚合参数实现模型共享，助力多方协同又护数据安全 。</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26C2A800-8D7C-4924-AD3A-F072C82EAE59}" authorId="{4EDB4E6F-FBD6-FF5D-3947-84D9301DD603}" created="2025-07-23T02:25:24.915">
    <pc:sldMkLst xmlns:pc="http://schemas.microsoft.com/office/powerpoint/2013/main/command">
      <pc:docMk/>
      <pc:sldMk cId="0" sldId="261"/>
    </pc:sldMkLst>
    <p188:txBody>
      <a:bodyPr/>
      <a:lstStyle/>
      <a:p>
        <a:r>
          <a:rPr lang="zh-CN" altLang="en-US"/>
          <a:t>接下来探究联邦学习工作原理。它像一场 “协同实验”，多数据源本地训练，交互参数，在保护隐私中让模型 “成长”，揭开技术运转面纱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0B11A078-45A5-4FD1-B9D8-C94DF3852C15}" authorId="{4EDB4E6F-FBD6-FF5D-3947-84D9301DD603}" created="2025-07-23T02:25:48.463">
    <pc:sldMkLst xmlns:pc="http://schemas.microsoft.com/office/powerpoint/2013/main/command">
      <pc:docMk/>
      <pc:sldMk cId="0" sldId="262"/>
    </pc:sldMkLst>
    <p188:txBody>
      <a:bodyPr/>
      <a:lstStyle/>
      <a:p>
        <a:r>
          <a:rPr lang="zh-CN" altLang="en-US"/>
          <a:t>联邦学习基本流程分三步：数据分布本地留存，本地训练仅更新参数，模型聚合靠服务器加权平均，保障隐私又协同建模 。</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4A0D22B9-AF57-49F8-86F5-FCB801BE0A9A}" authorId="{4EDB4E6F-FBD6-FF5D-3947-84D9301DD603}" created="2025-07-23T02:26:09.775">
    <pc:sldMkLst xmlns:pc="http://schemas.microsoft.com/office/powerpoint/2013/main/command">
      <pc:docMk/>
      <pc:sldMk cId="0" sldId="263"/>
    </pc:sldMkLst>
    <p188:txBody>
      <a:bodyPr/>
      <a:lstStyle/>
      <a:p>
        <a:r>
          <a:rPr lang="zh-CN" altLang="en-US"/>
          <a:t>联邦学习系统架构包含中心服务器、客户端角色、通信机制。服务器协调聚合，客户端本地训练，借安全协议通信，共同支撑技术运行 。</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9F64B297-07C3-4924-93F0-928386D0BAB5}" authorId="{4EDB4E6F-FBD6-FF5D-3947-84D9301DD603}" created="2025-07-23T02:26:34.618">
    <pc:sldMkLst xmlns:pc="http://schemas.microsoft.com/office/powerpoint/2013/main/command">
      <pc:docMk/>
      <pc:sldMk cId="0" sldId="264"/>
    </pc:sldMkLst>
    <p188:txBody>
      <a:bodyPr/>
      <a:lstStyle/>
      <a:p>
        <a:r>
          <a:rPr lang="zh-CN" altLang="en-US"/>
          <a:t>现在看联邦学习应用场景。它在医疗、金融等领域大展身手，借隐私保护优势，打破数据壁垒，让多方协作建模成为现实，挖掘数据价值 。</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8648D51A-C0FA-4D2D-88D5-EDC96E15E0EB}" authorId="{4EDB4E6F-FBD6-FF5D-3947-84D9301DD603}" created="2025-07-23T02:26:57.692">
    <pc:sldMkLst xmlns:pc="http://schemas.microsoft.com/office/powerpoint/2013/main/command">
      <pc:docMk/>
      <pc:sldMk cId="0" sldId="265"/>
    </pc:sldMkLst>
    <p188:txBody>
      <a:bodyPr/>
      <a:lstStyle/>
      <a:p>
        <a:r>
          <a:rPr lang="zh-CN" altLang="en-US"/>
          <a:t>联邦学习在医疗健康数据场景，护隐私同时，助力多机构合作，像医院借其训疾病预测模型，整合数据、提诊断精度 。</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0137196D-89D4-48D3-AC8D-F9F4DFAA5169}" authorId="{4EDB4E6F-FBD6-FF5D-3947-84D9301DD603}" created="2025-07-23T02:29:32.202">
    <pc:sldMkLst xmlns:pc="http://schemas.microsoft.com/office/powerpoint/2013/main/command">
      <pc:docMk/>
      <pc:sldMk cId="0" sldId="272"/>
    </pc:sldMkLst>
    <p188:txBody>
      <a:bodyPr/>
      <a:lstStyle/>
      <a:p>
        <a:r>
          <a:rPr lang="zh-CN" altLang="en-US"/>
          <a:t>联邦学习未来趋势值得关注，它将在技术融合、场景拓展等方向突破，借创新解决现存问题，持续释放数据价值，赋能更多领域 。</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AB7BAB08-9599-4325-A14F-9918F0CA30D9}" authorId="{4EDB4E6F-FBD6-FF5D-3947-84D9301DD603}" created="2025-07-23T02:29:53.477">
    <pc:sldMkLst xmlns:pc="http://schemas.microsoft.com/office/powerpoint/2013/main/command">
      <pc:docMk/>
      <pc:sldMk cId="0" sldId="273"/>
    </pc:sldMkLst>
    <p188:txBody>
      <a:bodyPr/>
      <a:lstStyle/>
      <a:p>
        <a:r>
          <a:rPr lang="zh-CN" altLang="en-US"/>
          <a:t>联邦学习技术发展，新算法如联邦元学习等提升模型性能，还向跨域拓展，融合多领域数据，拓宽应用场景、增强适应性 。</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27EF1AD9-BAD9-47A9-A1C2-D0349A9B700A}" authorId="{4EDB4E6F-FBD6-FF5D-3947-84D9301DD603}" created="2025-07-23T02:30:18.709">
    <pc:sldMkLst xmlns:pc="http://schemas.microsoft.com/office/powerpoint/2013/main/command">
      <pc:docMk/>
      <pc:sldMk cId="0" sldId="274"/>
    </pc:sldMkLst>
    <p188:txBody>
      <a:bodyPr/>
      <a:lstStyle/>
      <a:p>
        <a:r>
          <a:rPr lang="zh-CN" altLang="en-US"/>
          <a:t>联邦学习发展受政策法规约束，数据隐私政策趋严，企业需建责任框架，合规运用促生态健康发展 。</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7C07F6F0-2D02-45D3-9728-B93D4391AECB}" authorId="{4EDB4E6F-FBD6-FF5D-3947-84D9301DD603}" created="2025-07-23T02:30:37.977">
    <pc:sldMkLst xmlns:pc="http://schemas.microsoft.com/office/powerpoint/2013/main/command">
      <pc:docMk/>
      <pc:sldMk cId="0" sldId="275"/>
    </pc:sldMkLst>
    <p188:txBody>
      <a:bodyPr/>
      <a:lstStyle/>
      <a:p>
        <a:r>
          <a:rPr lang="zh-CN" altLang="en-US"/>
          <a:t>联邦学习生态构建，一方面靠合作平台与联盟促协同共享，另一方面借开源工具降门槛，加速技术普及落地 。</a:t>
        </a:r>
      </a:p>
    </p188:txBody>
  </p188:cm>
</p188:cmLst>
</file>

<file path=ppt/comments/modernComment_117_0.xml><?xml version="1.0" encoding="utf-8"?>
<p188:cmLst xmlns:a="http://schemas.openxmlformats.org/drawingml/2006/main" xmlns:r="http://schemas.openxmlformats.org/officeDocument/2006/relationships" xmlns:p188="http://schemas.microsoft.com/office/powerpoint/2018/8/main">
  <p188:cm id="{AF81A2AF-DA29-4516-99C9-441FF30EB5D9}" authorId="{4EDB4E6F-FBD6-FF5D-3947-84D9301DD603}" created="2025-07-23T02:31:02.044">
    <pc:sldMkLst xmlns:pc="http://schemas.microsoft.com/office/powerpoint/2013/main/command">
      <pc:docMk/>
      <pc:sldMk cId="0" sldId="279"/>
    </pc:sldMkLst>
    <p188:txBody>
      <a:bodyPr/>
      <a:lstStyle/>
      <a:p>
        <a:r>
          <a:rPr lang="zh-CN" altLang="en-US"/>
          <a:t>本次联邦学习技术分享结束，从概述到趋势，希望能让大家对其有清晰认知。感谢聆听，期待同学们多多交流学习，助力技术实践落地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dt" sz="half" idx="10"/>
          </p:nvPr>
        </p:nvSpPr>
        <p:spPr>
          <a:xfrm>
            <a:off x="4718050" y="6409690"/>
            <a:ext cx="2743200" cy="274320"/>
          </a:xfrm>
          <a:prstGeom prst="rect">
            <a:avLst/>
          </a:prstGeom>
        </p:spPr>
        <p:txBody>
          <a:bodyPr vert="horz" lIns="91440" tIns="45720" rIns="91440" bIns="45720" anchor="t">
            <a:normAutofit/>
          </a:bodyPr>
          <a:lstStyle/>
          <a:p>
            <a:pPr marL="0" algn="l"/>
            <a:r>
              <a:rPr lang="zh-CN" altLang="en-US" sz="1800" b="0" i="0" u="none" baseline="0">
                <a:solidFill>
                  <a:srgbClr val="000000"/>
                </a:solidFill>
                <a:latin typeface="Arial"/>
                <a:ea typeface="Arial"/>
              </a:rPr>
              <a:t>2024/7/24</a:t>
            </a:r>
          </a:p>
        </p:txBody>
      </p:sp>
      <p:sp>
        <p:nvSpPr>
          <p:cNvPr id="3" name="AutoShape 3"/>
          <p:cNvSpPr>
            <a:spLocks noGrp="1"/>
          </p:cNvSpPr>
          <p:nvPr>
            <p:ph type="sldNum" sz="quarter" idx="12"/>
          </p:nvPr>
        </p:nvSpPr>
        <p:spPr>
          <a:xfrm>
            <a:off x="7861300" y="6409690"/>
            <a:ext cx="3657600" cy="274320"/>
          </a:xfrm>
          <a:prstGeom prst="rect">
            <a:avLst/>
          </a:prstGeom>
        </p:spPr>
        <p:txBody>
          <a:bodyPr vert="horz" lIns="91440" tIns="45720" rIns="91440" bIns="45720" anchor="t">
            <a:normAutofit/>
          </a:bodyPr>
          <a:lstStyle/>
          <a:p>
            <a:pPr marL="0" algn="l"/>
            <a:fld id="{3386411A-70EE-422D-B97C-F56BEE3FF077}" type="slidenum">
              <a:rPr lang="en-US" sz="1800" b="0" i="0" u="none" baseline="0">
                <a:solidFill>
                  <a:srgbClr val="000000"/>
                </a:solidFill>
                <a:latin typeface="Arial"/>
                <a:ea typeface="Arial"/>
              </a:rPr>
              <a:t>‹#›</a:t>
            </a:fld>
            <a:endParaRPr lang="en-US" sz="1800" b="0" i="0" u="none" baseline="0">
              <a:solidFill>
                <a:srgbClr val="000000"/>
              </a:solidFill>
              <a:latin typeface="Arial"/>
              <a:ea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FFFFFF"/>
        </a:solidFill>
        <a:effectLst/>
      </p:bgPr>
    </p:bg>
    <p:spTree>
      <p:nvGrpSpPr>
        <p:cNvPr id="1" name=""/>
        <p:cNvGrpSpPr/>
        <p:nvPr/>
      </p:nvGrpSpPr>
      <p:grpSpPr>
        <a:xfrm>
          <a:off x="0" y="0"/>
          <a:ext cx="0" cy="0"/>
          <a:chOff x="0" y="0"/>
          <a:chExt cx="0" cy="0"/>
        </a:xfrm>
      </p:grpSpPr>
      <p:pic>
        <p:nvPicPr>
          <p:cNvPr id="2" name="image1.jpg"/>
          <p:cNvPicPr>
            <a:picLocks noChangeAspect="1"/>
          </p:cNvPicPr>
          <p:nvPr/>
        </p:nvPicPr>
        <p:blipFill>
          <a:blip r:embed="rId2"/>
          <a:srcRect l="160" r="160"/>
          <a:stretch>
            <a:fillRect/>
          </a:stretch>
        </p:blipFill>
        <p:spPr>
          <a:xfrm>
            <a:off x="0" y="0"/>
            <a:ext cx="12192000" cy="6858000"/>
          </a:xfrm>
          <a:prstGeom prst="rect">
            <a:avLst/>
          </a:prstGeom>
        </p:spPr>
      </p:pic>
      <p:sp>
        <p:nvSpPr>
          <p:cNvPr id="3" name="AutoShape 3"/>
          <p:cNvSpPr/>
          <p:nvPr/>
        </p:nvSpPr>
        <p:spPr>
          <a:xfrm>
            <a:off x="0" y="0"/>
            <a:ext cx="12192000" cy="6858000"/>
          </a:xfrm>
          <a:prstGeom prst="rect">
            <a:avLst/>
          </a:prstGeom>
          <a:gradFill>
            <a:gsLst>
              <a:gs pos="0">
                <a:srgbClr val="0048B4">
                  <a:alpha val="90000"/>
                  <a:lumMod val="75000"/>
                </a:srgbClr>
              </a:gs>
              <a:gs pos="70000">
                <a:srgbClr val="0048B4">
                  <a:alpha val="0"/>
                  <a:lumMod val="75000"/>
                </a:srgbClr>
              </a:gs>
            </a:gsLst>
            <a:lin ang="2700000"/>
          </a:gradFill>
          <a:ln cap="flat" cmpd="sng">
            <a:prstDash val="solid"/>
          </a:ln>
        </p:spPr>
        <p:txBody>
          <a:bodyPr vert="horz" lIns="91440" tIns="45720" rIns="91440" bIns="45720" anchor="ctr">
            <a:normAutofit/>
          </a:bodyPr>
          <a:lstStyle/>
          <a:p>
            <a:pPr marL="0" algn="ctr"/>
            <a:endParaRPr/>
          </a:p>
        </p:txBody>
      </p:sp>
      <p:sp>
        <p:nvSpPr>
          <p:cNvPr id="4" name="AutoShape 4"/>
          <p:cNvSpPr>
            <a:spLocks noGrp="1"/>
          </p:cNvSpPr>
          <p:nvPr>
            <p:ph type="title"/>
          </p:nvPr>
        </p:nvSpPr>
        <p:spPr>
          <a:xfrm>
            <a:off x="1047750" y="857250"/>
            <a:ext cx="5810250" cy="1809750"/>
          </a:xfrm>
          <a:prstGeom prst="rect">
            <a:avLst/>
          </a:prstGeom>
        </p:spPr>
        <p:txBody>
          <a:bodyPr vert="horz" lIns="91440" tIns="45720" rIns="91440" bIns="45720" anchor="b">
            <a:normAutofit/>
          </a:bodyPr>
          <a:lstStyle/>
          <a:p>
            <a:pPr algn="l">
              <a:lnSpc>
                <a:spcPct val="100000"/>
              </a:lnSpc>
              <a:spcBef>
                <a:spcPct val="0"/>
              </a:spcBef>
            </a:pPr>
            <a:r>
              <a:rPr lang="en-US" sz="6000" b="1" i="0" u="none" baseline="0">
                <a:solidFill>
                  <a:srgbClr val="F0F0F0"/>
                </a:solidFill>
                <a:latin typeface="Arial"/>
                <a:ea typeface="Arial"/>
              </a:rPr>
              <a:t>Presentation Title Goes Here</a:t>
            </a:r>
          </a:p>
        </p:txBody>
      </p:sp>
      <p:sp>
        <p:nvSpPr>
          <p:cNvPr id="5" name="AutoShape 5"/>
          <p:cNvSpPr/>
          <p:nvPr/>
        </p:nvSpPr>
        <p:spPr>
          <a:xfrm>
            <a:off x="1047750" y="3028950"/>
            <a:ext cx="590550" cy="590550"/>
          </a:xfrm>
          <a:prstGeom prst="ellipse">
            <a:avLst/>
          </a:prstGeom>
          <a:noFill/>
          <a:ln w="12700" cap="flat" cmpd="sng">
            <a:solidFill>
              <a:schemeClr val="accent3"/>
            </a:solidFill>
            <a:prstDash val="solid"/>
          </a:ln>
        </p:spPr>
        <p:txBody>
          <a:bodyPr vert="horz" lIns="91440" tIns="45720" rIns="91440" bIns="45720" anchor="ctr">
            <a:normAutofit/>
          </a:bodyPr>
          <a:lstStyle/>
          <a:p>
            <a:pPr marL="0" algn="ctr"/>
            <a:endParaRPr/>
          </a:p>
        </p:txBody>
      </p:sp>
      <p:sp>
        <p:nvSpPr>
          <p:cNvPr id="6" name="AutoShape 6"/>
          <p:cNvSpPr>
            <a:spLocks noGrp="1"/>
          </p:cNvSpPr>
          <p:nvPr>
            <p:ph type="subTitle" idx="1"/>
          </p:nvPr>
        </p:nvSpPr>
        <p:spPr>
          <a:xfrm>
            <a:off x="1924050" y="3028950"/>
            <a:ext cx="3648075" cy="590550"/>
          </a:xfrm>
          <a:prstGeom prst="rect">
            <a:avLst/>
          </a:prstGeom>
        </p:spPr>
        <p:txBody>
          <a:bodyPr vert="horz" lIns="91440" tIns="45720" rIns="91440" bIns="45720" anchor="ctr">
            <a:normAutofit/>
          </a:bodyPr>
          <a:lstStyle/>
          <a:p>
            <a:pPr marL="0" indent="0" algn="l">
              <a:lnSpc>
                <a:spcPct val="120000"/>
              </a:lnSpc>
              <a:spcBef>
                <a:spcPts val="1000"/>
              </a:spcBef>
            </a:pPr>
            <a:r>
              <a:rPr lang="en-US" sz="2000" b="0" i="0" u="none" baseline="0">
                <a:solidFill>
                  <a:srgbClr val="FFFFFF"/>
                </a:solidFill>
                <a:latin typeface="Arial"/>
                <a:ea typeface="Arial"/>
              </a:rPr>
              <a:t>Click to add subtitle</a:t>
            </a:r>
          </a:p>
        </p:txBody>
      </p:sp>
      <p:sp>
        <p:nvSpPr>
          <p:cNvPr id="7" name="AutoShape 7"/>
          <p:cNvSpPr>
            <a:spLocks noGrp="1"/>
          </p:cNvSpPr>
          <p:nvPr>
            <p:ph type="body" sz="quarter" idx="13"/>
          </p:nvPr>
        </p:nvSpPr>
        <p:spPr>
          <a:xfrm>
            <a:off x="676275" y="5781674"/>
            <a:ext cx="1666875" cy="342900"/>
          </a:xfrm>
          <a:prstGeom prst="rect">
            <a:avLst/>
          </a:prstGeom>
        </p:spPr>
        <p:txBody>
          <a:bodyPr vert="horz" lIns="91440" tIns="45720" rIns="91440" bIns="45720" anchor="ctr">
            <a:normAutofit/>
          </a:bodyPr>
          <a:lstStyle/>
          <a:p>
            <a:pPr marL="0" indent="0" algn="l">
              <a:lnSpc>
                <a:spcPct val="100000"/>
              </a:lnSpc>
              <a:spcBef>
                <a:spcPts val="1000"/>
              </a:spcBef>
            </a:pPr>
            <a:r>
              <a:rPr lang="en-US" sz="1200" b="0" i="0" u="none" baseline="0">
                <a:solidFill>
                  <a:srgbClr val="FFFFFF"/>
                </a:solidFill>
                <a:latin typeface="Arial"/>
                <a:ea typeface="Arial"/>
              </a:rPr>
              <a:t>Presenter name</a:t>
            </a:r>
          </a:p>
        </p:txBody>
      </p:sp>
      <p:sp>
        <p:nvSpPr>
          <p:cNvPr id="8" name="AutoShape 8"/>
          <p:cNvSpPr/>
          <p:nvPr/>
        </p:nvSpPr>
        <p:spPr>
          <a:xfrm rot="5400000">
            <a:off x="1295400" y="3276600"/>
            <a:ext cx="95250" cy="95250"/>
          </a:xfrm>
          <a:prstGeom prst="triangle">
            <a:avLst/>
          </a:prstGeom>
          <a:solidFill>
            <a:schemeClr val="accent3"/>
          </a:solidFill>
          <a:ln cap="flat" cmpd="sng">
            <a:prstDash val="solid"/>
          </a:ln>
        </p:spPr>
        <p:txBody>
          <a:bodyPr vert="horz" lIns="91440" tIns="45720" rIns="91440" bIns="45720" anchor="ctr">
            <a:normAutofit/>
          </a:bodyPr>
          <a:lstStyle/>
          <a:p>
            <a:pPr marL="0"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2192000" cy="6858000"/>
          </a:xfrm>
        </p:grpSpPr>
        <p:sp>
          <p:nvSpPr>
            <p:cNvPr id="3" name="AutoShape 3"/>
            <p:cNvSpPr/>
            <p:nvPr/>
          </p:nvSpPr>
          <p:spPr>
            <a:xfrm>
              <a:off x="0" y="0"/>
              <a:ext cx="12192000" cy="6858000"/>
            </a:xfrm>
            <a:prstGeom prst="rect">
              <a:avLst/>
            </a:prstGeom>
            <a:blipFill>
              <a:blip r:embed="rId2"/>
              <a:srcRect/>
              <a:stretch>
                <a:fillRect l="-360"/>
              </a:stretch>
            </a:blipFill>
            <a:ln cap="flat">
              <a:prstDash val="solid"/>
            </a:ln>
          </p:spPr>
          <p:txBody>
            <a:bodyPr vert="horz" wrap="square" lIns="91440" tIns="45720" rIns="91440" bIns="45720" anchor="ctr">
              <a:normAutofit/>
            </a:bodyPr>
            <a:lstStyle/>
            <a:p>
              <a:pPr marL="0" algn="ctr"/>
              <a:endParaRPr/>
            </a:p>
          </p:txBody>
        </p:sp>
        <p:sp>
          <p:nvSpPr>
            <p:cNvPr id="4" name="AutoShape 4"/>
            <p:cNvSpPr/>
            <p:nvPr/>
          </p:nvSpPr>
          <p:spPr>
            <a:xfrm>
              <a:off x="0" y="0"/>
              <a:ext cx="12192000" cy="6858000"/>
            </a:xfrm>
            <a:prstGeom prst="rect">
              <a:avLst/>
            </a:prstGeom>
            <a:solidFill>
              <a:srgbClr val="FFFFFF">
                <a:alpha val="90000"/>
              </a:srgbClr>
            </a:solidFill>
            <a:ln cap="flat" cmpd="sng">
              <a:prstDash val="solid"/>
            </a:ln>
          </p:spPr>
          <p:txBody>
            <a:bodyPr vert="horz" lIns="91440" tIns="45720" rIns="91440" bIns="45720" anchor="ctr">
              <a:normAutofit/>
            </a:bodyPr>
            <a:lstStyle/>
            <a:p>
              <a:pPr marL="0" algn="ctr"/>
              <a:endParaRPr/>
            </a:p>
          </p:txBody>
        </p:sp>
      </p:grpSp>
      <p:sp>
        <p:nvSpPr>
          <p:cNvPr id="5" name="AutoShape 5"/>
          <p:cNvSpPr>
            <a:spLocks noGrp="1"/>
          </p:cNvSpPr>
          <p:nvPr>
            <p:ph type="title"/>
          </p:nvPr>
        </p:nvSpPr>
        <p:spPr>
          <a:xfrm>
            <a:off x="660400" y="0"/>
            <a:ext cx="10858500" cy="1028700"/>
          </a:xfrm>
          <a:prstGeom prst="rect">
            <a:avLst/>
          </a:prstGeo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6" name="AutoShape 6"/>
          <p:cNvSpPr>
            <a:spLocks noGrp="1"/>
          </p:cNvSpPr>
          <p:nvPr>
            <p:ph idx="1"/>
          </p:nvPr>
        </p:nvSpPr>
        <p:spPr>
          <a:xfrm>
            <a:off x="660400" y="1092200"/>
            <a:ext cx="10858500" cy="5041900"/>
          </a:xfrm>
          <a:prstGeom prst="rect">
            <a:avLst/>
          </a:prstGeom>
        </p:spPr>
        <p:txBody>
          <a:bodyPr vert="horz" lIns="91440" tIns="45720" rIns="91440" bIns="45720" anchor="t">
            <a:normAutofit/>
          </a:bodyPr>
          <a:lstStyle/>
          <a:p>
            <a:pPr marL="285750" indent="-285750" algn="l">
              <a:lnSpc>
                <a:spcPct val="120000"/>
              </a:lnSpc>
              <a:spcBef>
                <a:spcPts val="1000"/>
              </a:spcBef>
            </a:pPr>
            <a:r>
              <a:rPr lang="en-US" sz="1800" b="0" i="0" u="none" baseline="0">
                <a:solidFill>
                  <a:srgbClr val="000000"/>
                </a:solidFill>
                <a:latin typeface="Arial"/>
                <a:ea typeface="Arial"/>
              </a:rPr>
              <a:t>Click to add text</a:t>
            </a:r>
          </a:p>
          <a:p>
            <a:pPr marL="742950" lvl="1" indent="-285750" algn="l">
              <a:lnSpc>
                <a:spcPct val="120000"/>
              </a:lnSpc>
              <a:spcBef>
                <a:spcPts val="500"/>
              </a:spcBef>
            </a:pPr>
            <a:r>
              <a:rPr lang="en-US" sz="1600" b="0" i="0" u="none" baseline="0">
                <a:solidFill>
                  <a:srgbClr val="000000"/>
                </a:solidFill>
                <a:latin typeface="Arial"/>
                <a:ea typeface="Arial"/>
              </a:rPr>
              <a:t>Second level</a:t>
            </a:r>
          </a:p>
          <a:p>
            <a:pPr marL="1200150" lvl="2" indent="-285750" algn="l">
              <a:lnSpc>
                <a:spcPct val="120000"/>
              </a:lnSpc>
              <a:spcBef>
                <a:spcPts val="500"/>
              </a:spcBef>
            </a:pPr>
            <a:r>
              <a:rPr lang="en-US" sz="1400" b="0" i="0" u="none" baseline="0">
                <a:solidFill>
                  <a:srgbClr val="000000"/>
                </a:solidFill>
                <a:latin typeface="Arial"/>
                <a:ea typeface="Arial"/>
              </a:rPr>
              <a:t>Third level</a:t>
            </a:r>
          </a:p>
          <a:p>
            <a:pPr marL="1657350" lvl="3" indent="-285750" algn="l">
              <a:lnSpc>
                <a:spcPct val="120000"/>
              </a:lnSpc>
              <a:spcBef>
                <a:spcPts val="500"/>
              </a:spcBef>
            </a:pPr>
            <a:r>
              <a:rPr lang="en-US" sz="1200" b="0" i="0" u="none" baseline="0">
                <a:solidFill>
                  <a:srgbClr val="000000"/>
                </a:solidFill>
                <a:latin typeface="Arial"/>
                <a:ea typeface="Arial"/>
              </a:rPr>
              <a:t>Fourth level</a:t>
            </a:r>
          </a:p>
          <a:p>
            <a:pPr marL="2114550" lvl="4" indent="-285750" algn="l">
              <a:lnSpc>
                <a:spcPct val="120000"/>
              </a:lnSpc>
              <a:spcBef>
                <a:spcPts val="500"/>
              </a:spcBef>
            </a:pPr>
            <a:r>
              <a:rPr lang="en-US" sz="1200" b="0" i="0" u="none" baseline="0">
                <a:solidFill>
                  <a:srgbClr val="000000"/>
                </a:solidFill>
                <a:latin typeface="Arial"/>
                <a:ea typeface="Arial"/>
              </a:rPr>
              <a:t>Fifth level</a:t>
            </a:r>
          </a:p>
        </p:txBody>
      </p:sp>
      <p:sp>
        <p:nvSpPr>
          <p:cNvPr id="7" name="AutoShape 7"/>
          <p:cNvSpPr>
            <a:spLocks noGrp="1"/>
          </p:cNvSpPr>
          <p:nvPr>
            <p:ph type="dt" sz="half" idx="10"/>
          </p:nvPr>
        </p:nvSpPr>
        <p:spPr>
          <a:xfrm>
            <a:off x="4718050" y="6409690"/>
            <a:ext cx="2743200" cy="274320"/>
          </a:xfrm>
          <a:prstGeom prst="rect">
            <a:avLst/>
          </a:prstGeom>
        </p:spPr>
        <p:txBody>
          <a:bodyPr vert="horz" lIns="91440" tIns="45720" rIns="91440" bIns="45720" anchor="t">
            <a:normAutofit/>
          </a:bodyPr>
          <a:lstStyle/>
          <a:p>
            <a:pPr marL="0" algn="l"/>
            <a:r>
              <a:rPr lang="zh-CN" altLang="en-US" sz="1800" b="0" i="0" u="none" baseline="0">
                <a:solidFill>
                  <a:srgbClr val="000000"/>
                </a:solidFill>
                <a:latin typeface="Arial"/>
                <a:ea typeface="Arial"/>
              </a:rPr>
              <a:t>2024/7/24</a:t>
            </a:r>
          </a:p>
        </p:txBody>
      </p:sp>
      <p:sp>
        <p:nvSpPr>
          <p:cNvPr id="8" name="AutoShape 8"/>
          <p:cNvSpPr>
            <a:spLocks noGrp="1"/>
          </p:cNvSpPr>
          <p:nvPr>
            <p:ph type="sldNum" sz="quarter" idx="12"/>
          </p:nvPr>
        </p:nvSpPr>
        <p:spPr>
          <a:xfrm>
            <a:off x="7861300" y="6409690"/>
            <a:ext cx="3657600" cy="274320"/>
          </a:xfrm>
          <a:prstGeom prst="rect">
            <a:avLst/>
          </a:prstGeom>
        </p:spPr>
        <p:txBody>
          <a:bodyPr vert="horz" lIns="91440" tIns="45720" rIns="91440" bIns="45720" anchor="t">
            <a:normAutofit/>
          </a:bodyPr>
          <a:lstStyle/>
          <a:p>
            <a:pPr marL="0" algn="l"/>
            <a:fld id="{3386411A-70EE-422D-B97C-F56BEE3FF077}" type="slidenum">
              <a:rPr lang="zh-CN" altLang="en-US" sz="1800" b="0" i="0" u="none" baseline="0">
                <a:solidFill>
                  <a:srgbClr val="000000"/>
                </a:solidFill>
                <a:latin typeface="Arial"/>
                <a:ea typeface="Arial"/>
              </a:rPr>
              <a:t>‹#›</a:t>
            </a:fld>
            <a:endParaRPr lang="zh-CN" altLang="en-US" sz="1800" b="0" i="0" u="none" baseline="0">
              <a:solidFill>
                <a:srgbClr val="000000"/>
              </a:solidFill>
              <a:latin typeface="Arial"/>
              <a:ea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lumMod val="75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500188"/>
            <a:ext cx="2836800" cy="914400"/>
          </a:xfrm>
          <a:prstGeom prst="rect">
            <a:avLst/>
          </a:prstGeom>
        </p:spPr>
        <p:txBody>
          <a:bodyPr vert="horz" wrap="none" lIns="91440" tIns="45720" rIns="91440" bIns="45720" anchor="t">
            <a:normAutofit/>
          </a:bodyPr>
          <a:lstStyle/>
          <a:p>
            <a:pPr algn="r">
              <a:lnSpc>
                <a:spcPct val="100000"/>
              </a:lnSpc>
              <a:spcBef>
                <a:spcPct val="0"/>
              </a:spcBef>
            </a:pPr>
            <a:r>
              <a:rPr lang="en-US" sz="2800" b="1" i="0" u="none" baseline="0">
                <a:solidFill>
                  <a:srgbClr val="FFFFFF"/>
                </a:solidFill>
                <a:latin typeface="Arial"/>
                <a:ea typeface="Arial"/>
              </a:rPr>
              <a:t>Agenda</a:t>
            </a:r>
          </a:p>
        </p:txBody>
      </p:sp>
      <p:sp>
        <p:nvSpPr>
          <p:cNvPr id="3" name="AutoShape 3"/>
          <p:cNvSpPr>
            <a:spLocks noGrp="1"/>
          </p:cNvSpPr>
          <p:nvPr>
            <p:ph sz="quarter" idx="1"/>
          </p:nvPr>
        </p:nvSpPr>
        <p:spPr>
          <a:xfrm>
            <a:off x="3746500" y="1500187"/>
            <a:ext cx="7772400" cy="4633200"/>
          </a:xfrm>
          <a:prstGeom prst="rect">
            <a:avLst/>
          </a:prstGeom>
        </p:spPr>
        <p:txBody>
          <a:bodyPr vert="horz" wrap="square" lIns="91440" tIns="45720" rIns="91440" bIns="45720" anchor="t">
            <a:normAutofit/>
          </a:bodyPr>
          <a:lstStyle/>
          <a:p>
            <a:pPr marL="457200" indent="-457200" algn="l">
              <a:lnSpc>
                <a:spcPct val="130000"/>
              </a:lnSpc>
              <a:spcBef>
                <a:spcPts val="1000"/>
              </a:spcBef>
            </a:pPr>
            <a:r>
              <a:rPr lang="en-US" sz="2400" b="0" i="0" u="none" baseline="0">
                <a:solidFill>
                  <a:srgbClr val="FFFFFF"/>
                </a:solidFill>
                <a:latin typeface="Arial"/>
                <a:ea typeface="Arial"/>
              </a:rPr>
              <a:t>Click to add text</a:t>
            </a:r>
          </a:p>
          <a:p>
            <a:pPr marL="685800" lvl="1" indent="-228600" algn="l">
              <a:lnSpc>
                <a:spcPct val="120000"/>
              </a:lnSpc>
              <a:spcBef>
                <a:spcPts val="500"/>
              </a:spcBef>
            </a:pPr>
            <a:r>
              <a:rPr lang="en-US" sz="1600" b="0" i="0" u="none" baseline="0">
                <a:solidFill>
                  <a:srgbClr val="FFFFFF"/>
                </a:solidFill>
                <a:latin typeface="Arial"/>
                <a:ea typeface="Arial"/>
              </a:rPr>
              <a:t>Second level</a:t>
            </a:r>
          </a:p>
          <a:p>
            <a:pPr marL="1143000" lvl="2" indent="-228600" algn="l">
              <a:lnSpc>
                <a:spcPct val="120000"/>
              </a:lnSpc>
              <a:spcBef>
                <a:spcPts val="500"/>
              </a:spcBef>
            </a:pPr>
            <a:r>
              <a:rPr lang="en-US" sz="1400" b="0" i="0" u="none" baseline="0">
                <a:solidFill>
                  <a:srgbClr val="FFFFFF"/>
                </a:solidFill>
                <a:latin typeface="Arial"/>
                <a:ea typeface="Arial"/>
              </a:rPr>
              <a:t>Third level</a:t>
            </a:r>
          </a:p>
          <a:p>
            <a:pPr marL="1600200" lvl="3" indent="-228600" algn="l">
              <a:lnSpc>
                <a:spcPct val="120000"/>
              </a:lnSpc>
              <a:spcBef>
                <a:spcPts val="500"/>
              </a:spcBef>
            </a:pPr>
            <a:r>
              <a:rPr lang="en-US" sz="1200" b="0" i="0" u="none" baseline="0">
                <a:solidFill>
                  <a:srgbClr val="FFFFFF"/>
                </a:solidFill>
                <a:latin typeface="Arial"/>
                <a:ea typeface="Arial"/>
              </a:rPr>
              <a:t>Fourth level</a:t>
            </a:r>
          </a:p>
          <a:p>
            <a:pPr marL="2057400" lvl="4" indent="-228600" algn="l">
              <a:lnSpc>
                <a:spcPct val="120000"/>
              </a:lnSpc>
              <a:spcBef>
                <a:spcPts val="500"/>
              </a:spcBef>
            </a:pPr>
            <a:r>
              <a:rPr lang="en-US" sz="1200" b="0" i="0" u="none" baseline="0">
                <a:solidFill>
                  <a:srgbClr val="FFFFFF"/>
                </a:solidFill>
                <a:latin typeface="Arial"/>
                <a:ea typeface="Arial"/>
              </a:rPr>
              <a:t>Fifth level</a:t>
            </a:r>
          </a:p>
        </p:txBody>
      </p:sp>
      <p:sp>
        <p:nvSpPr>
          <p:cNvPr id="4" name="AutoShape 4"/>
          <p:cNvSpPr>
            <a:spLocks noGrp="1"/>
          </p:cNvSpPr>
          <p:nvPr>
            <p:ph type="dt" sz="half" idx="10"/>
          </p:nvPr>
        </p:nvSpPr>
        <p:spPr>
          <a:xfrm>
            <a:off x="4718050" y="6409690"/>
            <a:ext cx="2743200" cy="274320"/>
          </a:xfrm>
          <a:prstGeom prst="rect">
            <a:avLst/>
          </a:prstGeom>
        </p:spPr>
        <p:txBody>
          <a:bodyPr vert="horz" lIns="91440" tIns="45720" rIns="91440" bIns="45720" anchor="t">
            <a:normAutofit/>
          </a:bodyPr>
          <a:lstStyle/>
          <a:p>
            <a:pPr marL="0" algn="l"/>
            <a:r>
              <a:rPr lang="zh-CN" altLang="en-US" sz="1800" b="0" i="0" u="none" baseline="0">
                <a:solidFill>
                  <a:srgbClr val="FFFFFF"/>
                </a:solidFill>
                <a:latin typeface="Arial"/>
                <a:ea typeface="Arial"/>
              </a:rPr>
              <a:t>2024/7/24</a:t>
            </a:r>
          </a:p>
        </p:txBody>
      </p:sp>
      <p:sp>
        <p:nvSpPr>
          <p:cNvPr id="5" name="AutoShape 5"/>
          <p:cNvSpPr>
            <a:spLocks noGrp="1"/>
          </p:cNvSpPr>
          <p:nvPr>
            <p:ph type="sldNum" sz="quarter" idx="12"/>
          </p:nvPr>
        </p:nvSpPr>
        <p:spPr>
          <a:xfrm>
            <a:off x="7861300" y="6409690"/>
            <a:ext cx="3657600" cy="274320"/>
          </a:xfrm>
          <a:prstGeom prst="rect">
            <a:avLst/>
          </a:prstGeom>
        </p:spPr>
        <p:txBody>
          <a:bodyPr vert="horz" lIns="91440" tIns="45720" rIns="91440" bIns="45720" anchor="t">
            <a:normAutofit/>
          </a:bodyPr>
          <a:lstStyle/>
          <a:p>
            <a:pPr marL="0" algn="l"/>
            <a:fld id="{3386411A-70EE-422D-B97C-F56BEE3FF077}" type="slidenum">
              <a:rPr lang="en-US" sz="1800" b="0" i="0" u="none" baseline="0">
                <a:solidFill>
                  <a:srgbClr val="FFFFFF"/>
                </a:solidFill>
                <a:latin typeface="Arial"/>
                <a:ea typeface="Arial"/>
              </a:rPr>
              <a:t>‹#›</a:t>
            </a:fld>
            <a:endParaRPr lang="en-US" sz="1800" b="0" i="0" u="none" baseline="0">
              <a:solidFill>
                <a:srgbClr val="FFFFFF"/>
              </a:solidFill>
              <a:latin typeface="Arial"/>
              <a:ea typeface="Arial"/>
            </a:endParaRPr>
          </a:p>
        </p:txBody>
      </p:sp>
      <p:grpSp>
        <p:nvGrpSpPr>
          <p:cNvPr id="6" name="Group 6"/>
          <p:cNvGrpSpPr/>
          <p:nvPr/>
        </p:nvGrpSpPr>
        <p:grpSpPr>
          <a:xfrm>
            <a:off x="2626456" y="1500188"/>
            <a:ext cx="994563" cy="4634686"/>
            <a:chOff x="2626456" y="1500188"/>
            <a:chExt cx="994563" cy="4634686"/>
          </a:xfrm>
        </p:grpSpPr>
        <p:cxnSp>
          <p:nvCxnSpPr>
            <p:cNvPr id="7" name="Connector 7"/>
            <p:cNvCxnSpPr/>
            <p:nvPr/>
          </p:nvCxnSpPr>
          <p:spPr>
            <a:xfrm>
              <a:off x="3621019" y="1500188"/>
              <a:ext cx="0" cy="4633913"/>
            </a:xfrm>
            <a:prstGeom prst="line">
              <a:avLst/>
            </a:prstGeom>
            <a:solidFill>
              <a:srgbClr val="FFCC00"/>
            </a:solidFill>
            <a:ln w="3175" cap="flat">
              <a:solidFill>
                <a:srgbClr val="FFFFFF">
                  <a:alpha val="50000"/>
                </a:srgbClr>
              </a:solidFill>
              <a:prstDash val="solid"/>
            </a:ln>
          </p:spPr>
        </p:cxnSp>
        <p:sp>
          <p:nvSpPr>
            <p:cNvPr id="8" name="Freeform 8"/>
            <p:cNvSpPr/>
            <p:nvPr/>
          </p:nvSpPr>
          <p:spPr>
            <a:xfrm>
              <a:off x="2626456" y="5219207"/>
              <a:ext cx="870506" cy="915667"/>
            </a:xfrm>
            <a:custGeom>
              <a:avLst/>
              <a:gdLst/>
              <a:ahLst/>
              <a:cxnLst/>
              <a:rect l="l" t="t"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FFFFFF">
                <a:alpha val="15000"/>
              </a:srgbClr>
            </a:solidFill>
          </p:spPr>
          <p:txBody>
            <a:bodyPr vert="horz" lIns="91440" tIns="45720" rIns="91440" bIns="45720" anchor="t">
              <a:normAutofit/>
            </a:bodyPr>
            <a:lstStyle/>
            <a:p>
              <a:pPr marL="0" algn="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rgbClr val="FFFFFF"/>
        </a:solidFill>
        <a:effectLst/>
      </p:bgPr>
    </p:bg>
    <p:spTree>
      <p:nvGrpSpPr>
        <p:cNvPr id="1" name=""/>
        <p:cNvGrpSpPr/>
        <p:nvPr/>
      </p:nvGrpSpPr>
      <p:grpSpPr>
        <a:xfrm>
          <a:off x="0" y="0"/>
          <a:ext cx="0" cy="0"/>
          <a:chOff x="0" y="0"/>
          <a:chExt cx="0" cy="0"/>
        </a:xfrm>
      </p:grpSpPr>
      <p:pic>
        <p:nvPicPr>
          <p:cNvPr id="2" name="image1.jpg"/>
          <p:cNvPicPr>
            <a:picLocks noChangeAspect="1"/>
          </p:cNvPicPr>
          <p:nvPr/>
        </p:nvPicPr>
        <p:blipFill>
          <a:blip r:embed="rId2"/>
          <a:srcRect l="12460" t="12440" r="7790" b="7560"/>
          <a:stretch>
            <a:fillRect/>
          </a:stretch>
        </p:blipFill>
        <p:spPr>
          <a:xfrm>
            <a:off x="0" y="0"/>
            <a:ext cx="12192000" cy="6858000"/>
          </a:xfrm>
          <a:prstGeom prst="rect">
            <a:avLst/>
          </a:prstGeom>
        </p:spPr>
      </p:pic>
      <p:sp>
        <p:nvSpPr>
          <p:cNvPr id="3" name="AutoShape 3"/>
          <p:cNvSpPr/>
          <p:nvPr/>
        </p:nvSpPr>
        <p:spPr>
          <a:xfrm>
            <a:off x="0" y="0"/>
            <a:ext cx="12192000" cy="6858000"/>
          </a:xfrm>
          <a:prstGeom prst="rect">
            <a:avLst/>
          </a:prstGeom>
          <a:gradFill>
            <a:gsLst>
              <a:gs pos="0">
                <a:srgbClr val="0048B4">
                  <a:alpha val="90000"/>
                  <a:lumMod val="75000"/>
                </a:srgbClr>
              </a:gs>
              <a:gs pos="70000">
                <a:srgbClr val="0048B4">
                  <a:alpha val="0"/>
                  <a:lumMod val="75000"/>
                </a:srgbClr>
              </a:gs>
            </a:gsLst>
          </a:gradFill>
          <a:ln cap="flat" cmpd="sng">
            <a:prstDash val="solid"/>
          </a:ln>
        </p:spPr>
        <p:txBody>
          <a:bodyPr vert="horz" lIns="91440" tIns="45720" rIns="91440" bIns="45720" anchor="ctr">
            <a:normAutofit/>
          </a:bodyPr>
          <a:lstStyle/>
          <a:p>
            <a:pPr marL="0" algn="ctr"/>
            <a:endParaRPr/>
          </a:p>
        </p:txBody>
      </p:sp>
      <p:sp>
        <p:nvSpPr>
          <p:cNvPr id="4" name="AutoShape 4"/>
          <p:cNvSpPr>
            <a:spLocks noGrp="1"/>
          </p:cNvSpPr>
          <p:nvPr>
            <p:ph type="title"/>
          </p:nvPr>
        </p:nvSpPr>
        <p:spPr>
          <a:xfrm>
            <a:off x="666750" y="3429000"/>
            <a:ext cx="5334000" cy="857250"/>
          </a:xfrm>
          <a:prstGeom prst="rect">
            <a:avLst/>
          </a:prstGeom>
        </p:spPr>
        <p:txBody>
          <a:bodyPr vert="horz" lIns="91440" tIns="45720" rIns="91440" bIns="45720" anchor="b">
            <a:normAutofit/>
          </a:bodyPr>
          <a:lstStyle/>
          <a:p>
            <a:pPr algn="l">
              <a:lnSpc>
                <a:spcPct val="100000"/>
              </a:lnSpc>
              <a:spcBef>
                <a:spcPct val="0"/>
              </a:spcBef>
            </a:pPr>
            <a:r>
              <a:rPr lang="en-US" sz="3600" b="1" i="0" u="none" baseline="0">
                <a:solidFill>
                  <a:srgbClr val="F0F0F0"/>
                </a:solidFill>
                <a:latin typeface="Arial"/>
                <a:ea typeface="Arial"/>
              </a:rPr>
              <a:t>Click to add title</a:t>
            </a:r>
          </a:p>
        </p:txBody>
      </p:sp>
      <p:sp>
        <p:nvSpPr>
          <p:cNvPr id="5" name="AutoShape 5"/>
          <p:cNvSpPr>
            <a:spLocks noGrp="1"/>
          </p:cNvSpPr>
          <p:nvPr>
            <p:ph type="subTitle" idx="1"/>
          </p:nvPr>
        </p:nvSpPr>
        <p:spPr>
          <a:xfrm>
            <a:off x="666750" y="4286250"/>
            <a:ext cx="5334000" cy="952500"/>
          </a:xfrm>
          <a:prstGeom prst="rect">
            <a:avLst/>
          </a:prstGeom>
        </p:spPr>
        <p:txBody>
          <a:bodyPr vert="horz" lIns="91440" tIns="45720" rIns="91440" bIns="45720" anchor="t">
            <a:normAutofit/>
          </a:bodyPr>
          <a:lstStyle/>
          <a:p>
            <a:pPr marL="0" indent="0" algn="l">
              <a:lnSpc>
                <a:spcPct val="120000"/>
              </a:lnSpc>
              <a:spcBef>
                <a:spcPts val="1000"/>
              </a:spcBef>
            </a:pPr>
            <a:r>
              <a:rPr lang="en-US" sz="1600" b="0" i="0" u="none" baseline="0">
                <a:solidFill>
                  <a:srgbClr val="F0F0F0"/>
                </a:solidFill>
                <a:latin typeface="Arial"/>
                <a:ea typeface="Arial"/>
              </a:rPr>
              <a:t>Click to add text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399" y="0"/>
            <a:ext cx="10858500" cy="1028700"/>
          </a:xfrm>
          <a:prstGeom prst="rect">
            <a:avLst/>
          </a:prstGeo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3" name="AutoShape 3"/>
          <p:cNvSpPr>
            <a:spLocks noGrp="1"/>
          </p:cNvSpPr>
          <p:nvPr>
            <p:ph type="dt" sz="half" idx="10"/>
          </p:nvPr>
        </p:nvSpPr>
        <p:spPr>
          <a:xfrm>
            <a:off x="4718050" y="6409690"/>
            <a:ext cx="2743200" cy="274320"/>
          </a:xfrm>
          <a:prstGeom prst="rect">
            <a:avLst/>
          </a:prstGeom>
        </p:spPr>
        <p:txBody>
          <a:bodyPr vert="horz" lIns="91440" tIns="45720" rIns="91440" bIns="45720" anchor="t">
            <a:normAutofit/>
          </a:bodyPr>
          <a:lstStyle/>
          <a:p>
            <a:pPr marL="0" algn="l"/>
            <a:r>
              <a:rPr lang="zh-CN" altLang="en-US" sz="1800" b="0" i="0" u="none" baseline="0">
                <a:solidFill>
                  <a:srgbClr val="000000"/>
                </a:solidFill>
                <a:latin typeface="Arial"/>
                <a:ea typeface="Arial"/>
              </a:rPr>
              <a:t>2024/7/24</a:t>
            </a:r>
          </a:p>
        </p:txBody>
      </p:sp>
      <p:sp>
        <p:nvSpPr>
          <p:cNvPr id="4" name="AutoShape 4"/>
          <p:cNvSpPr>
            <a:spLocks noGrp="1"/>
          </p:cNvSpPr>
          <p:nvPr>
            <p:ph type="sldNum" sz="quarter" idx="12"/>
          </p:nvPr>
        </p:nvSpPr>
        <p:spPr>
          <a:xfrm>
            <a:off x="7861300" y="6409690"/>
            <a:ext cx="3657600" cy="274320"/>
          </a:xfrm>
          <a:prstGeom prst="rect">
            <a:avLst/>
          </a:prstGeom>
        </p:spPr>
        <p:txBody>
          <a:bodyPr vert="horz" lIns="91440" tIns="45720" rIns="91440" bIns="45720" anchor="t">
            <a:normAutofit/>
          </a:bodyPr>
          <a:lstStyle/>
          <a:p>
            <a:pPr marL="0" algn="l"/>
            <a:fld id="{3386411A-70EE-422D-B97C-F56BEE3FF077}" type="slidenum">
              <a:rPr lang="zh-CN" altLang="en-US" sz="1800" b="0" i="0" u="none" baseline="0">
                <a:solidFill>
                  <a:srgbClr val="000000"/>
                </a:solidFill>
                <a:latin typeface="Arial"/>
                <a:ea typeface="Arial"/>
              </a:rPr>
              <a:t>‹#›</a:t>
            </a:fld>
            <a:endParaRPr lang="zh-CN" altLang="en-US" sz="1800" b="0" i="0" u="none" baseline="0">
              <a:solidFill>
                <a:srgbClr val="000000"/>
              </a:solidFill>
              <a:latin typeface="Arial"/>
              <a:ea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rgbClr val="FFFFFF"/>
        </a:solidFill>
        <a:effectLst/>
      </p:bgPr>
    </p:bg>
    <p:spTree>
      <p:nvGrpSpPr>
        <p:cNvPr id="1" name=""/>
        <p:cNvGrpSpPr/>
        <p:nvPr/>
      </p:nvGrpSpPr>
      <p:grpSpPr>
        <a:xfrm>
          <a:off x="0" y="0"/>
          <a:ext cx="0" cy="0"/>
          <a:chOff x="0" y="0"/>
          <a:chExt cx="0" cy="0"/>
        </a:xfrm>
      </p:grpSpPr>
      <p:pic>
        <p:nvPicPr>
          <p:cNvPr id="2" name="image1.jpg"/>
          <p:cNvPicPr>
            <a:picLocks noChangeAspect="1"/>
          </p:cNvPicPr>
          <p:nvPr/>
        </p:nvPicPr>
        <p:blipFill>
          <a:blip r:embed="rId2"/>
          <a:srcRect l="160" r="160"/>
          <a:stretch>
            <a:fillRect/>
          </a:stretch>
        </p:blipFill>
        <p:spPr>
          <a:xfrm>
            <a:off x="0" y="0"/>
            <a:ext cx="12192000" cy="6858000"/>
          </a:xfrm>
          <a:prstGeom prst="rect">
            <a:avLst/>
          </a:prstGeom>
        </p:spPr>
      </p:pic>
      <p:sp>
        <p:nvSpPr>
          <p:cNvPr id="3" name="AutoShape 3"/>
          <p:cNvSpPr/>
          <p:nvPr/>
        </p:nvSpPr>
        <p:spPr>
          <a:xfrm>
            <a:off x="0" y="0"/>
            <a:ext cx="12192000" cy="6858000"/>
          </a:xfrm>
          <a:prstGeom prst="rect">
            <a:avLst/>
          </a:prstGeom>
          <a:gradFill>
            <a:gsLst>
              <a:gs pos="0">
                <a:srgbClr val="0048B4">
                  <a:alpha val="90000"/>
                  <a:lumMod val="75000"/>
                </a:srgbClr>
              </a:gs>
              <a:gs pos="70000">
                <a:srgbClr val="0048B4">
                  <a:alpha val="0"/>
                  <a:lumMod val="75000"/>
                </a:srgbClr>
              </a:gs>
            </a:gsLst>
            <a:lin ang="2700000"/>
          </a:gradFill>
          <a:ln cap="flat" cmpd="sng">
            <a:prstDash val="solid"/>
          </a:ln>
        </p:spPr>
        <p:txBody>
          <a:bodyPr vert="horz" lIns="91440" tIns="45720" rIns="91440" bIns="45720" anchor="ctr">
            <a:normAutofit/>
          </a:bodyPr>
          <a:lstStyle/>
          <a:p>
            <a:pPr marL="0" algn="ctr"/>
            <a:endParaRPr/>
          </a:p>
        </p:txBody>
      </p:sp>
      <p:sp>
        <p:nvSpPr>
          <p:cNvPr id="4" name="AutoShape 4"/>
          <p:cNvSpPr>
            <a:spLocks noGrp="1"/>
          </p:cNvSpPr>
          <p:nvPr>
            <p:ph type="title"/>
          </p:nvPr>
        </p:nvSpPr>
        <p:spPr>
          <a:xfrm>
            <a:off x="1047750" y="857250"/>
            <a:ext cx="5810250" cy="1809750"/>
          </a:xfrm>
          <a:prstGeom prst="rect">
            <a:avLst/>
          </a:prstGeom>
        </p:spPr>
        <p:txBody>
          <a:bodyPr vert="horz" lIns="91440" tIns="45720" rIns="91440" bIns="45720" anchor="b">
            <a:normAutofit/>
          </a:bodyPr>
          <a:lstStyle/>
          <a:p>
            <a:pPr algn="l">
              <a:lnSpc>
                <a:spcPct val="100000"/>
              </a:lnSpc>
              <a:spcBef>
                <a:spcPct val="0"/>
              </a:spcBef>
            </a:pPr>
            <a:r>
              <a:rPr lang="en-US" sz="6000" b="1" i="0" u="none" baseline="0">
                <a:solidFill>
                  <a:srgbClr val="F0F0F0"/>
                </a:solidFill>
                <a:latin typeface="Arial"/>
                <a:ea typeface="Arial"/>
              </a:rPr>
              <a:t>Conclusion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a:prstGeom prst="rect">
            <a:avLst/>
          </a:prstGeo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3" name="AutoShape 3"/>
          <p:cNvSpPr>
            <a:spLocks noGrp="1"/>
          </p:cNvSpPr>
          <p:nvPr>
            <p:ph type="body" idx="1"/>
          </p:nvPr>
        </p:nvSpPr>
        <p:spPr>
          <a:xfrm>
            <a:off x="660400" y="1130300"/>
            <a:ext cx="10858500" cy="5003800"/>
          </a:xfrm>
          <a:prstGeom prst="rect">
            <a:avLst/>
          </a:prstGeom>
        </p:spPr>
        <p:txBody>
          <a:bodyPr vert="horz" lIns="91440" tIns="45720" rIns="91440" bIns="45720" anchor="t">
            <a:normAutofit/>
          </a:bodyPr>
          <a:lstStyle/>
          <a:p>
            <a:pPr marL="228600" indent="-228600" algn="l">
              <a:lnSpc>
                <a:spcPct val="120000"/>
              </a:lnSpc>
              <a:spcBef>
                <a:spcPts val="1000"/>
              </a:spcBef>
            </a:pPr>
            <a:r>
              <a:rPr lang="en-US" sz="1800" b="0" i="0" u="none" baseline="0">
                <a:solidFill>
                  <a:srgbClr val="000000"/>
                </a:solidFill>
                <a:latin typeface="Arial"/>
                <a:ea typeface="Arial"/>
              </a:rPr>
              <a:t>Click to add text</a:t>
            </a:r>
          </a:p>
          <a:p>
            <a:pPr marL="685800" lvl="1" indent="-228600" algn="l">
              <a:lnSpc>
                <a:spcPct val="120000"/>
              </a:lnSpc>
              <a:spcBef>
                <a:spcPts val="500"/>
              </a:spcBef>
            </a:pPr>
            <a:r>
              <a:rPr lang="en-US" sz="1600" b="0" i="0" u="none" baseline="0">
                <a:solidFill>
                  <a:srgbClr val="000000"/>
                </a:solidFill>
                <a:latin typeface="Arial"/>
                <a:ea typeface="Arial"/>
              </a:rPr>
              <a:t>Second level</a:t>
            </a:r>
          </a:p>
          <a:p>
            <a:pPr marL="1143000" lvl="2" indent="-228600" algn="l">
              <a:lnSpc>
                <a:spcPct val="120000"/>
              </a:lnSpc>
              <a:spcBef>
                <a:spcPts val="500"/>
              </a:spcBef>
            </a:pPr>
            <a:r>
              <a:rPr lang="en-US" sz="1400" b="0" i="0" u="none" baseline="0">
                <a:solidFill>
                  <a:srgbClr val="000000"/>
                </a:solidFill>
                <a:latin typeface="Arial"/>
                <a:ea typeface="Arial"/>
              </a:rPr>
              <a:t>Third level</a:t>
            </a:r>
          </a:p>
          <a:p>
            <a:pPr marL="1600200" lvl="3" indent="-228600" algn="l">
              <a:lnSpc>
                <a:spcPct val="120000"/>
              </a:lnSpc>
              <a:spcBef>
                <a:spcPts val="500"/>
              </a:spcBef>
            </a:pPr>
            <a:r>
              <a:rPr lang="en-US" sz="1200" b="0" i="0" u="none" baseline="0">
                <a:solidFill>
                  <a:srgbClr val="000000"/>
                </a:solidFill>
                <a:latin typeface="Arial"/>
                <a:ea typeface="Arial"/>
              </a:rPr>
              <a:t>Fourth level</a:t>
            </a:r>
          </a:p>
          <a:p>
            <a:pPr marL="2057400" lvl="4" indent="-228600" algn="l">
              <a:lnSpc>
                <a:spcPct val="120000"/>
              </a:lnSpc>
              <a:spcBef>
                <a:spcPts val="500"/>
              </a:spcBef>
            </a:pPr>
            <a:r>
              <a:rPr lang="en-US" sz="1200" b="0" i="0" u="none" baseline="0">
                <a:solidFill>
                  <a:srgbClr val="000000"/>
                </a:solidFill>
                <a:latin typeface="Arial"/>
                <a:ea typeface="Arial"/>
              </a:rPr>
              <a:t>Fifth level</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microsoft.com/office/2018/10/relationships/comments" Target="../comments/modernComment_101_0.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0.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microsoft.com/office/2018/10/relationships/comments" Target="../comments/modernComment_103_0.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microsoft.com/office/2018/10/relationships/comments" Target="../comments/modernComment_104_0.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5_0.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microsoft.com/office/2018/10/relationships/comments" Target="../comments/modernComment_106_0.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07_0.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0.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9_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microsoft.com/office/2018/10/relationships/comments" Target="../comments/modernComment_10A_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0B_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0D_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microsoft.com/office/2018/10/relationships/comments" Target="../comments/modernComment_10E_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F_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0_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11_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microsoft.com/office/2018/10/relationships/comments" Target="../comments/modernComment_112_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13_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17_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09389" y="1712585"/>
            <a:ext cx="6795274" cy="2062103"/>
          </a:xfrm>
        </p:spPr>
        <p:txBody>
          <a:bodyPr vert="horz" wrap="square" lIns="91440" tIns="45720" rIns="91440" bIns="45720" anchor="b">
            <a:spAutoFit/>
          </a:bodyPr>
          <a:lstStyle/>
          <a:p>
            <a:pPr algn="l">
              <a:lnSpc>
                <a:spcPct val="100000"/>
              </a:lnSpc>
              <a:spcBef>
                <a:spcPct val="0"/>
              </a:spcBef>
            </a:pPr>
            <a:r>
              <a:rPr lang="zh-CN" altLang="en-US" sz="6400" b="1" i="0" u="none" baseline="0">
                <a:solidFill>
                  <a:schemeClr val="accent1">
                    <a:lumMod val="20000"/>
                    <a:lumOff val="80000"/>
                  </a:schemeClr>
                </a:solidFill>
                <a:latin typeface="微软雅黑"/>
                <a:ea typeface="微软雅黑"/>
              </a:rPr>
              <a:t>联邦学习技术</a:t>
            </a:r>
          </a:p>
        </p:txBody>
      </p:sp>
      <p:sp>
        <p:nvSpPr>
          <p:cNvPr id="3" name="TextBox 3"/>
          <p:cNvSpPr txBox="1"/>
          <p:nvPr/>
        </p:nvSpPr>
        <p:spPr>
          <a:xfrm>
            <a:off x="1780011" y="3890471"/>
            <a:ext cx="1235348" cy="307777"/>
          </a:xfrm>
          <a:prstGeom prst="rect">
            <a:avLst/>
          </a:prstGeom>
          <a:noFill/>
        </p:spPr>
        <p:txBody>
          <a:bodyPr vert="horz" wrap="square" lIns="91440" tIns="45720" rIns="91440" bIns="45720" rtlCol="0" anchor="t">
            <a:spAutoFit/>
          </a:bodyPr>
          <a:lstStyle/>
          <a:p>
            <a:pPr marL="0" algn="l">
              <a:defRPr/>
            </a:pPr>
            <a:r>
              <a:rPr lang="zh-CN" altLang="en-US" sz="1400" b="0" i="0" u="none" baseline="0">
                <a:solidFill>
                  <a:srgbClr val="FFFFFF"/>
                </a:solidFill>
                <a:latin typeface="微软雅黑"/>
                <a:ea typeface="微软雅黑"/>
              </a:rPr>
              <a:t>汇报人</a:t>
            </a:r>
            <a:endParaRPr lang="en-US" sz="1100"/>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51840" y="117408"/>
            <a:ext cx="2352567" cy="830997"/>
          </a:xfrm>
          <a:prstGeom prst="rect">
            <a:avLst/>
          </a:prstGeom>
          <a:noFill/>
        </p:spPr>
        <p:txBody>
          <a:bodyPr vert="horz" wrap="none" lIns="0" tIns="45720" rIns="91440" bIns="45720" rtlCol="0" anchor="t">
            <a:spAutoFit/>
          </a:bodyPr>
          <a:lstStyle/>
          <a:p>
            <a:pPr marL="0" algn="l">
              <a:lnSpc>
                <a:spcPct val="100000"/>
              </a:lnSpc>
              <a:defRPr/>
            </a:pPr>
            <a:r>
              <a:rPr lang="en-US" sz="4800" b="1" i="0" u="none" baseline="0" dirty="0">
                <a:solidFill>
                  <a:srgbClr val="000000"/>
                </a:solidFill>
                <a:latin typeface="Arial"/>
                <a:ea typeface="Arial"/>
              </a:rPr>
              <a:t>Agenda</a:t>
            </a:r>
            <a:endParaRPr lang="en-US" sz="1100" dirty="0"/>
          </a:p>
        </p:txBody>
      </p:sp>
      <p:sp>
        <p:nvSpPr>
          <p:cNvPr id="3" name="TextBox 3"/>
          <p:cNvSpPr txBox="1"/>
          <p:nvPr/>
        </p:nvSpPr>
        <p:spPr>
          <a:xfrm>
            <a:off x="910274" y="842698"/>
            <a:ext cx="967869" cy="923330"/>
          </a:xfrm>
          <a:prstGeom prst="rect">
            <a:avLst/>
          </a:prstGeom>
          <a:noFill/>
        </p:spPr>
        <p:txBody>
          <a:bodyPr vert="horz" wrap="none" lIns="91440" tIns="45720" rIns="91440" bIns="45720" rtlCol="0" anchor="ctr">
            <a:spAutoFit/>
          </a:bodyPr>
          <a:lstStyle/>
          <a:p>
            <a:pPr marL="0" algn="r">
              <a:defRPr/>
            </a:pPr>
            <a:r>
              <a:rPr lang="en-US" sz="5400" b="1" i="0" u="none" baseline="0">
                <a:solidFill>
                  <a:srgbClr val="778495"/>
                </a:solidFill>
                <a:latin typeface="Arial"/>
                <a:ea typeface="Arial"/>
              </a:rPr>
              <a:t>01</a:t>
            </a:r>
            <a:endParaRPr lang="en-US" sz="1100"/>
          </a:p>
        </p:txBody>
      </p:sp>
      <p:sp>
        <p:nvSpPr>
          <p:cNvPr id="4" name="AutoShape 4"/>
          <p:cNvSpPr/>
          <p:nvPr/>
        </p:nvSpPr>
        <p:spPr>
          <a:xfrm>
            <a:off x="668612" y="1659117"/>
            <a:ext cx="1826141"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联邦学习概述</a:t>
            </a:r>
          </a:p>
        </p:txBody>
      </p:sp>
      <p:sp>
        <p:nvSpPr>
          <p:cNvPr id="5" name="AutoShape 5"/>
          <p:cNvSpPr/>
          <p:nvPr/>
        </p:nvSpPr>
        <p:spPr>
          <a:xfrm>
            <a:off x="637011" y="2365557"/>
            <a:ext cx="1659261" cy="1320030"/>
          </a:xfrm>
          <a:prstGeom prst="roundRect">
            <a:avLst>
              <a:gd name="adj" fmla="val 0"/>
            </a:avLst>
          </a:prstGeom>
          <a:blipFill>
            <a:blip r:embed="rId3"/>
            <a:srcRect/>
            <a:stretch>
              <a:fillRect l="-39670" r="-3967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6" name="TextBox 6"/>
          <p:cNvSpPr txBox="1"/>
          <p:nvPr/>
        </p:nvSpPr>
        <p:spPr>
          <a:xfrm>
            <a:off x="2770101" y="3228411"/>
            <a:ext cx="967869" cy="923330"/>
          </a:xfrm>
          <a:prstGeom prst="rect">
            <a:avLst/>
          </a:prstGeom>
          <a:noFill/>
        </p:spPr>
        <p:txBody>
          <a:bodyPr vert="horz" wrap="none" lIns="91440" tIns="45720" rIns="91440" bIns="45720" rtlCol="0" anchor="ctr">
            <a:spAutoFit/>
          </a:bodyPr>
          <a:lstStyle/>
          <a:p>
            <a:pPr marL="0" algn="r">
              <a:defRPr/>
            </a:pPr>
            <a:r>
              <a:rPr lang="en-US" sz="5400" b="1" i="0" u="none" baseline="0">
                <a:solidFill>
                  <a:schemeClr val="accent1"/>
                </a:solidFill>
                <a:latin typeface="Arial"/>
                <a:ea typeface="Arial"/>
              </a:rPr>
              <a:t>02</a:t>
            </a:r>
            <a:endParaRPr lang="en-US" sz="1100"/>
          </a:p>
        </p:txBody>
      </p:sp>
      <p:sp>
        <p:nvSpPr>
          <p:cNvPr id="7" name="AutoShape 7"/>
          <p:cNvSpPr/>
          <p:nvPr/>
        </p:nvSpPr>
        <p:spPr>
          <a:xfrm>
            <a:off x="2296273" y="4151741"/>
            <a:ext cx="2098252"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联邦学习的工作原理</a:t>
            </a:r>
          </a:p>
        </p:txBody>
      </p:sp>
      <p:sp>
        <p:nvSpPr>
          <p:cNvPr id="8" name="AutoShape 8"/>
          <p:cNvSpPr/>
          <p:nvPr/>
        </p:nvSpPr>
        <p:spPr>
          <a:xfrm>
            <a:off x="2510704" y="4809308"/>
            <a:ext cx="1659261" cy="1320030"/>
          </a:xfrm>
          <a:prstGeom prst="roundRect">
            <a:avLst>
              <a:gd name="adj" fmla="val 0"/>
            </a:avLst>
          </a:prstGeom>
          <a:blipFill>
            <a:blip r:embed="rId4"/>
            <a:srcRect/>
            <a:stretch>
              <a:fillRect l="-10620" r="-1062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9" name="TextBox 9"/>
          <p:cNvSpPr txBox="1"/>
          <p:nvPr/>
        </p:nvSpPr>
        <p:spPr>
          <a:xfrm>
            <a:off x="4460528" y="843326"/>
            <a:ext cx="967869" cy="923330"/>
          </a:xfrm>
          <a:prstGeom prst="rect">
            <a:avLst/>
          </a:prstGeom>
          <a:noFill/>
        </p:spPr>
        <p:txBody>
          <a:bodyPr vert="horz" wrap="none" lIns="91440" tIns="45720" rIns="91440" bIns="45720" rtlCol="0" anchor="ctr">
            <a:spAutoFit/>
          </a:bodyPr>
          <a:lstStyle/>
          <a:p>
            <a:pPr marL="0" algn="r">
              <a:defRPr/>
            </a:pPr>
            <a:r>
              <a:rPr lang="en-US" sz="5400" b="1" i="0" u="none" baseline="0">
                <a:solidFill>
                  <a:srgbClr val="778495"/>
                </a:solidFill>
                <a:latin typeface="Arial"/>
                <a:ea typeface="Arial"/>
              </a:rPr>
              <a:t>03</a:t>
            </a:r>
            <a:endParaRPr lang="en-US" sz="1100"/>
          </a:p>
        </p:txBody>
      </p:sp>
      <p:sp>
        <p:nvSpPr>
          <p:cNvPr id="10" name="AutoShape 10"/>
          <p:cNvSpPr/>
          <p:nvPr/>
        </p:nvSpPr>
        <p:spPr>
          <a:xfrm>
            <a:off x="4101738" y="1659117"/>
            <a:ext cx="2192558"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联邦学习的应用场景</a:t>
            </a:r>
          </a:p>
        </p:txBody>
      </p:sp>
      <p:sp>
        <p:nvSpPr>
          <p:cNvPr id="11" name="AutoShape 11"/>
          <p:cNvSpPr/>
          <p:nvPr/>
        </p:nvSpPr>
        <p:spPr>
          <a:xfrm>
            <a:off x="4384397" y="2365557"/>
            <a:ext cx="1659261" cy="1320030"/>
          </a:xfrm>
          <a:prstGeom prst="roundRect">
            <a:avLst>
              <a:gd name="adj" fmla="val 0"/>
            </a:avLst>
          </a:prstGeom>
          <a:blipFill>
            <a:blip r:embed="rId5"/>
            <a:srcRect/>
            <a:stretch>
              <a:fillRect l="-10530" r="-1053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12" name="TextBox 12"/>
          <p:cNvSpPr txBox="1"/>
          <p:nvPr/>
        </p:nvSpPr>
        <p:spPr>
          <a:xfrm>
            <a:off x="6356486" y="3228411"/>
            <a:ext cx="967870" cy="923330"/>
          </a:xfrm>
          <a:prstGeom prst="rect">
            <a:avLst/>
          </a:prstGeom>
          <a:noFill/>
        </p:spPr>
        <p:txBody>
          <a:bodyPr vert="horz" wrap="none" lIns="91440" tIns="45720" rIns="91440" bIns="45720" rtlCol="0" anchor="ctr">
            <a:spAutoFit/>
          </a:bodyPr>
          <a:lstStyle/>
          <a:p>
            <a:pPr marL="0" algn="r">
              <a:defRPr/>
            </a:pPr>
            <a:r>
              <a:rPr lang="en-US" sz="5400" b="1" i="0" u="none" baseline="0">
                <a:solidFill>
                  <a:srgbClr val="778495"/>
                </a:solidFill>
                <a:latin typeface="Arial"/>
                <a:ea typeface="Arial"/>
              </a:rPr>
              <a:t>04</a:t>
            </a:r>
            <a:endParaRPr lang="en-US" sz="1100"/>
          </a:p>
        </p:txBody>
      </p:sp>
      <p:sp>
        <p:nvSpPr>
          <p:cNvPr id="13" name="AutoShape 13"/>
          <p:cNvSpPr/>
          <p:nvPr/>
        </p:nvSpPr>
        <p:spPr>
          <a:xfrm>
            <a:off x="6043658" y="4205921"/>
            <a:ext cx="2086067"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联邦学习的挑战与问题</a:t>
            </a:r>
          </a:p>
        </p:txBody>
      </p:sp>
      <p:sp>
        <p:nvSpPr>
          <p:cNvPr id="14" name="AutoShape 14"/>
          <p:cNvSpPr/>
          <p:nvPr/>
        </p:nvSpPr>
        <p:spPr>
          <a:xfrm>
            <a:off x="6258090" y="4809308"/>
            <a:ext cx="1659262" cy="1320030"/>
          </a:xfrm>
          <a:prstGeom prst="roundRect">
            <a:avLst>
              <a:gd name="adj" fmla="val 0"/>
            </a:avLst>
          </a:prstGeom>
          <a:blipFill>
            <a:blip r:embed="rId6"/>
            <a:srcRect/>
            <a:stretch>
              <a:fillRect l="-32769" r="-32769"/>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15" name="TextBox 15"/>
          <p:cNvSpPr txBox="1"/>
          <p:nvPr/>
        </p:nvSpPr>
        <p:spPr>
          <a:xfrm>
            <a:off x="8409197" y="843326"/>
            <a:ext cx="954108" cy="923330"/>
          </a:xfrm>
          <a:prstGeom prst="rect">
            <a:avLst/>
          </a:prstGeom>
          <a:noFill/>
        </p:spPr>
        <p:txBody>
          <a:bodyPr vert="horz" wrap="none" lIns="91440" tIns="45720" rIns="91440" bIns="45720" rtlCol="0" anchor="ctr">
            <a:spAutoFit/>
          </a:bodyPr>
          <a:lstStyle/>
          <a:p>
            <a:pPr marL="0" algn="r">
              <a:defRPr/>
            </a:pPr>
            <a:r>
              <a:rPr lang="en-US" sz="5400" b="1" i="0" u="none" baseline="0">
                <a:solidFill>
                  <a:srgbClr val="778495"/>
                </a:solidFill>
                <a:latin typeface="Arial"/>
                <a:ea typeface="Arial"/>
              </a:rPr>
              <a:t>05</a:t>
            </a:r>
            <a:endParaRPr lang="en-US" sz="1100"/>
          </a:p>
        </p:txBody>
      </p:sp>
      <p:sp>
        <p:nvSpPr>
          <p:cNvPr id="16" name="AutoShape 16"/>
          <p:cNvSpPr/>
          <p:nvPr/>
        </p:nvSpPr>
        <p:spPr>
          <a:xfrm>
            <a:off x="7917353" y="1631161"/>
            <a:ext cx="2192558"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联邦学习的未来趋势</a:t>
            </a:r>
          </a:p>
        </p:txBody>
      </p:sp>
      <p:sp>
        <p:nvSpPr>
          <p:cNvPr id="17" name="AutoShape 17"/>
          <p:cNvSpPr/>
          <p:nvPr/>
        </p:nvSpPr>
        <p:spPr>
          <a:xfrm>
            <a:off x="8131784" y="2327652"/>
            <a:ext cx="1659262" cy="1320030"/>
          </a:xfrm>
          <a:prstGeom prst="roundRect">
            <a:avLst>
              <a:gd name="adj" fmla="val 0"/>
            </a:avLst>
          </a:prstGeom>
          <a:blipFill>
            <a:blip r:embed="rId7"/>
            <a:srcRect/>
            <a:stretch>
              <a:fillRect l="-10620" r="-1062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18" name="TextBox 18"/>
          <p:cNvSpPr txBox="1"/>
          <p:nvPr/>
        </p:nvSpPr>
        <p:spPr>
          <a:xfrm>
            <a:off x="10134641" y="3228411"/>
            <a:ext cx="954108" cy="923330"/>
          </a:xfrm>
          <a:prstGeom prst="rect">
            <a:avLst/>
          </a:prstGeom>
          <a:noFill/>
        </p:spPr>
        <p:txBody>
          <a:bodyPr vert="horz" wrap="none" lIns="91440" tIns="45720" rIns="91440" bIns="45720" rtlCol="0" anchor="ctr">
            <a:spAutoFit/>
          </a:bodyPr>
          <a:lstStyle/>
          <a:p>
            <a:pPr marL="0" algn="r">
              <a:defRPr/>
            </a:pPr>
            <a:r>
              <a:rPr lang="en-US" sz="5400" b="1" i="0" u="none" baseline="0">
                <a:solidFill>
                  <a:srgbClr val="778495"/>
                </a:solidFill>
                <a:latin typeface="Arial"/>
                <a:ea typeface="Arial"/>
              </a:rPr>
              <a:t>06</a:t>
            </a:r>
            <a:endParaRPr lang="en-US" sz="1100"/>
          </a:p>
        </p:txBody>
      </p:sp>
      <p:sp>
        <p:nvSpPr>
          <p:cNvPr id="19" name="AutoShape 19"/>
          <p:cNvSpPr/>
          <p:nvPr/>
        </p:nvSpPr>
        <p:spPr>
          <a:xfrm>
            <a:off x="9897943" y="4240003"/>
            <a:ext cx="1620957"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总结与展望</a:t>
            </a:r>
          </a:p>
        </p:txBody>
      </p:sp>
      <p:sp>
        <p:nvSpPr>
          <p:cNvPr id="20" name="AutoShape 20"/>
          <p:cNvSpPr/>
          <p:nvPr/>
        </p:nvSpPr>
        <p:spPr>
          <a:xfrm>
            <a:off x="10005480" y="4827503"/>
            <a:ext cx="1513420" cy="1320030"/>
          </a:xfrm>
          <a:prstGeom prst="roundRect">
            <a:avLst>
              <a:gd name="adj" fmla="val 0"/>
            </a:avLst>
          </a:prstGeom>
          <a:blipFill>
            <a:blip r:embed="rId5"/>
            <a:srcRect/>
            <a:stretch>
              <a:fillRect l="-10530" r="-1053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Tree>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59568" y="2145656"/>
            <a:ext cx="8358303" cy="646331"/>
          </a:xfrm>
        </p:spPr>
        <p:txBody>
          <a:bodyPr vert="horz" wrap="square" lIns="91440" tIns="45720" rIns="91440" bIns="45720" anchor="t">
            <a:spAutoFit/>
          </a:bodyPr>
          <a:lstStyle/>
          <a:p>
            <a:pPr algn="l">
              <a:lnSpc>
                <a:spcPct val="100000"/>
              </a:lnSpc>
              <a:spcBef>
                <a:spcPct val="0"/>
              </a:spcBef>
            </a:pPr>
            <a:r>
              <a:rPr lang="en-US" sz="3600" b="1" i="0" u="none" baseline="0">
                <a:solidFill>
                  <a:srgbClr val="F0F0F0"/>
                </a:solidFill>
                <a:latin typeface="微软雅黑"/>
                <a:ea typeface="微软雅黑"/>
              </a:rPr>
              <a:t>联邦学习概述</a:t>
            </a:r>
          </a:p>
        </p:txBody>
      </p:sp>
      <p:sp>
        <p:nvSpPr>
          <p:cNvPr id="3" name="TextBox 3"/>
          <p:cNvSpPr txBox="1"/>
          <p:nvPr/>
        </p:nvSpPr>
        <p:spPr>
          <a:xfrm>
            <a:off x="894652" y="2126166"/>
            <a:ext cx="750849"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FFFFFF"/>
                </a:solidFill>
                <a:latin typeface="Arial"/>
                <a:ea typeface="Arial"/>
              </a:rPr>
              <a:t>01</a:t>
            </a:r>
            <a:endParaRPr lang="en-US" sz="1100"/>
          </a:p>
        </p:txBody>
      </p:sp>
    </p:spTree>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815741" y="1437151"/>
            <a:ext cx="2349865" cy="4692185"/>
          </a:xfrm>
          <a:prstGeom prst="roundRect">
            <a:avLst>
              <a:gd name="adj" fmla="val 9280"/>
            </a:avLst>
          </a:prstGeom>
          <a:solidFill>
            <a:schemeClr val="accent1">
              <a:alpha val="10000"/>
            </a:schemeClr>
          </a:solidFill>
          <a:ln cap="flat" cmpd="sng">
            <a:prstDash val="solid"/>
          </a:ln>
        </p:spPr>
        <p:txBody>
          <a:bodyPr vert="horz" lIns="91440" tIns="45720" rIns="91440" bIns="45720" anchor="ctr">
            <a:normAutofit/>
          </a:bodyPr>
          <a:lstStyle/>
          <a:p>
            <a:pPr marL="0" algn="ctr"/>
            <a:endParaRPr/>
          </a:p>
        </p:txBody>
      </p:sp>
      <p:sp>
        <p:nvSpPr>
          <p:cNvPr id="3" name="AutoShape 3"/>
          <p:cNvSpPr/>
          <p:nvPr/>
        </p:nvSpPr>
        <p:spPr>
          <a:xfrm>
            <a:off x="660399" y="1257151"/>
            <a:ext cx="360001" cy="360000"/>
          </a:xfrm>
          <a:prstGeom prst="round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none" lIns="0" tIns="0" rIns="0" bIns="0" anchor="ctr">
            <a:normAutofit/>
          </a:bodyPr>
          <a:lstStyle/>
          <a:p>
            <a:pPr marL="0" algn="ctr">
              <a:lnSpc>
                <a:spcPct val="120000"/>
              </a:lnSpc>
            </a:pPr>
            <a:endParaRPr/>
          </a:p>
        </p:txBody>
      </p:sp>
      <p:sp>
        <p:nvSpPr>
          <p:cNvPr id="4" name="AutoShape 4"/>
          <p:cNvSpPr/>
          <p:nvPr/>
        </p:nvSpPr>
        <p:spPr>
          <a:xfrm>
            <a:off x="3730543" y="1437151"/>
            <a:ext cx="2349865" cy="4692186"/>
          </a:xfrm>
          <a:prstGeom prst="roundRect">
            <a:avLst>
              <a:gd name="adj" fmla="val 9280"/>
            </a:avLst>
          </a:prstGeom>
          <a:solidFill>
            <a:schemeClr val="accent6">
              <a:alpha val="10000"/>
            </a:schemeClr>
          </a:solidFill>
          <a:ln cap="flat" cmpd="sng">
            <a:prstDash val="solid"/>
          </a:ln>
        </p:spPr>
        <p:txBody>
          <a:bodyPr vert="horz" lIns="91440" tIns="45720" rIns="91440" bIns="45720" anchor="ctr">
            <a:normAutofit/>
          </a:bodyPr>
          <a:lstStyle/>
          <a:p>
            <a:pPr marL="0" algn="ctr"/>
            <a:endParaRPr/>
          </a:p>
        </p:txBody>
      </p:sp>
      <p:sp>
        <p:nvSpPr>
          <p:cNvPr id="5" name="AutoShape 5"/>
          <p:cNvSpPr/>
          <p:nvPr/>
        </p:nvSpPr>
        <p:spPr>
          <a:xfrm>
            <a:off x="3575201" y="1257151"/>
            <a:ext cx="360001" cy="360000"/>
          </a:xfrm>
          <a:prstGeom prst="roundRect">
            <a:avLst/>
          </a:prstGeom>
          <a:gradFill>
            <a:gsLst>
              <a:gs pos="0">
                <a:srgbClr val="800012">
                  <a:lumMod val="60000"/>
                  <a:lumOff val="40000"/>
                </a:srgbClr>
              </a:gs>
              <a:gs pos="60000">
                <a:srgbClr val="800012"/>
              </a:gs>
            </a:gsLst>
            <a:lin ang="2700000"/>
          </a:gradFill>
          <a:ln cap="rnd" cmpd="sng">
            <a:prstDash val="solid"/>
          </a:ln>
          <a:effectLst>
            <a:outerShdw blurRad="76200" dist="50800" dir="5400000" algn="ctr" rotWithShape="0">
              <a:schemeClr val="accent6">
                <a:alpha val="20000"/>
              </a:schemeClr>
            </a:outerShdw>
          </a:effectLst>
        </p:spPr>
        <p:txBody>
          <a:bodyPr rot="0" vert="horz" wrap="none" lIns="0" tIns="0" rIns="0" bIns="0" anchor="ctr">
            <a:normAutofit/>
          </a:bodyPr>
          <a:lstStyle/>
          <a:p>
            <a:pPr marL="0" algn="ctr">
              <a:lnSpc>
                <a:spcPct val="120000"/>
              </a:lnSpc>
            </a:pPr>
            <a:endParaRPr/>
          </a:p>
        </p:txBody>
      </p:sp>
      <p:sp>
        <p:nvSpPr>
          <p:cNvPr id="6" name="AutoShape 6"/>
          <p:cNvSpPr/>
          <p:nvPr/>
        </p:nvSpPr>
        <p:spPr>
          <a:xfrm>
            <a:off x="6645345" y="1437151"/>
            <a:ext cx="2349865" cy="4692187"/>
          </a:xfrm>
          <a:prstGeom prst="roundRect">
            <a:avLst>
              <a:gd name="adj" fmla="val 9280"/>
            </a:avLst>
          </a:prstGeom>
          <a:solidFill>
            <a:schemeClr val="accent3">
              <a:alpha val="10000"/>
            </a:schemeClr>
          </a:solidFill>
          <a:ln cap="flat" cmpd="sng">
            <a:prstDash val="solid"/>
          </a:ln>
        </p:spPr>
        <p:txBody>
          <a:bodyPr vert="horz" lIns="91440" tIns="45720" rIns="91440" bIns="45720" anchor="ctr">
            <a:normAutofit/>
          </a:bodyPr>
          <a:lstStyle/>
          <a:p>
            <a:pPr marL="0" algn="ctr"/>
            <a:endParaRPr/>
          </a:p>
        </p:txBody>
      </p:sp>
      <p:sp>
        <p:nvSpPr>
          <p:cNvPr id="7" name="AutoShape 7"/>
          <p:cNvSpPr/>
          <p:nvPr/>
        </p:nvSpPr>
        <p:spPr>
          <a:xfrm>
            <a:off x="6490003" y="1257151"/>
            <a:ext cx="360001" cy="360000"/>
          </a:xfrm>
          <a:prstGeom prst="roundRect">
            <a:avLst/>
          </a:prstGeom>
          <a:gradFill>
            <a:gsLst>
              <a:gs pos="0">
                <a:srgbClr val="0F99FF">
                  <a:lumMod val="60000"/>
                  <a:lumOff val="40000"/>
                </a:srgbClr>
              </a:gs>
              <a:gs pos="60000">
                <a:srgbClr val="0F99FF"/>
              </a:gs>
            </a:gsLst>
            <a:lin ang="2700000"/>
          </a:gradFill>
          <a:ln cap="rnd" cmpd="sng">
            <a:prstDash val="solid"/>
          </a:ln>
          <a:effectLst>
            <a:outerShdw blurRad="76200" dist="50800" dir="5400000" algn="ctr" rotWithShape="0">
              <a:schemeClr val="accent3">
                <a:alpha val="20000"/>
              </a:schemeClr>
            </a:outerShdw>
          </a:effectLst>
        </p:spPr>
        <p:txBody>
          <a:bodyPr rot="0" vert="horz" wrap="none" lIns="0" tIns="0" rIns="0" bIns="0" anchor="ctr">
            <a:normAutofit/>
          </a:bodyPr>
          <a:lstStyle/>
          <a:p>
            <a:pPr marL="0" algn="ctr">
              <a:lnSpc>
                <a:spcPct val="120000"/>
              </a:lnSpc>
            </a:pPr>
            <a:endParaRPr/>
          </a:p>
        </p:txBody>
      </p:sp>
      <p:sp>
        <p:nvSpPr>
          <p:cNvPr id="8" name="AutoShape 8"/>
          <p:cNvSpPr/>
          <p:nvPr/>
        </p:nvSpPr>
        <p:spPr>
          <a:xfrm>
            <a:off x="9150552" y="1188973"/>
            <a:ext cx="2349865" cy="4940365"/>
          </a:xfrm>
          <a:prstGeom prst="roundRect">
            <a:avLst>
              <a:gd name="adj" fmla="val 7022"/>
            </a:avLst>
          </a:prstGeom>
          <a:blipFill>
            <a:blip r:embed="rId3"/>
            <a:srcRect/>
            <a:stretch>
              <a:fillRect l="-32198" r="-61456"/>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9" name="AutoShape 9"/>
          <p:cNvSpPr/>
          <p:nvPr/>
        </p:nvSpPr>
        <p:spPr>
          <a:xfrm>
            <a:off x="843141" y="1782619"/>
            <a:ext cx="2221897"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定义和背景</a:t>
            </a:r>
          </a:p>
        </p:txBody>
      </p:sp>
      <p:sp>
        <p:nvSpPr>
          <p:cNvPr id="10" name="AutoShape 10"/>
          <p:cNvSpPr/>
          <p:nvPr/>
        </p:nvSpPr>
        <p:spPr>
          <a:xfrm>
            <a:off x="839003" y="2503107"/>
            <a:ext cx="2221897" cy="2639184"/>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联邦学习是一种新兴的机器学习方法，允许在不同的设备或数据源上进行模型训练，而无需集中存储数据。这种方法应对了隐私保护和数据安全的挑战，并在多个领域表现出巨大的潜力。</a:t>
            </a:r>
          </a:p>
        </p:txBody>
      </p:sp>
      <p:sp>
        <p:nvSpPr>
          <p:cNvPr id="11" name="AutoShape 11"/>
          <p:cNvSpPr/>
          <p:nvPr/>
        </p:nvSpPr>
        <p:spPr>
          <a:xfrm>
            <a:off x="3746312" y="1782619"/>
            <a:ext cx="2221897"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发展历程</a:t>
            </a:r>
          </a:p>
        </p:txBody>
      </p:sp>
      <p:sp>
        <p:nvSpPr>
          <p:cNvPr id="12" name="AutoShape 12"/>
          <p:cNvSpPr/>
          <p:nvPr/>
        </p:nvSpPr>
        <p:spPr>
          <a:xfrm>
            <a:off x="3742174" y="2503107"/>
            <a:ext cx="2221897" cy="2639184"/>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联邦学习的概念最早在2016年提出，起初主要应用于移动设备的个性化推荐服务。随着AI和数据隐私法案的不断发展，联邦学习逐渐扩展至医疗、金融等众多领域，形成了一个多元化的生态系统。</a:t>
            </a:r>
          </a:p>
        </p:txBody>
      </p:sp>
      <p:sp>
        <p:nvSpPr>
          <p:cNvPr id="13" name="AutoShape 13"/>
          <p:cNvSpPr/>
          <p:nvPr/>
        </p:nvSpPr>
        <p:spPr>
          <a:xfrm>
            <a:off x="6645344" y="1782619"/>
            <a:ext cx="2221897"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与传统机器学习的比较</a:t>
            </a:r>
          </a:p>
        </p:txBody>
      </p:sp>
      <p:sp>
        <p:nvSpPr>
          <p:cNvPr id="14" name="AutoShape 14"/>
          <p:cNvSpPr/>
          <p:nvPr/>
        </p:nvSpPr>
        <p:spPr>
          <a:xfrm>
            <a:off x="6641206" y="2503107"/>
            <a:ext cx="2221897" cy="2639184"/>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相较于传统机器学习需要将数据集中处理，联邦学习通过在数据源处进行训练，大大增强数据隐私保护。此外，联邦学习能够利用分布式资源，有效降低数据传输的成本。</a:t>
            </a:r>
          </a:p>
        </p:txBody>
      </p:sp>
      <p:sp>
        <p:nvSpPr>
          <p:cNvPr id="15" name="AutoShape 15"/>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mn-ea"/>
                <a:ea typeface="+mn-ea"/>
              </a:rPr>
              <a:t>什么是联邦学习</a:t>
            </a:r>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1457943" y="1471070"/>
            <a:ext cx="7557486" cy="1390057"/>
          </a:xfrm>
          <a:prstGeom prst="roundRect">
            <a:avLst>
              <a:gd name="adj" fmla="val 3500"/>
            </a:avLst>
          </a:prstGeom>
          <a:solidFill>
            <a:srgbClr val="000000">
              <a:alpha val="5000"/>
              <a:lumMod val="95000"/>
              <a:lumOff val="5000"/>
            </a:srgbClr>
          </a:solid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3" name="TextBox 3"/>
          <p:cNvSpPr txBox="1"/>
          <p:nvPr/>
        </p:nvSpPr>
        <p:spPr>
          <a:xfrm>
            <a:off x="2203099" y="1991245"/>
            <a:ext cx="6812330"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联邦学习通过在本地生成模型更新，而不传输原始数据，确保了用户隐私。这样即便是参与方也无法侵犯其他参与方的私人数据。</a:t>
            </a:r>
            <a:endParaRPr lang="en-US" sz="1100"/>
          </a:p>
        </p:txBody>
      </p:sp>
      <p:sp>
        <p:nvSpPr>
          <p:cNvPr id="4" name="TextBox 4"/>
          <p:cNvSpPr txBox="1"/>
          <p:nvPr/>
        </p:nvSpPr>
        <p:spPr>
          <a:xfrm>
            <a:off x="2203099" y="1638137"/>
            <a:ext cx="6812330" cy="338554"/>
          </a:xfrm>
          <a:prstGeom prst="rect">
            <a:avLst/>
          </a:prstGeom>
          <a:noFill/>
        </p:spPr>
        <p:txBody>
          <a:bodyPr vert="horz" wrap="square" lIns="91440" tIns="45720" rIns="91440" bIns="45720" rtlCol="0" anchor="b">
            <a:spAutoFit/>
          </a:bodyPr>
          <a:lstStyle/>
          <a:p>
            <a:pPr marL="0" algn="l">
              <a:lnSpc>
                <a:spcPct val="100000"/>
              </a:lnSpc>
              <a:defRPr/>
            </a:pPr>
            <a:r>
              <a:rPr lang="zh-CN" altLang="en-US" sz="1600" b="1" i="0" u="none" baseline="0">
                <a:solidFill>
                  <a:schemeClr val="accent4"/>
                </a:solidFill>
                <a:latin typeface="微软雅黑"/>
                <a:ea typeface="微软雅黑"/>
              </a:rPr>
              <a:t>数据隐私保护</a:t>
            </a:r>
            <a:endParaRPr lang="en-US" sz="1100"/>
          </a:p>
        </p:txBody>
      </p:sp>
      <p:grpSp>
        <p:nvGrpSpPr>
          <p:cNvPr id="5" name="Group 5"/>
          <p:cNvGrpSpPr/>
          <p:nvPr/>
        </p:nvGrpSpPr>
        <p:grpSpPr>
          <a:xfrm>
            <a:off x="889102" y="1604342"/>
            <a:ext cx="1123514" cy="1123512"/>
            <a:chOff x="5801161" y="2030507"/>
            <a:chExt cx="900002" cy="900000"/>
          </a:xfrm>
        </p:grpSpPr>
        <p:sp>
          <p:nvSpPr>
            <p:cNvPr id="6" name="AutoShape 6"/>
            <p:cNvSpPr/>
            <p:nvPr/>
          </p:nvSpPr>
          <p:spPr>
            <a:xfrm>
              <a:off x="5801161" y="2030507"/>
              <a:ext cx="900002" cy="900000"/>
            </a:xfrm>
            <a:prstGeom prst="ellipse">
              <a:avLst/>
            </a:prstGeom>
            <a:solidFill>
              <a:srgbClr val="000000">
                <a:alpha val="10000"/>
                <a:lumMod val="50000"/>
                <a:lumOff val="50000"/>
              </a:srgbClr>
            </a:solidFill>
            <a:ln cap="flat" cmpd="sng">
              <a:prstDash val="solid"/>
            </a:ln>
          </p:spPr>
          <p:txBody>
            <a:bodyPr vert="horz" lIns="91440" tIns="45720" rIns="91440" bIns="45720" anchor="ctr">
              <a:normAutofit/>
            </a:bodyPr>
            <a:lstStyle/>
            <a:p>
              <a:pPr marL="0" algn="ctr"/>
              <a:endParaRPr/>
            </a:p>
          </p:txBody>
        </p:sp>
        <p:grpSp>
          <p:nvGrpSpPr>
            <p:cNvPr id="7" name="Group 7"/>
            <p:cNvGrpSpPr/>
            <p:nvPr/>
          </p:nvGrpSpPr>
          <p:grpSpPr>
            <a:xfrm>
              <a:off x="5981164" y="2210507"/>
              <a:ext cx="540001" cy="540000"/>
              <a:chOff x="3495616" y="1637616"/>
              <a:chExt cx="444222" cy="444220"/>
            </a:xfrm>
          </p:grpSpPr>
          <p:sp>
            <p:nvSpPr>
              <p:cNvPr id="8" name="AutoShape 8"/>
              <p:cNvSpPr/>
              <p:nvPr/>
            </p:nvSpPr>
            <p:spPr>
              <a:xfrm>
                <a:off x="3495616" y="1637616"/>
                <a:ext cx="444222" cy="444220"/>
              </a:xfrm>
              <a:prstGeom prst="ellipse">
                <a:avLst/>
              </a:prstGeom>
              <a:gradFill>
                <a:gsLst>
                  <a:gs pos="0">
                    <a:srgbClr val="006BE2">
                      <a:lumMod val="60000"/>
                      <a:lumOff val="40000"/>
                    </a:srgbClr>
                  </a:gs>
                  <a:gs pos="60000">
                    <a:srgbClr val="006BE2"/>
                  </a:gs>
                </a:gsLst>
                <a:lin ang="2700000"/>
              </a:gradFill>
              <a:ln cap="rnd" cmpd="sng">
                <a:prstDash val="solid"/>
              </a:ln>
              <a:effectLst>
                <a:outerShdw blurRad="76200" dist="50800" dir="5400000" algn="ctr" rotWithShape="0">
                  <a:schemeClr val="accent4">
                    <a:alpha val="20000"/>
                  </a:schemeClr>
                </a:outerShdw>
              </a:effectLst>
            </p:spPr>
            <p:txBody>
              <a:bodyPr rot="0" vert="horz" wrap="square" lIns="91440" tIns="45720" rIns="91440" bIns="45720" anchor="ctr">
                <a:normAutofit/>
              </a:bodyPr>
              <a:lstStyle/>
              <a:p>
                <a:pPr marL="0" algn="ctr"/>
                <a:endParaRPr/>
              </a:p>
            </p:txBody>
          </p:sp>
          <p:sp>
            <p:nvSpPr>
              <p:cNvPr id="9" name="Freeform 9"/>
              <p:cNvSpPr/>
              <p:nvPr/>
            </p:nvSpPr>
            <p:spPr>
              <a:xfrm>
                <a:off x="3614946" y="1789643"/>
                <a:ext cx="205561" cy="163687"/>
              </a:xfrm>
              <a:custGeom>
                <a:avLst/>
                <a:gdLst/>
                <a:ahLst/>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p:spPr>
            <p:txBody>
              <a:bodyPr vert="horz" lIns="91440" tIns="45720" rIns="91440" bIns="45720" anchor="t">
                <a:normAutofit/>
              </a:bodyPr>
              <a:lstStyle/>
              <a:p>
                <a:pPr marL="0" algn="l"/>
                <a:endParaRPr/>
              </a:p>
            </p:txBody>
          </p:sp>
        </p:grpSp>
      </p:grpSp>
      <p:sp>
        <p:nvSpPr>
          <p:cNvPr id="10" name="AutoShape 10"/>
          <p:cNvSpPr/>
          <p:nvPr/>
        </p:nvSpPr>
        <p:spPr>
          <a:xfrm>
            <a:off x="1457943" y="5149360"/>
            <a:ext cx="7557486" cy="1390057"/>
          </a:xfrm>
          <a:prstGeom prst="roundRect">
            <a:avLst>
              <a:gd name="adj" fmla="val 3500"/>
            </a:avLst>
          </a:prstGeom>
          <a:solidFill>
            <a:srgbClr val="000000">
              <a:alpha val="5000"/>
              <a:lumMod val="95000"/>
              <a:lumOff val="5000"/>
            </a:srgbClr>
          </a:solid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11" name="AutoShape 11"/>
          <p:cNvSpPr/>
          <p:nvPr/>
        </p:nvSpPr>
        <p:spPr>
          <a:xfrm>
            <a:off x="1460134" y="3183205"/>
            <a:ext cx="7557486" cy="1390057"/>
          </a:xfrm>
          <a:prstGeom prst="roundRect">
            <a:avLst>
              <a:gd name="adj" fmla="val 3500"/>
            </a:avLst>
          </a:prstGeom>
          <a:solidFill>
            <a:srgbClr val="000000">
              <a:alpha val="5000"/>
              <a:lumMod val="95000"/>
              <a:lumOff val="5000"/>
            </a:srgbClr>
          </a:solid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12" name="AutoShape 12"/>
          <p:cNvSpPr/>
          <p:nvPr/>
        </p:nvSpPr>
        <p:spPr>
          <a:xfrm>
            <a:off x="898410" y="3324992"/>
            <a:ext cx="1123514" cy="1123512"/>
          </a:xfrm>
          <a:prstGeom prst="ellipse">
            <a:avLst/>
          </a:prstGeom>
          <a:solidFill>
            <a:srgbClr val="000000">
              <a:alpha val="10000"/>
              <a:lumMod val="50000"/>
              <a:lumOff val="50000"/>
            </a:srgbClr>
          </a:solidFill>
          <a:ln cap="flat" cmpd="sng">
            <a:prstDash val="solid"/>
          </a:ln>
        </p:spPr>
        <p:txBody>
          <a:bodyPr vert="horz" lIns="91440" tIns="45720" rIns="91440" bIns="45720" anchor="ctr">
            <a:normAutofit/>
          </a:bodyPr>
          <a:lstStyle/>
          <a:p>
            <a:pPr marL="0" algn="ctr"/>
            <a:endParaRPr/>
          </a:p>
        </p:txBody>
      </p:sp>
      <p:sp>
        <p:nvSpPr>
          <p:cNvPr id="13" name="AutoShape 13"/>
          <p:cNvSpPr/>
          <p:nvPr/>
        </p:nvSpPr>
        <p:spPr>
          <a:xfrm>
            <a:off x="1123116" y="3549694"/>
            <a:ext cx="674108" cy="674107"/>
          </a:xfrm>
          <a:prstGeom prst="ellipse">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square" lIns="91440" tIns="45720" rIns="91440" bIns="45720" anchor="ctr">
            <a:normAutofit/>
          </a:bodyPr>
          <a:lstStyle/>
          <a:p>
            <a:pPr marL="0" algn="ctr"/>
            <a:endParaRPr/>
          </a:p>
        </p:txBody>
      </p:sp>
      <p:sp>
        <p:nvSpPr>
          <p:cNvPr id="14" name="Freeform 14"/>
          <p:cNvSpPr/>
          <p:nvPr/>
        </p:nvSpPr>
        <p:spPr>
          <a:xfrm>
            <a:off x="1304200" y="3756894"/>
            <a:ext cx="311939" cy="259693"/>
          </a:xfrm>
          <a:custGeom>
            <a:avLst/>
            <a:gdLst/>
            <a:ahLst/>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p:spPr>
        <p:txBody>
          <a:bodyPr vert="horz" lIns="91440" tIns="45720" rIns="91440" bIns="45720" anchor="t">
            <a:normAutofit/>
          </a:bodyPr>
          <a:lstStyle/>
          <a:p>
            <a:pPr marL="0" algn="l"/>
            <a:endParaRPr/>
          </a:p>
        </p:txBody>
      </p:sp>
      <p:sp>
        <p:nvSpPr>
          <p:cNvPr id="15" name="AutoShape 15"/>
          <p:cNvSpPr/>
          <p:nvPr/>
        </p:nvSpPr>
        <p:spPr>
          <a:xfrm>
            <a:off x="898376" y="5282633"/>
            <a:ext cx="1130122" cy="1130119"/>
          </a:xfrm>
          <a:prstGeom prst="ellipse">
            <a:avLst/>
          </a:prstGeom>
          <a:solidFill>
            <a:srgbClr val="000000">
              <a:alpha val="10000"/>
              <a:lumMod val="50000"/>
              <a:lumOff val="50000"/>
            </a:srgbClr>
          </a:solidFill>
          <a:ln cap="flat" cmpd="sng">
            <a:prstDash val="solid"/>
          </a:ln>
        </p:spPr>
        <p:txBody>
          <a:bodyPr vert="horz" lIns="91440" tIns="45720" rIns="91440" bIns="45720" anchor="ctr">
            <a:normAutofit/>
          </a:bodyPr>
          <a:lstStyle/>
          <a:p>
            <a:pPr marL="0" algn="ctr"/>
            <a:endParaRPr/>
          </a:p>
        </p:txBody>
      </p:sp>
      <p:grpSp>
        <p:nvGrpSpPr>
          <p:cNvPr id="16" name="Group 16"/>
          <p:cNvGrpSpPr/>
          <p:nvPr/>
        </p:nvGrpSpPr>
        <p:grpSpPr>
          <a:xfrm>
            <a:off x="1124407" y="5508657"/>
            <a:ext cx="678073" cy="678071"/>
            <a:chOff x="5101620" y="1637616"/>
            <a:chExt cx="444222" cy="444220"/>
          </a:xfrm>
        </p:grpSpPr>
        <p:sp>
          <p:nvSpPr>
            <p:cNvPr id="17" name="AutoShape 17"/>
            <p:cNvSpPr/>
            <p:nvPr/>
          </p:nvSpPr>
          <p:spPr>
            <a:xfrm>
              <a:off x="5101620" y="1637616"/>
              <a:ext cx="444222" cy="444220"/>
            </a:xfrm>
            <a:prstGeom prst="ellipse">
              <a:avLst/>
            </a:prstGeom>
            <a:gradFill>
              <a:gsLst>
                <a:gs pos="0">
                  <a:srgbClr val="800012">
                    <a:lumMod val="60000"/>
                    <a:lumOff val="40000"/>
                  </a:srgbClr>
                </a:gs>
                <a:gs pos="60000">
                  <a:srgbClr val="800012"/>
                </a:gs>
              </a:gsLst>
              <a:lin ang="2700000"/>
            </a:gradFill>
            <a:ln cap="rnd" cmpd="sng">
              <a:prstDash val="solid"/>
            </a:ln>
            <a:effectLst>
              <a:outerShdw blurRad="76200" dist="50800" dir="5400000" algn="ctr" rotWithShape="0">
                <a:schemeClr val="accent6">
                  <a:alpha val="20000"/>
                </a:schemeClr>
              </a:outerShdw>
            </a:effectLst>
          </p:spPr>
          <p:txBody>
            <a:bodyPr rot="0" vert="horz" wrap="square" lIns="91440" tIns="45720" rIns="91440" bIns="45720" anchor="ctr">
              <a:normAutofit/>
            </a:bodyPr>
            <a:lstStyle/>
            <a:p>
              <a:pPr marL="0" algn="ctr"/>
              <a:endParaRPr/>
            </a:p>
          </p:txBody>
        </p:sp>
        <p:sp>
          <p:nvSpPr>
            <p:cNvPr id="18" name="Freeform 18"/>
            <p:cNvSpPr/>
            <p:nvPr/>
          </p:nvSpPr>
          <p:spPr>
            <a:xfrm>
              <a:off x="5239304" y="1756946"/>
              <a:ext cx="168853" cy="205561"/>
            </a:xfrm>
            <a:custGeom>
              <a:avLst/>
              <a:gdLst/>
              <a:ahLst/>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p:spPr>
          <p:txBody>
            <a:bodyPr vert="horz" lIns="91440" tIns="45720" rIns="91440" bIns="45720" anchor="t">
              <a:normAutofit/>
            </a:bodyPr>
            <a:lstStyle/>
            <a:p>
              <a:pPr marL="0" algn="l"/>
              <a:endParaRPr/>
            </a:p>
          </p:txBody>
        </p:sp>
      </p:grpSp>
      <p:sp>
        <p:nvSpPr>
          <p:cNvPr id="19" name="TextBox 19"/>
          <p:cNvSpPr txBox="1"/>
          <p:nvPr/>
        </p:nvSpPr>
        <p:spPr>
          <a:xfrm>
            <a:off x="2203099" y="3551714"/>
            <a:ext cx="6812330"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由于训练负责分散在多个客户端上，联邦学习能够利用每个设备的计算能力，减少对中心服务器的依赖，实现更高效的资源利用。</a:t>
            </a:r>
            <a:endParaRPr lang="en-US" sz="1100"/>
          </a:p>
        </p:txBody>
      </p:sp>
      <p:sp>
        <p:nvSpPr>
          <p:cNvPr id="20" name="TextBox 20"/>
          <p:cNvSpPr txBox="1"/>
          <p:nvPr/>
        </p:nvSpPr>
        <p:spPr>
          <a:xfrm>
            <a:off x="2203099" y="3198606"/>
            <a:ext cx="6812330" cy="338554"/>
          </a:xfrm>
          <a:prstGeom prst="rect">
            <a:avLst/>
          </a:prstGeom>
          <a:noFill/>
        </p:spPr>
        <p:txBody>
          <a:bodyPr vert="horz" wrap="square" lIns="91440" tIns="45720" rIns="91440" bIns="45720" rtlCol="0" anchor="b">
            <a:spAutoFit/>
          </a:bodyPr>
          <a:lstStyle/>
          <a:p>
            <a:pPr marL="0" algn="l">
              <a:lnSpc>
                <a:spcPct val="100000"/>
              </a:lnSpc>
              <a:defRPr/>
            </a:pPr>
            <a:r>
              <a:rPr lang="zh-CN" altLang="en-US" sz="1600" b="1" i="0" u="none" baseline="0">
                <a:solidFill>
                  <a:schemeClr val="accent4"/>
                </a:solidFill>
                <a:latin typeface="微软雅黑"/>
                <a:ea typeface="微软雅黑"/>
              </a:rPr>
              <a:t>资源高效利用</a:t>
            </a:r>
            <a:endParaRPr lang="en-US" sz="1100"/>
          </a:p>
        </p:txBody>
      </p:sp>
      <p:sp>
        <p:nvSpPr>
          <p:cNvPr id="21" name="TextBox 21"/>
          <p:cNvSpPr txBox="1"/>
          <p:nvPr/>
        </p:nvSpPr>
        <p:spPr>
          <a:xfrm>
            <a:off x="2238663" y="5503880"/>
            <a:ext cx="6812330"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联邦学习实现了数据源之间的模型共享，通过聚合本地模型参数，参与者共同提升模型性能，有效促进了合作与知识共享。</a:t>
            </a:r>
            <a:endParaRPr lang="en-US" sz="1100"/>
          </a:p>
        </p:txBody>
      </p:sp>
      <p:sp>
        <p:nvSpPr>
          <p:cNvPr id="22" name="TextBox 22"/>
          <p:cNvSpPr txBox="1"/>
          <p:nvPr/>
        </p:nvSpPr>
        <p:spPr>
          <a:xfrm>
            <a:off x="2238663" y="5150772"/>
            <a:ext cx="6812330" cy="338554"/>
          </a:xfrm>
          <a:prstGeom prst="rect">
            <a:avLst/>
          </a:prstGeom>
          <a:noFill/>
        </p:spPr>
        <p:txBody>
          <a:bodyPr vert="horz" wrap="square" lIns="91440" tIns="45720" rIns="91440" bIns="45720" rtlCol="0" anchor="b">
            <a:spAutoFit/>
          </a:bodyPr>
          <a:lstStyle/>
          <a:p>
            <a:pPr marL="0" algn="l">
              <a:lnSpc>
                <a:spcPct val="100000"/>
              </a:lnSpc>
              <a:defRPr/>
            </a:pPr>
            <a:r>
              <a:rPr lang="zh-CN" altLang="en-US" sz="1600" b="1" i="0" u="none" baseline="0">
                <a:solidFill>
                  <a:schemeClr val="accent4"/>
                </a:solidFill>
                <a:latin typeface="微软雅黑"/>
                <a:ea typeface="微软雅黑"/>
              </a:rPr>
              <a:t>模型共享机制</a:t>
            </a:r>
            <a:endParaRPr lang="en-US" sz="1100"/>
          </a:p>
        </p:txBody>
      </p:sp>
      <p:sp>
        <p:nvSpPr>
          <p:cNvPr id="23" name="AutoShape 23"/>
          <p:cNvSpPr/>
          <p:nvPr/>
        </p:nvSpPr>
        <p:spPr>
          <a:xfrm>
            <a:off x="9225594" y="2069039"/>
            <a:ext cx="2843035" cy="3467782"/>
          </a:xfrm>
          <a:prstGeom prst="roundRect">
            <a:avLst>
              <a:gd name="adj" fmla="val 7022"/>
            </a:avLst>
          </a:prstGeom>
          <a:blipFill>
            <a:blip r:embed="rId3"/>
            <a:srcRect/>
            <a:stretch>
              <a:fillRect l="-52559" r="-52559"/>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24" name="AutoShape 24"/>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mn-ea"/>
                <a:ea typeface="+mn-ea"/>
              </a:rPr>
              <a:t>主要特点</a:t>
            </a:r>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59568" y="2145656"/>
            <a:ext cx="8358303" cy="646331"/>
          </a:xfrm>
        </p:spPr>
        <p:txBody>
          <a:bodyPr vert="horz" wrap="square" lIns="91440" tIns="45720" rIns="91440" bIns="45720" anchor="t">
            <a:spAutoFit/>
          </a:bodyPr>
          <a:lstStyle/>
          <a:p>
            <a:pPr algn="l">
              <a:lnSpc>
                <a:spcPct val="100000"/>
              </a:lnSpc>
              <a:spcBef>
                <a:spcPct val="0"/>
              </a:spcBef>
            </a:pPr>
            <a:r>
              <a:rPr lang="en-US" sz="3600" b="1" i="0" u="none" baseline="0">
                <a:solidFill>
                  <a:srgbClr val="F0F0F0"/>
                </a:solidFill>
                <a:latin typeface="微软雅黑"/>
                <a:ea typeface="微软雅黑"/>
              </a:rPr>
              <a:t>联邦学习的工作原理</a:t>
            </a:r>
          </a:p>
        </p:txBody>
      </p:sp>
      <p:sp>
        <p:nvSpPr>
          <p:cNvPr id="3" name="TextBox 3"/>
          <p:cNvSpPr txBox="1"/>
          <p:nvPr/>
        </p:nvSpPr>
        <p:spPr>
          <a:xfrm>
            <a:off x="894652" y="2126166"/>
            <a:ext cx="750849"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FFFFFF"/>
                </a:solidFill>
                <a:latin typeface="Arial"/>
                <a:ea typeface="Arial"/>
              </a:rPr>
              <a:t>02</a:t>
            </a:r>
            <a:endParaRPr lang="en-US" sz="1100"/>
          </a:p>
        </p:txBody>
      </p:sp>
    </p:spTree>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660400" y="1709599"/>
            <a:ext cx="410200" cy="410198"/>
          </a:xfrm>
          <a:prstGeom prst="round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square" lIns="91440" tIns="45720" rIns="91440" bIns="45720" anchor="ctr">
            <a:normAutofit/>
          </a:bodyPr>
          <a:lstStyle/>
          <a:p>
            <a:pPr marL="0" algn="ctr"/>
            <a:endParaRPr/>
          </a:p>
        </p:txBody>
      </p:sp>
      <p:sp>
        <p:nvSpPr>
          <p:cNvPr id="3" name="Freeform 3"/>
          <p:cNvSpPr/>
          <p:nvPr/>
        </p:nvSpPr>
        <p:spPr>
          <a:xfrm>
            <a:off x="776500" y="1847948"/>
            <a:ext cx="178001" cy="133500"/>
          </a:xfrm>
          <a:custGeom>
            <a:avLst/>
            <a:gdLst/>
            <a:ahLst/>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sp>
        <p:nvSpPr>
          <p:cNvPr id="4" name="AutoShape 4"/>
          <p:cNvSpPr/>
          <p:nvPr/>
        </p:nvSpPr>
        <p:spPr>
          <a:xfrm>
            <a:off x="3273342" y="1735225"/>
            <a:ext cx="410200" cy="410198"/>
          </a:xfrm>
          <a:prstGeom prst="roundRect">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square" lIns="91440" tIns="45720" rIns="91440" bIns="45720" anchor="ctr">
            <a:normAutofit/>
          </a:bodyPr>
          <a:lstStyle/>
          <a:p>
            <a:pPr marL="0" algn="ctr"/>
            <a:endParaRPr/>
          </a:p>
        </p:txBody>
      </p:sp>
      <p:sp>
        <p:nvSpPr>
          <p:cNvPr id="5" name="Freeform 5"/>
          <p:cNvSpPr/>
          <p:nvPr/>
        </p:nvSpPr>
        <p:spPr>
          <a:xfrm>
            <a:off x="3397249" y="1857673"/>
            <a:ext cx="162386" cy="178001"/>
          </a:xfrm>
          <a:custGeom>
            <a:avLst/>
            <a:gdLst/>
            <a:ahLst/>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sp>
        <p:nvSpPr>
          <p:cNvPr id="6" name="AutoShape 6"/>
          <p:cNvSpPr/>
          <p:nvPr/>
        </p:nvSpPr>
        <p:spPr>
          <a:xfrm>
            <a:off x="5801899" y="1727722"/>
            <a:ext cx="410200" cy="410198"/>
          </a:xfrm>
          <a:prstGeom prst="roundRect">
            <a:avLst/>
          </a:prstGeom>
          <a:gradFill>
            <a:gsLst>
              <a:gs pos="0">
                <a:srgbClr val="0F99FF">
                  <a:lumMod val="60000"/>
                  <a:lumOff val="40000"/>
                </a:srgbClr>
              </a:gs>
              <a:gs pos="60000">
                <a:srgbClr val="0F99FF"/>
              </a:gs>
            </a:gsLst>
            <a:lin ang="2700000"/>
          </a:gradFill>
          <a:ln cap="rnd" cmpd="sng">
            <a:prstDash val="solid"/>
          </a:ln>
          <a:effectLst>
            <a:outerShdw blurRad="76200" dist="50800" dir="5400000" algn="ctr" rotWithShape="0">
              <a:schemeClr val="accent3">
                <a:alpha val="20000"/>
              </a:schemeClr>
            </a:outerShdw>
          </a:effectLst>
        </p:spPr>
        <p:txBody>
          <a:bodyPr rot="0" vert="horz" wrap="square" lIns="91440" tIns="45720" rIns="91440" bIns="45720" anchor="ctr">
            <a:normAutofit/>
          </a:bodyPr>
          <a:lstStyle/>
          <a:p>
            <a:pPr marL="0" algn="ctr"/>
            <a:endParaRPr/>
          </a:p>
        </p:txBody>
      </p:sp>
      <p:sp>
        <p:nvSpPr>
          <p:cNvPr id="7" name="Freeform 7"/>
          <p:cNvSpPr/>
          <p:nvPr/>
        </p:nvSpPr>
        <p:spPr>
          <a:xfrm>
            <a:off x="5917999" y="1861901"/>
            <a:ext cx="178001" cy="148188"/>
          </a:xfrm>
          <a:custGeom>
            <a:avLst/>
            <a:gdLst/>
            <a:ahLst/>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cxnSp>
        <p:nvCxnSpPr>
          <p:cNvPr id="8" name="Connector 8"/>
          <p:cNvCxnSpPr/>
          <p:nvPr/>
        </p:nvCxnSpPr>
        <p:spPr>
          <a:xfrm>
            <a:off x="1244638" y="1996136"/>
            <a:ext cx="914400" cy="0"/>
          </a:xfrm>
          <a:prstGeom prst="straightConnector1">
            <a:avLst/>
          </a:prstGeom>
          <a:ln w="6350" cap="flat" cmpd="sng">
            <a:solidFill>
              <a:srgbClr val="000000">
                <a:alpha val="15000"/>
                <a:lumMod val="50000"/>
                <a:lumOff val="50000"/>
              </a:srgbClr>
            </a:solidFill>
            <a:prstDash val="solid"/>
            <a:tailEnd type="triangle"/>
          </a:ln>
        </p:spPr>
      </p:cxnSp>
      <p:cxnSp>
        <p:nvCxnSpPr>
          <p:cNvPr id="9" name="Connector 9"/>
          <p:cNvCxnSpPr/>
          <p:nvPr/>
        </p:nvCxnSpPr>
        <p:spPr>
          <a:xfrm>
            <a:off x="3774789" y="1981895"/>
            <a:ext cx="914400" cy="0"/>
          </a:xfrm>
          <a:prstGeom prst="straightConnector1">
            <a:avLst/>
          </a:prstGeom>
          <a:ln w="6350" cap="flat" cmpd="sng">
            <a:solidFill>
              <a:srgbClr val="000000">
                <a:alpha val="15000"/>
                <a:lumMod val="50000"/>
                <a:lumOff val="50000"/>
              </a:srgbClr>
            </a:solidFill>
            <a:prstDash val="solid"/>
            <a:tailEnd type="triangle"/>
          </a:ln>
        </p:spPr>
      </p:cxnSp>
      <p:sp>
        <p:nvSpPr>
          <p:cNvPr id="10" name="AutoShape 10"/>
          <p:cNvSpPr/>
          <p:nvPr/>
        </p:nvSpPr>
        <p:spPr>
          <a:xfrm>
            <a:off x="8142330" y="2015096"/>
            <a:ext cx="3233942" cy="3173897"/>
          </a:xfrm>
          <a:prstGeom prst="roundRect">
            <a:avLst>
              <a:gd name="adj" fmla="val 6000"/>
            </a:avLst>
          </a:prstGeom>
          <a:blipFill>
            <a:blip r:embed="rId3"/>
            <a:srcRect/>
            <a:stretch>
              <a:fillRect l="-23440" r="-23440"/>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11" name="AutoShape 11"/>
          <p:cNvSpPr/>
          <p:nvPr/>
        </p:nvSpPr>
        <p:spPr>
          <a:xfrm>
            <a:off x="10943950" y="4748911"/>
            <a:ext cx="572022" cy="572019"/>
          </a:xfrm>
          <a:prstGeom prst="round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square" lIns="91440" tIns="45720" rIns="91440" bIns="45720" anchor="ctr">
            <a:normAutofit/>
          </a:bodyPr>
          <a:lstStyle/>
          <a:p>
            <a:pPr marL="0" algn="ctr"/>
            <a:endParaRPr/>
          </a:p>
        </p:txBody>
      </p:sp>
      <p:sp>
        <p:nvSpPr>
          <p:cNvPr id="12" name="AutoShape 12"/>
          <p:cNvSpPr/>
          <p:nvPr/>
        </p:nvSpPr>
        <p:spPr>
          <a:xfrm>
            <a:off x="676028" y="2261182"/>
            <a:ext cx="1928914"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000000"/>
                </a:solidFill>
                <a:latin typeface="微软雅黑"/>
                <a:ea typeface="微软雅黑"/>
              </a:rPr>
              <a:t>数据分布</a:t>
            </a:r>
          </a:p>
        </p:txBody>
      </p:sp>
      <p:sp>
        <p:nvSpPr>
          <p:cNvPr id="13" name="AutoShape 13"/>
          <p:cNvSpPr/>
          <p:nvPr/>
        </p:nvSpPr>
        <p:spPr>
          <a:xfrm>
            <a:off x="671890" y="2988401"/>
            <a:ext cx="1928914" cy="2639184"/>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在联邦学习中，数据保持在设备或用户的本地，不需要上传至中心。这种方式维护了数据的分散性，有助于隐私保护和减少带宽使用。</a:t>
            </a:r>
          </a:p>
        </p:txBody>
      </p:sp>
      <p:sp>
        <p:nvSpPr>
          <p:cNvPr id="14" name="AutoShape 14"/>
          <p:cNvSpPr/>
          <p:nvPr/>
        </p:nvSpPr>
        <p:spPr>
          <a:xfrm>
            <a:off x="3199902" y="2261182"/>
            <a:ext cx="1928914"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000000"/>
                </a:solidFill>
                <a:latin typeface="微软雅黑"/>
                <a:ea typeface="微软雅黑"/>
              </a:rPr>
              <a:t>本地训练</a:t>
            </a:r>
          </a:p>
        </p:txBody>
      </p:sp>
      <p:sp>
        <p:nvSpPr>
          <p:cNvPr id="15" name="AutoShape 15"/>
          <p:cNvSpPr/>
          <p:nvPr/>
        </p:nvSpPr>
        <p:spPr>
          <a:xfrm>
            <a:off x="3195764" y="2988401"/>
            <a:ext cx="1928914" cy="2639184"/>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每个客户端根据本地数据进行模型训练。训练过程中，只需更新本地模型的参数，避免敏感数据的传递，增强了安全性。</a:t>
            </a:r>
          </a:p>
        </p:txBody>
      </p:sp>
      <p:sp>
        <p:nvSpPr>
          <p:cNvPr id="16" name="AutoShape 16"/>
          <p:cNvSpPr/>
          <p:nvPr/>
        </p:nvSpPr>
        <p:spPr>
          <a:xfrm>
            <a:off x="5669047" y="2261182"/>
            <a:ext cx="1928914"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000000"/>
                </a:solidFill>
                <a:latin typeface="微软雅黑"/>
                <a:ea typeface="微软雅黑"/>
              </a:rPr>
              <a:t>模型聚合</a:t>
            </a:r>
          </a:p>
        </p:txBody>
      </p:sp>
      <p:sp>
        <p:nvSpPr>
          <p:cNvPr id="17" name="AutoShape 17"/>
          <p:cNvSpPr/>
          <p:nvPr/>
        </p:nvSpPr>
        <p:spPr>
          <a:xfrm>
            <a:off x="5664909" y="2988401"/>
            <a:ext cx="1928914" cy="2639184"/>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中心服务器收集并聚合来自各个客户端的模型更新，而不是数据本身。这一过程通常涉及加权平均，以融合各个模型的优点并生成全局模型。</a:t>
            </a:r>
          </a:p>
        </p:txBody>
      </p:sp>
      <p:sp>
        <p:nvSpPr>
          <p:cNvPr id="18" name="AutoShape 18"/>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mn-ea"/>
                <a:ea typeface="+mn-ea"/>
              </a:rPr>
              <a:t>基本流程</a:t>
            </a: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1052283" y="1143359"/>
            <a:ext cx="10344728" cy="1856254"/>
          </a:xfrm>
          <a:prstGeom prst="roundRect">
            <a:avLst>
              <a:gd name="adj" fmla="val 0"/>
            </a:avLst>
          </a:prstGeom>
          <a:blipFill>
            <a:blip r:embed="rId3"/>
            <a:srcRect/>
            <a:stretch>
              <a:fillRect t="-75949" b="-75949"/>
            </a:stretch>
          </a:blipFill>
          <a:ln cap="flat">
            <a:prstDash val="solid"/>
          </a:ln>
        </p:spPr>
        <p:txBody>
          <a:bodyPr vert="horz" lIns="91440" tIns="45720" rIns="91440" bIns="45720" anchor="ctr">
            <a:normAutofit/>
          </a:bodyPr>
          <a:lstStyle/>
          <a:p>
            <a:pPr marL="0" algn="ctr"/>
            <a:endParaRPr/>
          </a:p>
        </p:txBody>
      </p:sp>
      <p:grpSp>
        <p:nvGrpSpPr>
          <p:cNvPr id="3" name="Group 3"/>
          <p:cNvGrpSpPr/>
          <p:nvPr/>
        </p:nvGrpSpPr>
        <p:grpSpPr>
          <a:xfrm>
            <a:off x="1052283" y="3038347"/>
            <a:ext cx="410200" cy="410198"/>
            <a:chOff x="3526795" y="4024421"/>
            <a:chExt cx="410200" cy="410198"/>
          </a:xfrm>
        </p:grpSpPr>
        <p:sp>
          <p:nvSpPr>
            <p:cNvPr id="4" name="AutoShape 4"/>
            <p:cNvSpPr/>
            <p:nvPr/>
          </p:nvSpPr>
          <p:spPr>
            <a:xfrm>
              <a:off x="3526795" y="4024421"/>
              <a:ext cx="410200" cy="410198"/>
            </a:xfrm>
            <a:prstGeom prst="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square" lIns="91440" tIns="45720" rIns="91440" bIns="45720" anchor="ctr">
              <a:normAutofit/>
            </a:bodyPr>
            <a:lstStyle/>
            <a:p>
              <a:pPr marL="0" algn="ctr"/>
              <a:endParaRPr/>
            </a:p>
          </p:txBody>
        </p:sp>
        <p:sp>
          <p:nvSpPr>
            <p:cNvPr id="5" name="Freeform 5"/>
            <p:cNvSpPr/>
            <p:nvPr/>
          </p:nvSpPr>
          <p:spPr>
            <a:xfrm>
              <a:off x="3642895" y="4162770"/>
              <a:ext cx="178001" cy="133500"/>
            </a:xfrm>
            <a:custGeom>
              <a:avLst/>
              <a:gdLst/>
              <a:ahLst/>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grpSp>
      <p:sp>
        <p:nvSpPr>
          <p:cNvPr id="6" name="AutoShape 6"/>
          <p:cNvSpPr/>
          <p:nvPr/>
        </p:nvSpPr>
        <p:spPr>
          <a:xfrm>
            <a:off x="5047075" y="3038347"/>
            <a:ext cx="410200" cy="410198"/>
          </a:xfrm>
          <a:prstGeom prst="rect">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square" lIns="91440" tIns="45720" rIns="91440" bIns="45720" anchor="ctr">
            <a:normAutofit/>
          </a:bodyPr>
          <a:lstStyle/>
          <a:p>
            <a:pPr marL="0" algn="ctr"/>
            <a:endParaRPr/>
          </a:p>
        </p:txBody>
      </p:sp>
      <p:sp>
        <p:nvSpPr>
          <p:cNvPr id="7" name="Freeform 7"/>
          <p:cNvSpPr/>
          <p:nvPr/>
        </p:nvSpPr>
        <p:spPr>
          <a:xfrm>
            <a:off x="4628877" y="3493894"/>
            <a:ext cx="162386" cy="178001"/>
          </a:xfrm>
          <a:custGeom>
            <a:avLst/>
            <a:gdLst/>
            <a:ahLst/>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sp>
        <p:nvSpPr>
          <p:cNvPr id="8" name="AutoShape 8"/>
          <p:cNvSpPr/>
          <p:nvPr/>
        </p:nvSpPr>
        <p:spPr>
          <a:xfrm>
            <a:off x="9002678" y="3038347"/>
            <a:ext cx="410200" cy="410198"/>
          </a:xfrm>
          <a:prstGeom prst="rect">
            <a:avLst/>
          </a:prstGeom>
          <a:gradFill>
            <a:gsLst>
              <a:gs pos="0">
                <a:srgbClr val="0F99FF">
                  <a:lumMod val="60000"/>
                  <a:lumOff val="40000"/>
                </a:srgbClr>
              </a:gs>
              <a:gs pos="60000">
                <a:srgbClr val="0F99FF"/>
              </a:gs>
            </a:gsLst>
            <a:lin ang="2700000"/>
          </a:gradFill>
          <a:ln cap="rnd" cmpd="sng">
            <a:prstDash val="solid"/>
          </a:ln>
          <a:effectLst>
            <a:outerShdw blurRad="76200" dist="50800" dir="5400000" algn="ctr" rotWithShape="0">
              <a:schemeClr val="accent3">
                <a:alpha val="20000"/>
              </a:schemeClr>
            </a:outerShdw>
          </a:effectLst>
        </p:spPr>
        <p:txBody>
          <a:bodyPr rot="0" vert="horz" wrap="square" lIns="91440" tIns="45720" rIns="91440" bIns="45720" anchor="ctr">
            <a:normAutofit/>
          </a:bodyPr>
          <a:lstStyle/>
          <a:p>
            <a:pPr marL="0" algn="ctr"/>
            <a:endParaRPr/>
          </a:p>
        </p:txBody>
      </p:sp>
      <p:sp>
        <p:nvSpPr>
          <p:cNvPr id="9" name="Freeform 9"/>
          <p:cNvSpPr/>
          <p:nvPr/>
        </p:nvSpPr>
        <p:spPr>
          <a:xfrm>
            <a:off x="8465640" y="3505625"/>
            <a:ext cx="178001" cy="148188"/>
          </a:xfrm>
          <a:custGeom>
            <a:avLst/>
            <a:gdLst/>
            <a:ahLst/>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sp>
        <p:nvSpPr>
          <p:cNvPr id="10" name="AutoShape 10"/>
          <p:cNvSpPr>
            <a:spLocks noGrp="1"/>
          </p:cNvSpPr>
          <p:nvPr>
            <p:ph type="title"/>
          </p:nvPr>
        </p:nvSpPr>
        <p:spPr>
          <a:xfrm>
            <a:off x="660399" y="0"/>
            <a:ext cx="10858500" cy="1028700"/>
          </a:xfrm>
        </p:spPr>
        <p:txBody>
          <a:bodyPr vert="horz" wrap="square" lIns="91440" tIns="45720" rIns="91440" bIns="45720" anchor="b">
            <a:normAutofit/>
          </a:bodyPr>
          <a:lstStyle/>
          <a:p>
            <a:pPr algn="l">
              <a:lnSpc>
                <a:spcPct val="100000"/>
              </a:lnSpc>
              <a:spcBef>
                <a:spcPct val="0"/>
              </a:spcBef>
            </a:pPr>
            <a:r>
              <a:rPr lang="en-US" sz="2800" b="1" i="0" u="none" baseline="0">
                <a:solidFill>
                  <a:srgbClr val="000000"/>
                </a:solidFill>
                <a:latin typeface="微软雅黑"/>
                <a:ea typeface="微软雅黑"/>
              </a:rPr>
              <a:t>系统架构</a:t>
            </a:r>
          </a:p>
        </p:txBody>
      </p:sp>
      <p:sp>
        <p:nvSpPr>
          <p:cNvPr id="11" name="TextBox 11"/>
          <p:cNvSpPr txBox="1"/>
          <p:nvPr/>
        </p:nvSpPr>
        <p:spPr>
          <a:xfrm>
            <a:off x="912993" y="4077132"/>
            <a:ext cx="2646877" cy="2639184"/>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ln/>
                <a:solidFill>
                  <a:srgbClr val="000000"/>
                </a:solidFill>
                <a:latin typeface="微软雅黑"/>
                <a:ea typeface="微软雅黑"/>
              </a:rPr>
              <a:t>中心服务器在联邦学习中负责协调和聚合各客户端的模型更新。它不存储原始数据，仅在聚合模型时发挥关键作用。</a:t>
            </a:r>
            <a:endParaRPr lang="en-US" sz="1100"/>
          </a:p>
        </p:txBody>
      </p:sp>
      <p:sp>
        <p:nvSpPr>
          <p:cNvPr id="12" name="TextBox 12"/>
          <p:cNvSpPr txBox="1"/>
          <p:nvPr/>
        </p:nvSpPr>
        <p:spPr>
          <a:xfrm>
            <a:off x="912993" y="3545359"/>
            <a:ext cx="2646878" cy="338554"/>
          </a:xfrm>
          <a:prstGeom prst="rect">
            <a:avLst/>
          </a:prstGeom>
          <a:noFill/>
        </p:spPr>
        <p:txBody>
          <a:bodyPr vert="horz" wrap="non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中心服务器</a:t>
            </a:r>
            <a:endParaRPr lang="en-US" sz="1100"/>
          </a:p>
        </p:txBody>
      </p:sp>
      <p:sp>
        <p:nvSpPr>
          <p:cNvPr id="13" name="TextBox 13"/>
          <p:cNvSpPr txBox="1"/>
          <p:nvPr/>
        </p:nvSpPr>
        <p:spPr>
          <a:xfrm>
            <a:off x="4904527" y="4077132"/>
            <a:ext cx="2646878" cy="2639184"/>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ln/>
                <a:solidFill>
                  <a:srgbClr val="000000"/>
                </a:solidFill>
                <a:latin typeface="微软雅黑"/>
                <a:ea typeface="微软雅黑"/>
              </a:rPr>
              <a:t>客户端是参与学习的设备或系统，负责在本地进行训练并将更新发送至中心服务器。每个客户端的数据和计算能力为联邦学习提供了丰富的资源。</a:t>
            </a:r>
            <a:endParaRPr lang="en-US" sz="1100"/>
          </a:p>
        </p:txBody>
      </p:sp>
      <p:sp>
        <p:nvSpPr>
          <p:cNvPr id="14" name="TextBox 14"/>
          <p:cNvSpPr txBox="1"/>
          <p:nvPr/>
        </p:nvSpPr>
        <p:spPr>
          <a:xfrm>
            <a:off x="4904527" y="3545359"/>
            <a:ext cx="2646878" cy="338554"/>
          </a:xfrm>
          <a:prstGeom prst="rect">
            <a:avLst/>
          </a:prstGeom>
          <a:noFill/>
        </p:spPr>
        <p:txBody>
          <a:bodyPr vert="horz" wrap="non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客户端角色</a:t>
            </a:r>
            <a:endParaRPr lang="en-US" sz="1100"/>
          </a:p>
        </p:txBody>
      </p:sp>
      <p:sp>
        <p:nvSpPr>
          <p:cNvPr id="15" name="TextBox 15"/>
          <p:cNvSpPr txBox="1"/>
          <p:nvPr/>
        </p:nvSpPr>
        <p:spPr>
          <a:xfrm>
            <a:off x="8884723" y="4060996"/>
            <a:ext cx="2646878" cy="2639184"/>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ln/>
                <a:solidFill>
                  <a:srgbClr val="000000"/>
                </a:solidFill>
                <a:latin typeface="微软雅黑"/>
                <a:ea typeface="微软雅黑"/>
              </a:rPr>
              <a:t>在联邦学习中，通信主要在客户端与中心服务器之间进行，通常采用一种高效且安全的协议，如安全多方计算（SMPC），来保护模型更新的私密性。</a:t>
            </a:r>
            <a:endParaRPr lang="en-US" sz="1100"/>
          </a:p>
        </p:txBody>
      </p:sp>
      <p:sp>
        <p:nvSpPr>
          <p:cNvPr id="16" name="TextBox 16"/>
          <p:cNvSpPr txBox="1"/>
          <p:nvPr/>
        </p:nvSpPr>
        <p:spPr>
          <a:xfrm>
            <a:off x="8884723" y="3545359"/>
            <a:ext cx="2646878" cy="338554"/>
          </a:xfrm>
          <a:prstGeom prst="rect">
            <a:avLst/>
          </a:prstGeom>
          <a:noFill/>
        </p:spPr>
        <p:txBody>
          <a:bodyPr vert="horz" wrap="non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通信机制</a:t>
            </a:r>
            <a:endParaRPr lang="en-US" sz="1100"/>
          </a:p>
        </p:txBody>
      </p:sp>
    </p:spTree>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59568" y="2145656"/>
            <a:ext cx="8358303" cy="646331"/>
          </a:xfrm>
        </p:spPr>
        <p:txBody>
          <a:bodyPr vert="horz" wrap="square" lIns="91440" tIns="45720" rIns="91440" bIns="45720" anchor="t">
            <a:spAutoFit/>
          </a:bodyPr>
          <a:lstStyle/>
          <a:p>
            <a:pPr algn="l">
              <a:lnSpc>
                <a:spcPct val="100000"/>
              </a:lnSpc>
              <a:spcBef>
                <a:spcPct val="0"/>
              </a:spcBef>
            </a:pPr>
            <a:r>
              <a:rPr lang="en-US" sz="3600" b="1" i="0" u="none" baseline="0">
                <a:solidFill>
                  <a:srgbClr val="F0F0F0"/>
                </a:solidFill>
                <a:latin typeface="微软雅黑"/>
                <a:ea typeface="微软雅黑"/>
              </a:rPr>
              <a:t>联邦学习的应用场景</a:t>
            </a:r>
          </a:p>
        </p:txBody>
      </p:sp>
      <p:sp>
        <p:nvSpPr>
          <p:cNvPr id="3" name="TextBox 3"/>
          <p:cNvSpPr txBox="1"/>
          <p:nvPr/>
        </p:nvSpPr>
        <p:spPr>
          <a:xfrm>
            <a:off x="894652" y="2126166"/>
            <a:ext cx="750849"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FFFFFF"/>
                </a:solidFill>
                <a:latin typeface="Arial"/>
                <a:ea typeface="Arial"/>
              </a:rPr>
              <a:t>03</a:t>
            </a:r>
            <a:endParaRPr lang="en-US" sz="1100"/>
          </a:p>
        </p:txBody>
      </p:sp>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Connector 2"/>
          <p:cNvCxnSpPr/>
          <p:nvPr/>
        </p:nvCxnSpPr>
        <p:spPr>
          <a:xfrm>
            <a:off x="6974352" y="2060103"/>
            <a:ext cx="2364458" cy="0"/>
          </a:xfrm>
          <a:prstGeom prst="straightConnector1">
            <a:avLst/>
          </a:prstGeom>
          <a:ln w="28575" cap="rnd" cmpd="sng">
            <a:gradFill>
              <a:gsLst>
                <a:gs pos="20000">
                  <a:srgbClr val="000000">
                    <a:alpha val="20000"/>
                    <a:lumMod val="50000"/>
                    <a:lumOff val="50000"/>
                  </a:srgbClr>
                </a:gs>
                <a:gs pos="100000">
                  <a:srgbClr val="000000">
                    <a:alpha val="0"/>
                    <a:lumMod val="50000"/>
                    <a:lumOff val="50000"/>
                  </a:srgbClr>
                </a:gs>
              </a:gsLst>
            </a:gradFill>
            <a:prstDash val="solid"/>
            <a:headEnd w="sm" len="sm"/>
            <a:tailEnd len="sm"/>
          </a:ln>
        </p:spPr>
      </p:cxnSp>
      <p:cxnSp>
        <p:nvCxnSpPr>
          <p:cNvPr id="3" name="Connector 3"/>
          <p:cNvCxnSpPr/>
          <p:nvPr/>
        </p:nvCxnSpPr>
        <p:spPr>
          <a:xfrm flipH="1">
            <a:off x="3142560" y="2060103"/>
            <a:ext cx="2353198" cy="0"/>
          </a:xfrm>
          <a:prstGeom prst="straightConnector1">
            <a:avLst/>
          </a:prstGeom>
          <a:ln w="28575" cap="rnd" cmpd="sng">
            <a:gradFill>
              <a:gsLst>
                <a:gs pos="20000">
                  <a:srgbClr val="000000">
                    <a:alpha val="20000"/>
                    <a:lumMod val="50000"/>
                    <a:lumOff val="50000"/>
                  </a:srgbClr>
                </a:gs>
                <a:gs pos="100000">
                  <a:srgbClr val="000000">
                    <a:alpha val="0"/>
                    <a:lumMod val="50000"/>
                    <a:lumOff val="50000"/>
                  </a:srgbClr>
                </a:gs>
              </a:gsLst>
            </a:gradFill>
            <a:prstDash val="solid"/>
            <a:headEnd w="sm" len="sm"/>
            <a:tailEnd len="sm"/>
          </a:ln>
        </p:spPr>
      </p:cxnSp>
      <p:sp>
        <p:nvSpPr>
          <p:cNvPr id="4" name="Freeform 4"/>
          <p:cNvSpPr/>
          <p:nvPr/>
        </p:nvSpPr>
        <p:spPr>
          <a:xfrm>
            <a:off x="5318507" y="1028700"/>
            <a:ext cx="1661232" cy="1395537"/>
          </a:xfrm>
          <a:custGeom>
            <a:avLst/>
            <a:gdLst/>
            <a:ahLst/>
            <a:cxnLst/>
            <a:rect l="l" t="t" r="r" b="b"/>
            <a:pathLst>
              <a:path w="603122" h="506660">
                <a:moveTo>
                  <a:pt x="449184" y="255729"/>
                </a:moveTo>
                <a:cubicBezTo>
                  <a:pt x="461461" y="255729"/>
                  <a:pt x="471377" y="265629"/>
                  <a:pt x="471377" y="277887"/>
                </a:cubicBezTo>
                <a:lnTo>
                  <a:pt x="471377" y="484220"/>
                </a:lnTo>
                <a:cubicBezTo>
                  <a:pt x="471377" y="496478"/>
                  <a:pt x="461461" y="506378"/>
                  <a:pt x="449184" y="506378"/>
                </a:cubicBezTo>
                <a:cubicBezTo>
                  <a:pt x="436907" y="506378"/>
                  <a:pt x="426991" y="496478"/>
                  <a:pt x="426991" y="484220"/>
                </a:cubicBezTo>
                <a:lnTo>
                  <a:pt x="426991" y="277887"/>
                </a:lnTo>
                <a:cubicBezTo>
                  <a:pt x="426991" y="265629"/>
                  <a:pt x="436907" y="255729"/>
                  <a:pt x="449184" y="255729"/>
                </a:cubicBezTo>
                <a:close/>
                <a:moveTo>
                  <a:pt x="153938" y="255729"/>
                </a:moveTo>
                <a:cubicBezTo>
                  <a:pt x="166215" y="255729"/>
                  <a:pt x="176131" y="265629"/>
                  <a:pt x="176131" y="277887"/>
                </a:cubicBezTo>
                <a:lnTo>
                  <a:pt x="176131" y="484220"/>
                </a:lnTo>
                <a:cubicBezTo>
                  <a:pt x="176131" y="496478"/>
                  <a:pt x="166215" y="506378"/>
                  <a:pt x="153938" y="506378"/>
                </a:cubicBezTo>
                <a:cubicBezTo>
                  <a:pt x="141661" y="506378"/>
                  <a:pt x="131745" y="496478"/>
                  <a:pt x="131745" y="484220"/>
                </a:cubicBezTo>
                <a:lnTo>
                  <a:pt x="131745" y="277887"/>
                </a:lnTo>
                <a:cubicBezTo>
                  <a:pt x="131745" y="265629"/>
                  <a:pt x="141661" y="255729"/>
                  <a:pt x="153938" y="255729"/>
                </a:cubicBezTo>
                <a:close/>
                <a:moveTo>
                  <a:pt x="301561" y="0"/>
                </a:moveTo>
                <a:cubicBezTo>
                  <a:pt x="441796" y="0"/>
                  <a:pt x="556062" y="113464"/>
                  <a:pt x="558423" y="253801"/>
                </a:cubicBezTo>
                <a:cubicBezTo>
                  <a:pt x="584235" y="261502"/>
                  <a:pt x="603122" y="286018"/>
                  <a:pt x="603122" y="315091"/>
                </a:cubicBezTo>
                <a:lnTo>
                  <a:pt x="603122" y="442856"/>
                </a:lnTo>
                <a:cubicBezTo>
                  <a:pt x="603122" y="478058"/>
                  <a:pt x="575421" y="506660"/>
                  <a:pt x="541268" y="506660"/>
                </a:cubicBezTo>
                <a:lnTo>
                  <a:pt x="492319" y="506660"/>
                </a:lnTo>
                <a:lnTo>
                  <a:pt x="492319" y="262916"/>
                </a:lnTo>
                <a:cubicBezTo>
                  <a:pt x="492004" y="261345"/>
                  <a:pt x="491847" y="259773"/>
                  <a:pt x="491847" y="258202"/>
                </a:cubicBezTo>
                <a:cubicBezTo>
                  <a:pt x="491847" y="152595"/>
                  <a:pt x="406383" y="66633"/>
                  <a:pt x="301561" y="66633"/>
                </a:cubicBezTo>
                <a:cubicBezTo>
                  <a:pt x="196581" y="66633"/>
                  <a:pt x="111118" y="152595"/>
                  <a:pt x="111118" y="258202"/>
                </a:cubicBezTo>
                <a:cubicBezTo>
                  <a:pt x="111118" y="259459"/>
                  <a:pt x="110960" y="260559"/>
                  <a:pt x="110803" y="261816"/>
                </a:cubicBezTo>
                <a:lnTo>
                  <a:pt x="110803" y="506660"/>
                </a:lnTo>
                <a:lnTo>
                  <a:pt x="61855" y="506660"/>
                </a:lnTo>
                <a:cubicBezTo>
                  <a:pt x="27701" y="506660"/>
                  <a:pt x="0" y="478058"/>
                  <a:pt x="0" y="442856"/>
                </a:cubicBezTo>
                <a:lnTo>
                  <a:pt x="0" y="315091"/>
                </a:lnTo>
                <a:cubicBezTo>
                  <a:pt x="0" y="286018"/>
                  <a:pt x="18729" y="261659"/>
                  <a:pt x="44542" y="253801"/>
                </a:cubicBezTo>
                <a:cubicBezTo>
                  <a:pt x="46902" y="113464"/>
                  <a:pt x="161168" y="0"/>
                  <a:pt x="301561" y="0"/>
                </a:cubicBezTo>
                <a:close/>
              </a:path>
            </a:pathLst>
          </a:custGeom>
          <a:gradFill>
            <a:gsLst>
              <a:gs pos="0">
                <a:srgbClr val="0F99FF">
                  <a:lumMod val="60000"/>
                  <a:lumOff val="40000"/>
                </a:srgbClr>
              </a:gs>
              <a:gs pos="60000">
                <a:srgbClr val="0F99FF"/>
              </a:gs>
            </a:gsLst>
            <a:lin ang="2700000"/>
          </a:gradFill>
          <a:ln cap="rnd" cmpd="sng">
            <a:prstDash val="solid"/>
          </a:ln>
          <a:effectLst>
            <a:outerShdw blurRad="76200" dist="50800" dir="5400000" algn="ctr" rotWithShape="0">
              <a:schemeClr val="accent3">
                <a:alpha val="20000"/>
              </a:schemeClr>
            </a:outerShdw>
          </a:effectLst>
        </p:spPr>
        <p:txBody>
          <a:bodyPr rot="0" vert="horz" wrap="square" lIns="91440" tIns="45720" rIns="91440" bIns="45720" anchor="ctr">
            <a:normAutofit/>
          </a:bodyPr>
          <a:lstStyle/>
          <a:p>
            <a:pPr marL="0" algn="ctr"/>
            <a:endParaRPr/>
          </a:p>
        </p:txBody>
      </p:sp>
      <p:grpSp>
        <p:nvGrpSpPr>
          <p:cNvPr id="5" name="Group 5"/>
          <p:cNvGrpSpPr/>
          <p:nvPr/>
        </p:nvGrpSpPr>
        <p:grpSpPr>
          <a:xfrm>
            <a:off x="8928610" y="1855004"/>
            <a:ext cx="410200" cy="410198"/>
            <a:chOff x="6362386" y="3130100"/>
            <a:chExt cx="410200" cy="410198"/>
          </a:xfrm>
        </p:grpSpPr>
        <p:sp>
          <p:nvSpPr>
            <p:cNvPr id="6" name="AutoShape 6"/>
            <p:cNvSpPr/>
            <p:nvPr/>
          </p:nvSpPr>
          <p:spPr>
            <a:xfrm>
              <a:off x="6362386" y="3130100"/>
              <a:ext cx="410200" cy="410198"/>
            </a:xfrm>
            <a:prstGeom prst="roundRect">
              <a:avLst/>
            </a:prstGeom>
            <a:gradFill>
              <a:gsLst>
                <a:gs pos="0">
                  <a:srgbClr val="006BE2">
                    <a:lumMod val="60000"/>
                    <a:lumOff val="40000"/>
                  </a:srgbClr>
                </a:gs>
                <a:gs pos="60000">
                  <a:srgbClr val="006BE2"/>
                </a:gs>
              </a:gsLst>
              <a:lin ang="2700000"/>
            </a:gradFill>
            <a:ln cap="rnd" cmpd="sng">
              <a:prstDash val="solid"/>
            </a:ln>
            <a:effectLst>
              <a:outerShdw blurRad="76200" dist="50800" dir="5400000" algn="ctr" rotWithShape="0">
                <a:schemeClr val="accent4">
                  <a:alpha val="20000"/>
                </a:schemeClr>
              </a:outerShdw>
            </a:effectLst>
          </p:spPr>
          <p:txBody>
            <a:bodyPr rot="0" vert="horz" wrap="square" lIns="91440" tIns="45720" rIns="91440" bIns="45720" anchor="ctr">
              <a:normAutofit/>
            </a:bodyPr>
            <a:lstStyle/>
            <a:p>
              <a:pPr marL="0" algn="ctr"/>
              <a:endParaRPr/>
            </a:p>
          </p:txBody>
        </p:sp>
        <p:sp>
          <p:nvSpPr>
            <p:cNvPr id="7" name="Freeform 7"/>
            <p:cNvSpPr/>
            <p:nvPr/>
          </p:nvSpPr>
          <p:spPr>
            <a:xfrm>
              <a:off x="6478486" y="3270678"/>
              <a:ext cx="178001" cy="141741"/>
            </a:xfrm>
            <a:custGeom>
              <a:avLst/>
              <a:gdLst/>
              <a:ahLst/>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grpSp>
      <p:grpSp>
        <p:nvGrpSpPr>
          <p:cNvPr id="8" name="Group 8"/>
          <p:cNvGrpSpPr/>
          <p:nvPr/>
        </p:nvGrpSpPr>
        <p:grpSpPr>
          <a:xfrm>
            <a:off x="2959436" y="1855004"/>
            <a:ext cx="410200" cy="410198"/>
            <a:chOff x="3526795" y="3130100"/>
            <a:chExt cx="410200" cy="410198"/>
          </a:xfrm>
        </p:grpSpPr>
        <p:sp>
          <p:nvSpPr>
            <p:cNvPr id="9" name="AutoShape 9"/>
            <p:cNvSpPr/>
            <p:nvPr/>
          </p:nvSpPr>
          <p:spPr>
            <a:xfrm>
              <a:off x="3526795" y="3130100"/>
              <a:ext cx="410200" cy="410198"/>
            </a:xfrm>
            <a:prstGeom prst="round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square" lIns="91440" tIns="45720" rIns="91440" bIns="45720" anchor="ctr">
              <a:normAutofit/>
            </a:bodyPr>
            <a:lstStyle/>
            <a:p>
              <a:pPr marL="0" algn="ctr"/>
              <a:endParaRPr/>
            </a:p>
          </p:txBody>
        </p:sp>
        <p:sp>
          <p:nvSpPr>
            <p:cNvPr id="10" name="Freeform 10"/>
            <p:cNvSpPr/>
            <p:nvPr/>
          </p:nvSpPr>
          <p:spPr>
            <a:xfrm>
              <a:off x="3642895" y="3268449"/>
              <a:ext cx="178001" cy="133500"/>
            </a:xfrm>
            <a:custGeom>
              <a:avLst/>
              <a:gdLst/>
              <a:ahLst/>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grpSp>
      <p:sp>
        <p:nvSpPr>
          <p:cNvPr id="11" name="AutoShape 11"/>
          <p:cNvSpPr/>
          <p:nvPr/>
        </p:nvSpPr>
        <p:spPr>
          <a:xfrm>
            <a:off x="1694385" y="2470301"/>
            <a:ext cx="3169136"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应用优势</a:t>
            </a:r>
          </a:p>
        </p:txBody>
      </p:sp>
      <p:sp>
        <p:nvSpPr>
          <p:cNvPr id="12" name="AutoShape 12"/>
          <p:cNvSpPr/>
          <p:nvPr/>
        </p:nvSpPr>
        <p:spPr>
          <a:xfrm>
            <a:off x="1690247" y="3243039"/>
            <a:ext cx="3169136" cy="1669688"/>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医疗数据常常涉及敏感信息，联邦学习能够在保护患者隐私的前提下，提高疾病预测和个性化治疗的效果，实现多个机构间的合作共享。</a:t>
            </a:r>
          </a:p>
        </p:txBody>
      </p:sp>
      <p:sp>
        <p:nvSpPr>
          <p:cNvPr id="13" name="AutoShape 13"/>
          <p:cNvSpPr/>
          <p:nvPr/>
        </p:nvSpPr>
        <p:spPr>
          <a:xfrm>
            <a:off x="7600189" y="2464967"/>
            <a:ext cx="3169136"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案例示范</a:t>
            </a:r>
          </a:p>
        </p:txBody>
      </p:sp>
      <p:sp>
        <p:nvSpPr>
          <p:cNvPr id="14" name="AutoShape 14"/>
          <p:cNvSpPr/>
          <p:nvPr/>
        </p:nvSpPr>
        <p:spPr>
          <a:xfrm>
            <a:off x="7596051" y="3237705"/>
            <a:ext cx="3169136" cy="1669688"/>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例如，一些医院利用联邦学习共同训练疾病预测模型，整合不同地区的病例数据，避免数据合规风险，提升了诊断精度。</a:t>
            </a:r>
          </a:p>
        </p:txBody>
      </p:sp>
      <p:sp>
        <p:nvSpPr>
          <p:cNvPr id="15" name="AutoShape 15"/>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医疗健康数据</a:t>
            </a:r>
          </a:p>
        </p:txBody>
      </p:sp>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3632289" y="1739591"/>
            <a:ext cx="4319239" cy="4334106"/>
          </a:xfrm>
          <a:prstGeom prst="roundRect">
            <a:avLst/>
          </a:prstGeom>
          <a:solidFill>
            <a:schemeClr val="accent2">
              <a:alpha val="10000"/>
            </a:schemeClr>
          </a:solidFill>
          <a:ln w="12700" cap="rnd" cmpd="sng">
            <a:gradFill>
              <a:gsLst>
                <a:gs pos="0">
                  <a:srgbClr val="002880"/>
                </a:gs>
                <a:gs pos="100000">
                  <a:srgbClr val="002880">
                    <a:alpha val="20000"/>
                    <a:lumMod val="60000"/>
                    <a:lumOff val="40000"/>
                  </a:srgbClr>
                </a:gs>
              </a:gsLst>
              <a:lin ang="2700000"/>
            </a:gradFill>
            <a:prstDash val="solid"/>
          </a:ln>
        </p:spPr>
        <p:txBody>
          <a:bodyPr rot="0" vert="horz" wrap="square" lIns="91440" tIns="45720" rIns="91440" bIns="45720" anchor="ctr">
            <a:noAutofit/>
          </a:bodyPr>
          <a:lstStyle/>
          <a:p>
            <a:pPr marL="0" algn="ctr"/>
            <a:endParaRPr/>
          </a:p>
        </p:txBody>
      </p:sp>
      <p:sp>
        <p:nvSpPr>
          <p:cNvPr id="3" name="AutoShape 3"/>
          <p:cNvSpPr/>
          <p:nvPr/>
        </p:nvSpPr>
        <p:spPr>
          <a:xfrm>
            <a:off x="468350" y="1107687"/>
            <a:ext cx="4319239" cy="4334107"/>
          </a:xfrm>
          <a:prstGeom prst="roundRect">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none" lIns="91440" tIns="45720" rIns="91440" bIns="45720" anchor="ctr">
            <a:noAutofit/>
          </a:bodyPr>
          <a:lstStyle/>
          <a:p>
            <a:pPr marL="0" algn="ctr"/>
            <a:endParaRPr/>
          </a:p>
        </p:txBody>
      </p:sp>
      <p:sp>
        <p:nvSpPr>
          <p:cNvPr id="4" name="AutoShape 4"/>
          <p:cNvSpPr/>
          <p:nvPr/>
        </p:nvSpPr>
        <p:spPr>
          <a:xfrm>
            <a:off x="7951528" y="426492"/>
            <a:ext cx="4158696" cy="4561819"/>
          </a:xfrm>
          <a:prstGeom prst="roundRect">
            <a:avLst>
              <a:gd name="adj" fmla="val 7022"/>
            </a:avLst>
          </a:prstGeom>
          <a:blipFill>
            <a:blip r:embed="rId3"/>
            <a:srcRect/>
            <a:stretch>
              <a:fillRect l="-25119" r="-25119"/>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5" name="TextBox 5"/>
          <p:cNvSpPr txBox="1"/>
          <p:nvPr/>
        </p:nvSpPr>
        <p:spPr>
          <a:xfrm>
            <a:off x="907869" y="2617727"/>
            <a:ext cx="3389811" cy="1669688"/>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FFFFFF"/>
                </a:solidFill>
                <a:latin typeface="微软雅黑"/>
                <a:ea typeface="微软雅黑"/>
              </a:rPr>
              <a:t>在金融行业，联邦学习支持各机构共享风险模型，优化信用评估和欺诈检测，降低了各自的数据合规成本并提高了模型泛化能力。</a:t>
            </a:r>
            <a:endParaRPr lang="en-US" sz="1100"/>
          </a:p>
        </p:txBody>
      </p:sp>
      <p:sp>
        <p:nvSpPr>
          <p:cNvPr id="6" name="TextBox 6"/>
          <p:cNvSpPr txBox="1"/>
          <p:nvPr/>
        </p:nvSpPr>
        <p:spPr>
          <a:xfrm>
            <a:off x="907869" y="1986320"/>
            <a:ext cx="338981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FFFFFF"/>
                </a:solidFill>
                <a:latin typeface="微软雅黑"/>
                <a:ea typeface="微软雅黑"/>
              </a:rPr>
              <a:t>风险管理</a:t>
            </a:r>
            <a:endParaRPr lang="en-US" sz="1100"/>
          </a:p>
        </p:txBody>
      </p:sp>
      <p:sp>
        <p:nvSpPr>
          <p:cNvPr id="7" name="TextBox 7"/>
          <p:cNvSpPr txBox="1"/>
          <p:nvPr/>
        </p:nvSpPr>
        <p:spPr>
          <a:xfrm>
            <a:off x="4757535" y="2962064"/>
            <a:ext cx="2903831" cy="1992853"/>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000000"/>
                </a:solidFill>
                <a:latin typeface="微软雅黑"/>
                <a:ea typeface="微软雅黑"/>
              </a:rPr>
              <a:t>金融服务提供商可以利用联邦学习进行用户行为分析，预测客户需求而不侵犯用户隐私，从而提供更个性化的金融产品和服务。</a:t>
            </a:r>
            <a:endParaRPr lang="en-US" sz="1100"/>
          </a:p>
        </p:txBody>
      </p:sp>
      <p:sp>
        <p:nvSpPr>
          <p:cNvPr id="8" name="TextBox 8"/>
          <p:cNvSpPr txBox="1"/>
          <p:nvPr/>
        </p:nvSpPr>
        <p:spPr>
          <a:xfrm>
            <a:off x="4757535" y="2330657"/>
            <a:ext cx="290383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用户行为分析</a:t>
            </a:r>
            <a:endParaRPr lang="en-US" sz="1100"/>
          </a:p>
        </p:txBody>
      </p:sp>
      <p:sp>
        <p:nvSpPr>
          <p:cNvPr id="9" name="AutoShape 9"/>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金融行业</a:t>
            </a:r>
          </a:p>
        </p:txBody>
      </p:sp>
    </p:spTree>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Connector 2"/>
          <p:cNvCxnSpPr/>
          <p:nvPr/>
        </p:nvCxnSpPr>
        <p:spPr>
          <a:xfrm>
            <a:off x="4558857" y="2581356"/>
            <a:ext cx="0" cy="2119085"/>
          </a:xfrm>
          <a:prstGeom prst="line">
            <a:avLst/>
          </a:prstGeom>
          <a:ln w="12700" cap="flat" cmpd="sng">
            <a:solidFill>
              <a:srgbClr val="778495"/>
            </a:solidFill>
            <a:prstDash val="solid"/>
          </a:ln>
        </p:spPr>
      </p:cxnSp>
      <p:sp>
        <p:nvSpPr>
          <p:cNvPr id="3" name="AutoShape 3"/>
          <p:cNvSpPr/>
          <p:nvPr/>
        </p:nvSpPr>
        <p:spPr>
          <a:xfrm flipH="1">
            <a:off x="7725" y="1648246"/>
            <a:ext cx="4370959" cy="3552305"/>
          </a:xfrm>
          <a:prstGeom prst="homePlate">
            <a:avLst>
              <a:gd name="adj" fmla="val 39231"/>
            </a:avLst>
          </a:prstGeom>
          <a:gradFill>
            <a:gsLst>
              <a:gs pos="0">
                <a:srgbClr val="0048B4">
                  <a:lumMod val="60000"/>
                  <a:lumOff val="40000"/>
                </a:srgbClr>
              </a:gs>
              <a:gs pos="60000">
                <a:srgbClr val="0048B4"/>
              </a:gs>
            </a:gsLst>
            <a:lin ang="2700000"/>
          </a:gradFill>
          <a:ln cap="rnd" cmpd="sng">
            <a:prstDash val="solid"/>
          </a:ln>
          <a:effectLst>
            <a:outerShdw blurRad="50800" dist="50800" dir="5400000" algn="ctr" rotWithShape="0">
              <a:schemeClr val="accent1">
                <a:alpha val="20000"/>
              </a:schemeClr>
            </a:outerShdw>
          </a:effectLst>
        </p:spPr>
        <p:txBody>
          <a:bodyPr rot="0" vert="horz" wrap="square" lIns="91440" tIns="45720" rIns="91440" bIns="45720" anchor="b">
            <a:normAutofit/>
          </a:bodyPr>
          <a:lstStyle/>
          <a:p>
            <a:pPr marL="0" algn="ctr"/>
            <a:endParaRPr/>
          </a:p>
        </p:txBody>
      </p:sp>
      <p:sp>
        <p:nvSpPr>
          <p:cNvPr id="4" name="AutoShape 4"/>
          <p:cNvSpPr/>
          <p:nvPr/>
        </p:nvSpPr>
        <p:spPr>
          <a:xfrm>
            <a:off x="7733956" y="1667964"/>
            <a:ext cx="4370957" cy="3552305"/>
          </a:xfrm>
          <a:prstGeom prst="homePlate">
            <a:avLst>
              <a:gd name="adj" fmla="val 39231"/>
            </a:avLst>
          </a:prstGeom>
          <a:gradFill>
            <a:gsLst>
              <a:gs pos="0">
                <a:srgbClr val="0048B4">
                  <a:lumMod val="60000"/>
                  <a:lumOff val="40000"/>
                </a:srgbClr>
              </a:gs>
              <a:gs pos="60000">
                <a:srgbClr val="0048B4"/>
              </a:gs>
            </a:gsLst>
            <a:lin ang="2700000"/>
          </a:gradFill>
          <a:ln cap="rnd" cmpd="sng">
            <a:prstDash val="solid"/>
          </a:ln>
          <a:effectLst>
            <a:outerShdw blurRad="50800" dist="50800" dir="5400000" algn="ctr" rotWithShape="0">
              <a:schemeClr val="accent1">
                <a:alpha val="20000"/>
              </a:schemeClr>
            </a:outerShdw>
          </a:effectLst>
        </p:spPr>
        <p:txBody>
          <a:bodyPr rot="0" vert="horz" wrap="square" lIns="91440" tIns="45720" rIns="91440" bIns="45720" anchor="b">
            <a:normAutofit/>
          </a:bodyPr>
          <a:lstStyle/>
          <a:p>
            <a:pPr marL="0" algn="ctr"/>
            <a:endParaRPr/>
          </a:p>
        </p:txBody>
      </p:sp>
      <p:cxnSp>
        <p:nvCxnSpPr>
          <p:cNvPr id="5" name="Connector 5"/>
          <p:cNvCxnSpPr/>
          <p:nvPr/>
        </p:nvCxnSpPr>
        <p:spPr>
          <a:xfrm>
            <a:off x="7530657" y="2581356"/>
            <a:ext cx="0" cy="2119085"/>
          </a:xfrm>
          <a:prstGeom prst="line">
            <a:avLst/>
          </a:prstGeom>
          <a:ln w="12700" cap="flat" cmpd="sng">
            <a:solidFill>
              <a:srgbClr val="778495"/>
            </a:solidFill>
            <a:prstDash val="solid"/>
          </a:ln>
        </p:spPr>
      </p:cxnSp>
      <p:sp>
        <p:nvSpPr>
          <p:cNvPr id="6" name="AutoShape 6"/>
          <p:cNvSpPr/>
          <p:nvPr/>
        </p:nvSpPr>
        <p:spPr>
          <a:xfrm>
            <a:off x="4608240" y="2439464"/>
            <a:ext cx="2922417" cy="2815246"/>
          </a:xfrm>
          <a:prstGeom prst="ellipse">
            <a:avLst/>
          </a:prstGeom>
          <a:blipFill>
            <a:blip r:embed="rId3"/>
            <a:srcRect/>
            <a:stretch>
              <a:fillRect l="-25119" r="-25119"/>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7" name="AutoShape 7"/>
          <p:cNvSpPr/>
          <p:nvPr/>
        </p:nvSpPr>
        <p:spPr>
          <a:xfrm>
            <a:off x="1720114" y="2100910"/>
            <a:ext cx="2394686"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FFFFFF"/>
                </a:solidFill>
                <a:latin typeface="微软雅黑"/>
                <a:ea typeface="微软雅黑"/>
              </a:rPr>
              <a:t>移动设备安全</a:t>
            </a:r>
          </a:p>
        </p:txBody>
      </p:sp>
      <p:sp>
        <p:nvSpPr>
          <p:cNvPr id="8" name="AutoShape 8"/>
          <p:cNvSpPr/>
          <p:nvPr/>
        </p:nvSpPr>
        <p:spPr>
          <a:xfrm>
            <a:off x="1715976" y="2671177"/>
            <a:ext cx="2394686" cy="2316019"/>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chemeClr val="lt1"/>
                </a:solidFill>
                <a:latin typeface="微软雅黑"/>
                <a:ea typeface="微软雅黑"/>
              </a:rPr>
              <a:t>在智能手机中，联邦学习能够学习用户的使用习惯，改进个性化推荐和安全防护，而数据始终保留在用户设备上，确保数据隐私。</a:t>
            </a:r>
          </a:p>
        </p:txBody>
      </p:sp>
      <p:sp>
        <p:nvSpPr>
          <p:cNvPr id="9" name="AutoShape 9"/>
          <p:cNvSpPr/>
          <p:nvPr/>
        </p:nvSpPr>
        <p:spPr>
          <a:xfrm>
            <a:off x="8093636" y="2100910"/>
            <a:ext cx="2394686"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FFFFFF"/>
                </a:solidFill>
                <a:latin typeface="微软雅黑"/>
                <a:ea typeface="微软雅黑"/>
              </a:rPr>
              <a:t>个性化服务</a:t>
            </a:r>
          </a:p>
        </p:txBody>
      </p:sp>
      <p:sp>
        <p:nvSpPr>
          <p:cNvPr id="10" name="AutoShape 10"/>
          <p:cNvSpPr/>
          <p:nvPr/>
        </p:nvSpPr>
        <p:spPr>
          <a:xfrm>
            <a:off x="8089498" y="2671177"/>
            <a:ext cx="2394686" cy="2316019"/>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chemeClr val="lt1"/>
                </a:solidFill>
                <a:latin typeface="微软雅黑"/>
                <a:ea typeface="微软雅黑"/>
              </a:rPr>
              <a:t>家居设备制造商利用联邦学习来提升家居自动化的智能，系统能够学习并适应用户偏好，无需上传用户的个人数据。</a:t>
            </a:r>
          </a:p>
        </p:txBody>
      </p:sp>
      <p:sp>
        <p:nvSpPr>
          <p:cNvPr id="11" name="AutoShape 11"/>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mn-ea"/>
                <a:ea typeface="+mn-ea"/>
              </a:rPr>
              <a:t>智能设备</a:t>
            </a:r>
          </a:p>
        </p:txBody>
      </p:sp>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59568" y="2145656"/>
            <a:ext cx="8358303" cy="646331"/>
          </a:xfrm>
        </p:spPr>
        <p:txBody>
          <a:bodyPr vert="horz" wrap="square" lIns="91440" tIns="45720" rIns="91440" bIns="45720" anchor="t">
            <a:spAutoFit/>
          </a:bodyPr>
          <a:lstStyle/>
          <a:p>
            <a:pPr algn="l">
              <a:lnSpc>
                <a:spcPct val="100000"/>
              </a:lnSpc>
              <a:spcBef>
                <a:spcPct val="0"/>
              </a:spcBef>
            </a:pPr>
            <a:r>
              <a:rPr lang="en-US" sz="3600" b="1" i="0" u="none" baseline="0">
                <a:solidFill>
                  <a:srgbClr val="F0F0F0"/>
                </a:solidFill>
                <a:latin typeface="微软雅黑"/>
                <a:ea typeface="微软雅黑"/>
              </a:rPr>
              <a:t>联邦学习的挑战与问题</a:t>
            </a:r>
          </a:p>
        </p:txBody>
      </p:sp>
      <p:sp>
        <p:nvSpPr>
          <p:cNvPr id="3" name="TextBox 3"/>
          <p:cNvSpPr txBox="1"/>
          <p:nvPr/>
        </p:nvSpPr>
        <p:spPr>
          <a:xfrm>
            <a:off x="894652" y="2126166"/>
            <a:ext cx="750849"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FFFFFF"/>
                </a:solidFill>
                <a:latin typeface="Arial"/>
                <a:ea typeface="Arial"/>
              </a:rPr>
              <a:t>04</a:t>
            </a:r>
            <a:endParaRPr lang="en-US" sz="1100"/>
          </a:p>
        </p:txBody>
      </p:sp>
    </p:spTree>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数据异质性</a:t>
            </a:r>
          </a:p>
        </p:txBody>
      </p:sp>
      <p:sp>
        <p:nvSpPr>
          <p:cNvPr id="3" name="AutoShape 3"/>
          <p:cNvSpPr/>
          <p:nvPr/>
        </p:nvSpPr>
        <p:spPr>
          <a:xfrm>
            <a:off x="1072294" y="1675039"/>
            <a:ext cx="4292910" cy="3341460"/>
          </a:xfrm>
          <a:prstGeom prst="rect">
            <a:avLst/>
          </a:prstGeom>
          <a:solidFill>
            <a:srgbClr val="000000">
              <a:alpha val="10000"/>
              <a:lumMod val="50000"/>
              <a:lumOff val="50000"/>
            </a:srgbClr>
          </a:solidFill>
          <a:ln cap="rnd" cmpd="sng">
            <a:prstDash val="solid"/>
          </a:ln>
        </p:spPr>
        <p:txBody>
          <a:bodyPr rot="0" vert="horz" wrap="square" lIns="91440" tIns="45720" rIns="91440" bIns="45720" anchor="ctr">
            <a:normAutofit/>
          </a:bodyPr>
          <a:lstStyle/>
          <a:p>
            <a:pPr marL="0" algn="ctr"/>
            <a:endParaRPr/>
          </a:p>
        </p:txBody>
      </p:sp>
      <p:sp>
        <p:nvSpPr>
          <p:cNvPr id="4" name="TextBox 4"/>
          <p:cNvSpPr txBox="1"/>
          <p:nvPr/>
        </p:nvSpPr>
        <p:spPr>
          <a:xfrm>
            <a:off x="1161213" y="2789193"/>
            <a:ext cx="3619789" cy="338554"/>
          </a:xfrm>
          <a:prstGeom prst="rect">
            <a:avLst/>
          </a:prstGeom>
          <a:noFill/>
          <a:ln cap="rnd" cmpd="sng">
            <a:prstDash val="solid"/>
          </a:ln>
        </p:spPr>
        <p:txBody>
          <a:bodyPr rot="0" vert="horz" wrap="square" lIns="91440" tIns="45720" rIns="91440" bIns="45720" rtlCol="0" anchor="ctr">
            <a:prstTxWarp prst="textNoShape">
              <a:avLst/>
            </a:prstTxWarp>
            <a:spAutoFit/>
          </a:bodyPr>
          <a:lstStyle/>
          <a:p>
            <a:pPr marL="0" algn="l">
              <a:defRPr/>
            </a:pPr>
            <a:r>
              <a:rPr lang="zh-CN" altLang="en-US" sz="1600" b="1" i="0" u="none" baseline="0">
                <a:solidFill>
                  <a:srgbClr val="000000"/>
                </a:solidFill>
                <a:latin typeface="微软雅黑"/>
                <a:ea typeface="微软雅黑"/>
              </a:rPr>
              <a:t>问题描述</a:t>
            </a:r>
            <a:endParaRPr lang="en-US" sz="1100"/>
          </a:p>
        </p:txBody>
      </p:sp>
      <p:sp>
        <p:nvSpPr>
          <p:cNvPr id="5" name="AutoShape 5"/>
          <p:cNvSpPr/>
          <p:nvPr/>
        </p:nvSpPr>
        <p:spPr>
          <a:xfrm>
            <a:off x="1161212" y="3184540"/>
            <a:ext cx="3619791" cy="1346522"/>
          </a:xfrm>
          <a:prstGeom prst="rect">
            <a:avLst/>
          </a:prstGeom>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数据异质性指的是不同客户端的数据分布不均，可能导致模型训练效果不佳，尤其是在数据量较小或分布不均匀时尤为明显。</a:t>
            </a:r>
          </a:p>
        </p:txBody>
      </p:sp>
      <p:sp>
        <p:nvSpPr>
          <p:cNvPr id="6" name="TextBox 6"/>
          <p:cNvSpPr txBox="1"/>
          <p:nvPr/>
        </p:nvSpPr>
        <p:spPr>
          <a:xfrm>
            <a:off x="4029435" y="3844814"/>
            <a:ext cx="1441420" cy="1446550"/>
          </a:xfrm>
          <a:prstGeom prst="rect">
            <a:avLst/>
          </a:prstGeom>
          <a:noFill/>
        </p:spPr>
        <p:txBody>
          <a:bodyPr vert="horz" wrap="none" lIns="91440" tIns="45720" rIns="91440" bIns="45720" rtlCol="0" anchor="t">
            <a:spAutoFit/>
          </a:bodyPr>
          <a:lstStyle/>
          <a:p>
            <a:pPr marL="0" algn="l">
              <a:defRPr/>
            </a:pPr>
            <a:r>
              <a:rPr lang="en-US" sz="8800" b="1" i="0" u="none" baseline="0">
                <a:solidFill>
                  <a:srgbClr val="FFFFFF"/>
                </a:solidFill>
                <a:latin typeface="Arial"/>
                <a:ea typeface="Arial"/>
              </a:rPr>
              <a:t>01</a:t>
            </a:r>
            <a:endParaRPr lang="en-US" sz="1100"/>
          </a:p>
        </p:txBody>
      </p:sp>
      <p:cxnSp>
        <p:nvCxnSpPr>
          <p:cNvPr id="7" name="Connector 7"/>
          <p:cNvCxnSpPr/>
          <p:nvPr/>
        </p:nvCxnSpPr>
        <p:spPr>
          <a:xfrm>
            <a:off x="1072294" y="1688102"/>
            <a:ext cx="4292910" cy="0"/>
          </a:xfrm>
          <a:prstGeom prst="line">
            <a:avLst/>
          </a:prstGeom>
          <a:ln w="25400" cap="flat" cmpd="sng">
            <a:solidFill>
              <a:schemeClr val="accent1"/>
            </a:solidFill>
            <a:prstDash val="solid"/>
          </a:ln>
        </p:spPr>
      </p:cxnSp>
      <p:sp>
        <p:nvSpPr>
          <p:cNvPr id="8" name="Freeform 8"/>
          <p:cNvSpPr/>
          <p:nvPr/>
        </p:nvSpPr>
        <p:spPr>
          <a:xfrm>
            <a:off x="1257741" y="2118478"/>
            <a:ext cx="320770" cy="433039"/>
          </a:xfrm>
          <a:custGeom>
            <a:avLst/>
            <a:gdLst/>
            <a:ahLst/>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chemeClr val="accent1"/>
          </a:solidFill>
        </p:spPr>
        <p:txBody>
          <a:bodyPr vert="horz" lIns="91440" tIns="45720" rIns="91440" bIns="45720" anchor="t">
            <a:normAutofit/>
          </a:bodyPr>
          <a:lstStyle/>
          <a:p>
            <a:pPr marL="0" algn="l"/>
            <a:endParaRPr/>
          </a:p>
        </p:txBody>
      </p:sp>
      <p:sp>
        <p:nvSpPr>
          <p:cNvPr id="9" name="AutoShape 9"/>
          <p:cNvSpPr/>
          <p:nvPr/>
        </p:nvSpPr>
        <p:spPr>
          <a:xfrm>
            <a:off x="6721145" y="1675039"/>
            <a:ext cx="4292910" cy="3341460"/>
          </a:xfrm>
          <a:prstGeom prst="rect">
            <a:avLst/>
          </a:prstGeom>
          <a:solidFill>
            <a:srgbClr val="000000">
              <a:alpha val="10000"/>
              <a:lumMod val="50000"/>
              <a:lumOff val="50000"/>
            </a:srgbClr>
          </a:solidFill>
          <a:ln cap="rnd" cmpd="sng">
            <a:prstDash val="solid"/>
          </a:ln>
        </p:spPr>
        <p:txBody>
          <a:bodyPr rot="0" vert="horz" wrap="square" lIns="91440" tIns="45720" rIns="91440" bIns="45720" anchor="ctr">
            <a:normAutofit/>
          </a:bodyPr>
          <a:lstStyle/>
          <a:p>
            <a:pPr marL="0" algn="ctr"/>
            <a:endParaRPr/>
          </a:p>
        </p:txBody>
      </p:sp>
      <p:sp>
        <p:nvSpPr>
          <p:cNvPr id="10" name="TextBox 10"/>
          <p:cNvSpPr txBox="1"/>
          <p:nvPr/>
        </p:nvSpPr>
        <p:spPr>
          <a:xfrm>
            <a:off x="6810064" y="2789193"/>
            <a:ext cx="3619789" cy="338554"/>
          </a:xfrm>
          <a:prstGeom prst="rect">
            <a:avLst/>
          </a:prstGeom>
          <a:noFill/>
          <a:ln cap="rnd" cmpd="sng">
            <a:prstDash val="solid"/>
          </a:ln>
        </p:spPr>
        <p:txBody>
          <a:bodyPr rot="0" vert="horz" wrap="square" lIns="91440" tIns="45720" rIns="91440" bIns="45720" rtlCol="0" anchor="ctr">
            <a:prstTxWarp prst="textNoShape">
              <a:avLst/>
            </a:prstTxWarp>
            <a:spAutoFit/>
          </a:bodyPr>
          <a:lstStyle/>
          <a:p>
            <a:pPr marL="0" algn="l">
              <a:defRPr/>
            </a:pPr>
            <a:r>
              <a:rPr lang="zh-CN" altLang="en-US" sz="1600" b="1" i="0" u="none" baseline="0">
                <a:solidFill>
                  <a:srgbClr val="000000"/>
                </a:solidFill>
                <a:latin typeface="微软雅黑"/>
                <a:ea typeface="微软雅黑"/>
              </a:rPr>
              <a:t>解决方案概述</a:t>
            </a:r>
            <a:endParaRPr lang="en-US" sz="1100"/>
          </a:p>
        </p:txBody>
      </p:sp>
      <p:sp>
        <p:nvSpPr>
          <p:cNvPr id="11" name="AutoShape 11"/>
          <p:cNvSpPr/>
          <p:nvPr/>
        </p:nvSpPr>
        <p:spPr>
          <a:xfrm>
            <a:off x="6810063" y="3184540"/>
            <a:ext cx="3619791" cy="1345048"/>
          </a:xfrm>
          <a:prstGeom prst="rect">
            <a:avLst/>
          </a:prstGeom>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通过设计适应性算法，如自适应加权和降维技术，联邦学习可以更有效地处理数据异质性，提高模型的稳定性与准确性。</a:t>
            </a:r>
          </a:p>
        </p:txBody>
      </p:sp>
      <p:sp>
        <p:nvSpPr>
          <p:cNvPr id="12" name="TextBox 12"/>
          <p:cNvSpPr txBox="1"/>
          <p:nvPr/>
        </p:nvSpPr>
        <p:spPr>
          <a:xfrm>
            <a:off x="9678286" y="3844814"/>
            <a:ext cx="1441420" cy="1446550"/>
          </a:xfrm>
          <a:prstGeom prst="rect">
            <a:avLst/>
          </a:prstGeom>
          <a:noFill/>
        </p:spPr>
        <p:txBody>
          <a:bodyPr vert="horz" wrap="none" lIns="91440" tIns="45720" rIns="91440" bIns="45720" rtlCol="0" anchor="t">
            <a:spAutoFit/>
          </a:bodyPr>
          <a:lstStyle/>
          <a:p>
            <a:pPr marL="0" algn="l">
              <a:defRPr/>
            </a:pPr>
            <a:r>
              <a:rPr lang="en-US" sz="8800" b="1" i="0" u="none" baseline="0">
                <a:solidFill>
                  <a:srgbClr val="FFFFFF"/>
                </a:solidFill>
                <a:latin typeface="Arial"/>
                <a:ea typeface="Arial"/>
              </a:rPr>
              <a:t>02</a:t>
            </a:r>
            <a:endParaRPr lang="en-US" sz="1100"/>
          </a:p>
        </p:txBody>
      </p:sp>
      <p:cxnSp>
        <p:nvCxnSpPr>
          <p:cNvPr id="13" name="Connector 13"/>
          <p:cNvCxnSpPr/>
          <p:nvPr/>
        </p:nvCxnSpPr>
        <p:spPr>
          <a:xfrm>
            <a:off x="6721145" y="1688102"/>
            <a:ext cx="4292910" cy="0"/>
          </a:xfrm>
          <a:prstGeom prst="line">
            <a:avLst/>
          </a:prstGeom>
          <a:ln w="25400" cap="flat" cmpd="sng">
            <a:solidFill>
              <a:schemeClr val="accent1"/>
            </a:solidFill>
            <a:prstDash val="solid"/>
          </a:ln>
        </p:spPr>
      </p:cxnSp>
      <p:sp>
        <p:nvSpPr>
          <p:cNvPr id="14" name="Freeform 14"/>
          <p:cNvSpPr/>
          <p:nvPr/>
        </p:nvSpPr>
        <p:spPr>
          <a:xfrm>
            <a:off x="6929962" y="2089250"/>
            <a:ext cx="425166" cy="433039"/>
          </a:xfrm>
          <a:custGeom>
            <a:avLst/>
            <a:gdLst/>
            <a:ahLst/>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chemeClr val="accent1"/>
          </a:solidFill>
        </p:spPr>
        <p:txBody>
          <a:bodyPr vert="horz" lIns="91440" tIns="45720" rIns="91440" bIns="45720" anchor="t">
            <a:normAutofit/>
          </a:bodyPr>
          <a:lstStyle/>
          <a:p>
            <a:pPr marL="0" algn="l"/>
            <a:endParaRPr/>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3632289" y="1739591"/>
            <a:ext cx="4319239" cy="4334106"/>
          </a:xfrm>
          <a:prstGeom prst="roundRect">
            <a:avLst/>
          </a:prstGeom>
          <a:solidFill>
            <a:schemeClr val="accent2">
              <a:alpha val="10000"/>
            </a:schemeClr>
          </a:solidFill>
          <a:ln w="12700" cap="rnd" cmpd="sng">
            <a:gradFill>
              <a:gsLst>
                <a:gs pos="0">
                  <a:srgbClr val="002880"/>
                </a:gs>
                <a:gs pos="100000">
                  <a:srgbClr val="002880">
                    <a:alpha val="20000"/>
                    <a:lumMod val="60000"/>
                    <a:lumOff val="40000"/>
                  </a:srgbClr>
                </a:gs>
              </a:gsLst>
              <a:lin ang="2700000"/>
            </a:gradFill>
            <a:prstDash val="solid"/>
          </a:ln>
        </p:spPr>
        <p:txBody>
          <a:bodyPr rot="0" vert="horz" wrap="square" lIns="91440" tIns="45720" rIns="91440" bIns="45720" anchor="ctr">
            <a:noAutofit/>
          </a:bodyPr>
          <a:lstStyle/>
          <a:p>
            <a:pPr marL="0" algn="ctr"/>
            <a:endParaRPr/>
          </a:p>
        </p:txBody>
      </p:sp>
      <p:sp>
        <p:nvSpPr>
          <p:cNvPr id="3" name="AutoShape 3"/>
          <p:cNvSpPr/>
          <p:nvPr/>
        </p:nvSpPr>
        <p:spPr>
          <a:xfrm>
            <a:off x="468350" y="1107687"/>
            <a:ext cx="4319239" cy="4334107"/>
          </a:xfrm>
          <a:prstGeom prst="roundRect">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none" lIns="91440" tIns="45720" rIns="91440" bIns="45720" anchor="ctr">
            <a:noAutofit/>
          </a:bodyPr>
          <a:lstStyle/>
          <a:p>
            <a:pPr marL="0" algn="ctr"/>
            <a:endParaRPr/>
          </a:p>
        </p:txBody>
      </p:sp>
      <p:sp>
        <p:nvSpPr>
          <p:cNvPr id="4" name="AutoShape 4"/>
          <p:cNvSpPr/>
          <p:nvPr/>
        </p:nvSpPr>
        <p:spPr>
          <a:xfrm>
            <a:off x="7951528" y="426492"/>
            <a:ext cx="4158696" cy="4561819"/>
          </a:xfrm>
          <a:prstGeom prst="roundRect">
            <a:avLst>
              <a:gd name="adj" fmla="val 7022"/>
            </a:avLst>
          </a:prstGeom>
          <a:blipFill>
            <a:blip r:embed="rId3"/>
            <a:srcRect/>
            <a:stretch>
              <a:fillRect l="-25119" r="-25119"/>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5" name="TextBox 5"/>
          <p:cNvSpPr txBox="1"/>
          <p:nvPr/>
        </p:nvSpPr>
        <p:spPr>
          <a:xfrm>
            <a:off x="907869" y="2617727"/>
            <a:ext cx="3389811" cy="1669688"/>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FFFFFF"/>
                </a:solidFill>
                <a:latin typeface="微软雅黑"/>
                <a:ea typeface="微软雅黑"/>
              </a:rPr>
              <a:t>应用如同态加密和差分隐私等加密技术，可以在传输模型更新时保护数据隐私，确保即使数据被捕获也无法被破解。</a:t>
            </a:r>
            <a:endParaRPr lang="en-US" sz="1100"/>
          </a:p>
        </p:txBody>
      </p:sp>
      <p:sp>
        <p:nvSpPr>
          <p:cNvPr id="6" name="TextBox 6"/>
          <p:cNvSpPr txBox="1"/>
          <p:nvPr/>
        </p:nvSpPr>
        <p:spPr>
          <a:xfrm>
            <a:off x="907869" y="1986320"/>
            <a:ext cx="338981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FFFFFF"/>
                </a:solidFill>
                <a:latin typeface="微软雅黑"/>
                <a:ea typeface="微软雅黑"/>
              </a:rPr>
              <a:t>加密技术</a:t>
            </a:r>
            <a:endParaRPr lang="en-US" sz="1100"/>
          </a:p>
        </p:txBody>
      </p:sp>
      <p:sp>
        <p:nvSpPr>
          <p:cNvPr id="7" name="TextBox 7"/>
          <p:cNvSpPr txBox="1"/>
          <p:nvPr/>
        </p:nvSpPr>
        <p:spPr>
          <a:xfrm>
            <a:off x="4757535" y="2962064"/>
            <a:ext cx="2903831" cy="1992853"/>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000000"/>
                </a:solidFill>
                <a:latin typeface="微软雅黑"/>
                <a:ea typeface="微软雅黑"/>
              </a:rPr>
              <a:t>设计安全防护机制以抵御对抗性攻击是确保联邦学习的稳定性和可靠性的重要组成部分，包括在模型聚合过程中识别并过滤异常更新。</a:t>
            </a:r>
            <a:endParaRPr lang="en-US" sz="1100"/>
          </a:p>
        </p:txBody>
      </p:sp>
      <p:sp>
        <p:nvSpPr>
          <p:cNvPr id="8" name="TextBox 8"/>
          <p:cNvSpPr txBox="1"/>
          <p:nvPr/>
        </p:nvSpPr>
        <p:spPr>
          <a:xfrm>
            <a:off x="4757535" y="2330657"/>
            <a:ext cx="290383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攻击防范</a:t>
            </a:r>
            <a:endParaRPr lang="en-US" sz="1100"/>
          </a:p>
        </p:txBody>
      </p:sp>
      <p:sp>
        <p:nvSpPr>
          <p:cNvPr id="9" name="AutoShape 9"/>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隐私与安全</a:t>
            </a:r>
          </a:p>
        </p:txBody>
      </p:sp>
    </p:spTree>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Connector 2"/>
          <p:cNvCxnSpPr/>
          <p:nvPr/>
        </p:nvCxnSpPr>
        <p:spPr>
          <a:xfrm>
            <a:off x="6974352" y="2060103"/>
            <a:ext cx="2364458" cy="0"/>
          </a:xfrm>
          <a:prstGeom prst="straightConnector1">
            <a:avLst/>
          </a:prstGeom>
          <a:ln w="28575" cap="rnd" cmpd="sng">
            <a:gradFill>
              <a:gsLst>
                <a:gs pos="20000">
                  <a:srgbClr val="000000">
                    <a:alpha val="20000"/>
                    <a:lumMod val="50000"/>
                    <a:lumOff val="50000"/>
                  </a:srgbClr>
                </a:gs>
                <a:gs pos="100000">
                  <a:srgbClr val="000000">
                    <a:alpha val="0"/>
                    <a:lumMod val="50000"/>
                    <a:lumOff val="50000"/>
                  </a:srgbClr>
                </a:gs>
              </a:gsLst>
            </a:gradFill>
            <a:prstDash val="solid"/>
            <a:headEnd w="sm" len="sm"/>
            <a:tailEnd len="sm"/>
          </a:ln>
        </p:spPr>
      </p:cxnSp>
      <p:cxnSp>
        <p:nvCxnSpPr>
          <p:cNvPr id="3" name="Connector 3"/>
          <p:cNvCxnSpPr/>
          <p:nvPr/>
        </p:nvCxnSpPr>
        <p:spPr>
          <a:xfrm flipH="1">
            <a:off x="3142560" y="2060103"/>
            <a:ext cx="2353198" cy="0"/>
          </a:xfrm>
          <a:prstGeom prst="straightConnector1">
            <a:avLst/>
          </a:prstGeom>
          <a:ln w="28575" cap="rnd" cmpd="sng">
            <a:gradFill>
              <a:gsLst>
                <a:gs pos="20000">
                  <a:srgbClr val="000000">
                    <a:alpha val="20000"/>
                    <a:lumMod val="50000"/>
                    <a:lumOff val="50000"/>
                  </a:srgbClr>
                </a:gs>
                <a:gs pos="100000">
                  <a:srgbClr val="000000">
                    <a:alpha val="0"/>
                    <a:lumMod val="50000"/>
                    <a:lumOff val="50000"/>
                  </a:srgbClr>
                </a:gs>
              </a:gsLst>
            </a:gradFill>
            <a:prstDash val="solid"/>
            <a:headEnd w="sm" len="sm"/>
            <a:tailEnd len="sm"/>
          </a:ln>
        </p:spPr>
      </p:cxnSp>
      <p:sp>
        <p:nvSpPr>
          <p:cNvPr id="4" name="Freeform 4"/>
          <p:cNvSpPr/>
          <p:nvPr/>
        </p:nvSpPr>
        <p:spPr>
          <a:xfrm>
            <a:off x="5318507" y="1028700"/>
            <a:ext cx="1661232" cy="1395537"/>
          </a:xfrm>
          <a:custGeom>
            <a:avLst/>
            <a:gdLst/>
            <a:ahLst/>
            <a:cxnLst/>
            <a:rect l="l" t="t" r="r" b="b"/>
            <a:pathLst>
              <a:path w="603122" h="506660">
                <a:moveTo>
                  <a:pt x="449184" y="255729"/>
                </a:moveTo>
                <a:cubicBezTo>
                  <a:pt x="461461" y="255729"/>
                  <a:pt x="471377" y="265629"/>
                  <a:pt x="471377" y="277887"/>
                </a:cubicBezTo>
                <a:lnTo>
                  <a:pt x="471377" y="484220"/>
                </a:lnTo>
                <a:cubicBezTo>
                  <a:pt x="471377" y="496478"/>
                  <a:pt x="461461" y="506378"/>
                  <a:pt x="449184" y="506378"/>
                </a:cubicBezTo>
                <a:cubicBezTo>
                  <a:pt x="436907" y="506378"/>
                  <a:pt x="426991" y="496478"/>
                  <a:pt x="426991" y="484220"/>
                </a:cubicBezTo>
                <a:lnTo>
                  <a:pt x="426991" y="277887"/>
                </a:lnTo>
                <a:cubicBezTo>
                  <a:pt x="426991" y="265629"/>
                  <a:pt x="436907" y="255729"/>
                  <a:pt x="449184" y="255729"/>
                </a:cubicBezTo>
                <a:close/>
                <a:moveTo>
                  <a:pt x="153938" y="255729"/>
                </a:moveTo>
                <a:cubicBezTo>
                  <a:pt x="166215" y="255729"/>
                  <a:pt x="176131" y="265629"/>
                  <a:pt x="176131" y="277887"/>
                </a:cubicBezTo>
                <a:lnTo>
                  <a:pt x="176131" y="484220"/>
                </a:lnTo>
                <a:cubicBezTo>
                  <a:pt x="176131" y="496478"/>
                  <a:pt x="166215" y="506378"/>
                  <a:pt x="153938" y="506378"/>
                </a:cubicBezTo>
                <a:cubicBezTo>
                  <a:pt x="141661" y="506378"/>
                  <a:pt x="131745" y="496478"/>
                  <a:pt x="131745" y="484220"/>
                </a:cubicBezTo>
                <a:lnTo>
                  <a:pt x="131745" y="277887"/>
                </a:lnTo>
                <a:cubicBezTo>
                  <a:pt x="131745" y="265629"/>
                  <a:pt x="141661" y="255729"/>
                  <a:pt x="153938" y="255729"/>
                </a:cubicBezTo>
                <a:close/>
                <a:moveTo>
                  <a:pt x="301561" y="0"/>
                </a:moveTo>
                <a:cubicBezTo>
                  <a:pt x="441796" y="0"/>
                  <a:pt x="556062" y="113464"/>
                  <a:pt x="558423" y="253801"/>
                </a:cubicBezTo>
                <a:cubicBezTo>
                  <a:pt x="584235" y="261502"/>
                  <a:pt x="603122" y="286018"/>
                  <a:pt x="603122" y="315091"/>
                </a:cubicBezTo>
                <a:lnTo>
                  <a:pt x="603122" y="442856"/>
                </a:lnTo>
                <a:cubicBezTo>
                  <a:pt x="603122" y="478058"/>
                  <a:pt x="575421" y="506660"/>
                  <a:pt x="541268" y="506660"/>
                </a:cubicBezTo>
                <a:lnTo>
                  <a:pt x="492319" y="506660"/>
                </a:lnTo>
                <a:lnTo>
                  <a:pt x="492319" y="262916"/>
                </a:lnTo>
                <a:cubicBezTo>
                  <a:pt x="492004" y="261345"/>
                  <a:pt x="491847" y="259773"/>
                  <a:pt x="491847" y="258202"/>
                </a:cubicBezTo>
                <a:cubicBezTo>
                  <a:pt x="491847" y="152595"/>
                  <a:pt x="406383" y="66633"/>
                  <a:pt x="301561" y="66633"/>
                </a:cubicBezTo>
                <a:cubicBezTo>
                  <a:pt x="196581" y="66633"/>
                  <a:pt x="111118" y="152595"/>
                  <a:pt x="111118" y="258202"/>
                </a:cubicBezTo>
                <a:cubicBezTo>
                  <a:pt x="111118" y="259459"/>
                  <a:pt x="110960" y="260559"/>
                  <a:pt x="110803" y="261816"/>
                </a:cubicBezTo>
                <a:lnTo>
                  <a:pt x="110803" y="506660"/>
                </a:lnTo>
                <a:lnTo>
                  <a:pt x="61855" y="506660"/>
                </a:lnTo>
                <a:cubicBezTo>
                  <a:pt x="27701" y="506660"/>
                  <a:pt x="0" y="478058"/>
                  <a:pt x="0" y="442856"/>
                </a:cubicBezTo>
                <a:lnTo>
                  <a:pt x="0" y="315091"/>
                </a:lnTo>
                <a:cubicBezTo>
                  <a:pt x="0" y="286018"/>
                  <a:pt x="18729" y="261659"/>
                  <a:pt x="44542" y="253801"/>
                </a:cubicBezTo>
                <a:cubicBezTo>
                  <a:pt x="46902" y="113464"/>
                  <a:pt x="161168" y="0"/>
                  <a:pt x="301561" y="0"/>
                </a:cubicBezTo>
                <a:close/>
              </a:path>
            </a:pathLst>
          </a:custGeom>
          <a:gradFill>
            <a:gsLst>
              <a:gs pos="0">
                <a:srgbClr val="0F99FF">
                  <a:lumMod val="60000"/>
                  <a:lumOff val="40000"/>
                </a:srgbClr>
              </a:gs>
              <a:gs pos="60000">
                <a:srgbClr val="0F99FF"/>
              </a:gs>
            </a:gsLst>
            <a:lin ang="2700000"/>
          </a:gradFill>
          <a:ln cap="rnd" cmpd="sng">
            <a:prstDash val="solid"/>
          </a:ln>
          <a:effectLst>
            <a:outerShdw blurRad="76200" dist="50800" dir="5400000" algn="ctr" rotWithShape="0">
              <a:schemeClr val="accent3">
                <a:alpha val="20000"/>
              </a:schemeClr>
            </a:outerShdw>
          </a:effectLst>
        </p:spPr>
        <p:txBody>
          <a:bodyPr rot="0" vert="horz" wrap="square" lIns="91440" tIns="45720" rIns="91440" bIns="45720" anchor="ctr">
            <a:normAutofit/>
          </a:bodyPr>
          <a:lstStyle/>
          <a:p>
            <a:pPr marL="0" algn="ctr"/>
            <a:endParaRPr/>
          </a:p>
        </p:txBody>
      </p:sp>
      <p:grpSp>
        <p:nvGrpSpPr>
          <p:cNvPr id="5" name="Group 5"/>
          <p:cNvGrpSpPr/>
          <p:nvPr/>
        </p:nvGrpSpPr>
        <p:grpSpPr>
          <a:xfrm>
            <a:off x="8928610" y="1855004"/>
            <a:ext cx="410200" cy="410198"/>
            <a:chOff x="6362386" y="3130100"/>
            <a:chExt cx="410200" cy="410198"/>
          </a:xfrm>
        </p:grpSpPr>
        <p:sp>
          <p:nvSpPr>
            <p:cNvPr id="6" name="AutoShape 6"/>
            <p:cNvSpPr/>
            <p:nvPr/>
          </p:nvSpPr>
          <p:spPr>
            <a:xfrm>
              <a:off x="6362386" y="3130100"/>
              <a:ext cx="410200" cy="410198"/>
            </a:xfrm>
            <a:prstGeom prst="roundRect">
              <a:avLst/>
            </a:prstGeom>
            <a:gradFill>
              <a:gsLst>
                <a:gs pos="0">
                  <a:srgbClr val="006BE2">
                    <a:lumMod val="60000"/>
                    <a:lumOff val="40000"/>
                  </a:srgbClr>
                </a:gs>
                <a:gs pos="60000">
                  <a:srgbClr val="006BE2"/>
                </a:gs>
              </a:gsLst>
              <a:lin ang="2700000"/>
            </a:gradFill>
            <a:ln cap="rnd" cmpd="sng">
              <a:prstDash val="solid"/>
            </a:ln>
            <a:effectLst>
              <a:outerShdw blurRad="76200" dist="50800" dir="5400000" algn="ctr" rotWithShape="0">
                <a:schemeClr val="accent4">
                  <a:alpha val="20000"/>
                </a:schemeClr>
              </a:outerShdw>
            </a:effectLst>
          </p:spPr>
          <p:txBody>
            <a:bodyPr rot="0" vert="horz" wrap="square" lIns="91440" tIns="45720" rIns="91440" bIns="45720" anchor="ctr">
              <a:normAutofit/>
            </a:bodyPr>
            <a:lstStyle/>
            <a:p>
              <a:pPr marL="0" algn="ctr"/>
              <a:endParaRPr/>
            </a:p>
          </p:txBody>
        </p:sp>
        <p:sp>
          <p:nvSpPr>
            <p:cNvPr id="7" name="Freeform 7"/>
            <p:cNvSpPr/>
            <p:nvPr/>
          </p:nvSpPr>
          <p:spPr>
            <a:xfrm>
              <a:off x="6478486" y="3270678"/>
              <a:ext cx="178001" cy="141741"/>
            </a:xfrm>
            <a:custGeom>
              <a:avLst/>
              <a:gdLst/>
              <a:ahLst/>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grpSp>
      <p:grpSp>
        <p:nvGrpSpPr>
          <p:cNvPr id="8" name="Group 8"/>
          <p:cNvGrpSpPr/>
          <p:nvPr/>
        </p:nvGrpSpPr>
        <p:grpSpPr>
          <a:xfrm>
            <a:off x="2959436" y="1855004"/>
            <a:ext cx="410200" cy="410198"/>
            <a:chOff x="3526795" y="3130100"/>
            <a:chExt cx="410200" cy="410198"/>
          </a:xfrm>
        </p:grpSpPr>
        <p:sp>
          <p:nvSpPr>
            <p:cNvPr id="9" name="AutoShape 9"/>
            <p:cNvSpPr/>
            <p:nvPr/>
          </p:nvSpPr>
          <p:spPr>
            <a:xfrm>
              <a:off x="3526795" y="3130100"/>
              <a:ext cx="410200" cy="410198"/>
            </a:xfrm>
            <a:prstGeom prst="roundRect">
              <a:avLst/>
            </a:prstGeom>
            <a:gradFill>
              <a:gsLst>
                <a:gs pos="0">
                  <a:srgbClr val="0048B4">
                    <a:lumMod val="60000"/>
                    <a:lumOff val="40000"/>
                  </a:srgbClr>
                </a:gs>
                <a:gs pos="60000">
                  <a:srgbClr val="0048B4"/>
                </a:gs>
              </a:gsLst>
              <a:lin ang="2700000"/>
            </a:gradFill>
            <a:ln cap="rnd" cmpd="sng">
              <a:prstDash val="solid"/>
            </a:ln>
            <a:effectLst>
              <a:outerShdw blurRad="76200" dist="50800" dir="5400000" algn="ctr" rotWithShape="0">
                <a:schemeClr val="accent1">
                  <a:alpha val="20000"/>
                </a:schemeClr>
              </a:outerShdw>
            </a:effectLst>
          </p:spPr>
          <p:txBody>
            <a:bodyPr rot="0" vert="horz" wrap="square" lIns="91440" tIns="45720" rIns="91440" bIns="45720" anchor="ctr">
              <a:normAutofit/>
            </a:bodyPr>
            <a:lstStyle/>
            <a:p>
              <a:pPr marL="0" algn="ctr"/>
              <a:endParaRPr/>
            </a:p>
          </p:txBody>
        </p:sp>
        <p:sp>
          <p:nvSpPr>
            <p:cNvPr id="10" name="Freeform 10"/>
            <p:cNvSpPr/>
            <p:nvPr/>
          </p:nvSpPr>
          <p:spPr>
            <a:xfrm>
              <a:off x="3642895" y="3268449"/>
              <a:ext cx="178001" cy="133500"/>
            </a:xfrm>
            <a:custGeom>
              <a:avLst/>
              <a:gdLst/>
              <a:ahLst/>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cap="rnd" cmpd="sng">
              <a:prstDash val="solid"/>
            </a:ln>
          </p:spPr>
          <p:txBody>
            <a:bodyPr rot="0" vert="horz" wrap="square" lIns="91440" tIns="45720" rIns="91440" bIns="45720" anchor="ctr">
              <a:prstTxWarp prst="textNoShape">
                <a:avLst/>
              </a:prstTxWarp>
              <a:normAutofit/>
            </a:bodyPr>
            <a:lstStyle/>
            <a:p>
              <a:pPr marL="0" algn="ctr"/>
              <a:endParaRPr/>
            </a:p>
          </p:txBody>
        </p:sp>
      </p:grpSp>
      <p:sp>
        <p:nvSpPr>
          <p:cNvPr id="11" name="AutoShape 11"/>
          <p:cNvSpPr/>
          <p:nvPr/>
        </p:nvSpPr>
        <p:spPr>
          <a:xfrm>
            <a:off x="1694385" y="2470301"/>
            <a:ext cx="3169136"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带宽要求</a:t>
            </a:r>
          </a:p>
        </p:txBody>
      </p:sp>
      <p:sp>
        <p:nvSpPr>
          <p:cNvPr id="12" name="AutoShape 12"/>
          <p:cNvSpPr/>
          <p:nvPr/>
        </p:nvSpPr>
        <p:spPr>
          <a:xfrm>
            <a:off x="1690247" y="3243039"/>
            <a:ext cx="3169136" cy="1669688"/>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联邦学习需要频繁的模型更新和参数传输，可能对网络带宽造成压力。优化通信协议与减少频繁性是提升效率的关键因素。</a:t>
            </a:r>
          </a:p>
        </p:txBody>
      </p:sp>
      <p:sp>
        <p:nvSpPr>
          <p:cNvPr id="13" name="AutoShape 13"/>
          <p:cNvSpPr/>
          <p:nvPr/>
        </p:nvSpPr>
        <p:spPr>
          <a:xfrm>
            <a:off x="7600189" y="2464967"/>
            <a:ext cx="3169136" cy="338554"/>
          </a:xfrm>
          <a:prstGeom prst="rect">
            <a:avLst/>
          </a:prstGeom>
          <a:noFill/>
          <a:ln cap="flat" cmpd="sng">
            <a:prstDash val="solid"/>
          </a:ln>
        </p:spPr>
        <p:txBody>
          <a:bodyPr vert="horz" wrap="square" lIns="91440" tIns="45720" rIns="91440" bIns="45720" anchor="t">
            <a:spAutoFit/>
          </a:bodyPr>
          <a:lstStyle/>
          <a:p>
            <a:pPr marL="0" algn="ctr">
              <a:lnSpc>
                <a:spcPct val="100000"/>
              </a:lnSpc>
            </a:pPr>
            <a:r>
              <a:rPr lang="zh-CN" altLang="en-US" sz="1600" b="1" i="0" u="none" baseline="0">
                <a:solidFill>
                  <a:srgbClr val="000000"/>
                </a:solidFill>
                <a:latin typeface="微软雅黑"/>
                <a:ea typeface="微软雅黑"/>
              </a:rPr>
              <a:t>模型更新频率</a:t>
            </a:r>
          </a:p>
        </p:txBody>
      </p:sp>
      <p:sp>
        <p:nvSpPr>
          <p:cNvPr id="14" name="AutoShape 14"/>
          <p:cNvSpPr/>
          <p:nvPr/>
        </p:nvSpPr>
        <p:spPr>
          <a:xfrm>
            <a:off x="7596051" y="3237705"/>
            <a:ext cx="3169136" cy="1669688"/>
          </a:xfrm>
          <a:prstGeom prst="rect">
            <a:avLst/>
          </a:prstGeom>
          <a:noFill/>
          <a:ln cap="flat" cmpd="sng">
            <a:prstDash val="solid"/>
          </a:ln>
        </p:spPr>
        <p:txBody>
          <a:bodyPr vert="horz" wrap="square" lIns="91440" tIns="45720" rIns="91440" bIns="45720" anchor="t">
            <a:spAutoFit/>
          </a:bodyPr>
          <a:lstStyle/>
          <a:p>
            <a:pPr marL="0" algn="ctr">
              <a:lnSpc>
                <a:spcPct val="150000"/>
              </a:lnSpc>
            </a:pPr>
            <a:r>
              <a:rPr lang="zh-CN" altLang="en-US" sz="1400" b="0" i="0" u="none" baseline="0">
                <a:solidFill>
                  <a:srgbClr val="000000"/>
                </a:solidFill>
                <a:latin typeface="微软雅黑"/>
                <a:ea typeface="微软雅黑"/>
              </a:rPr>
              <a:t>调整模型更新频率，灵活设置更新周期，可以降低通信成本，同时保持模型训练的及时性和有效性，从而达到更好的平衡。</a:t>
            </a:r>
          </a:p>
        </p:txBody>
      </p:sp>
      <p:sp>
        <p:nvSpPr>
          <p:cNvPr id="15" name="AutoShape 15"/>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通信效率</a:t>
            </a:r>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759568" y="2145656"/>
            <a:ext cx="8358303" cy="646331"/>
          </a:xfrm>
        </p:spPr>
        <p:txBody>
          <a:bodyPr vert="horz" wrap="square" lIns="91440" tIns="45720" rIns="91440" bIns="45720" anchor="t">
            <a:spAutoFit/>
          </a:bodyPr>
          <a:lstStyle/>
          <a:p>
            <a:pPr algn="l">
              <a:lnSpc>
                <a:spcPct val="100000"/>
              </a:lnSpc>
              <a:spcBef>
                <a:spcPct val="0"/>
              </a:spcBef>
            </a:pPr>
            <a:r>
              <a:rPr lang="en-US" sz="3600" b="1" i="0" u="none" baseline="0">
                <a:solidFill>
                  <a:srgbClr val="F0F0F0"/>
                </a:solidFill>
                <a:latin typeface="微软雅黑"/>
                <a:ea typeface="微软雅黑"/>
              </a:rPr>
              <a:t>联邦学习的未来趋势</a:t>
            </a:r>
          </a:p>
        </p:txBody>
      </p:sp>
      <p:sp>
        <p:nvSpPr>
          <p:cNvPr id="3" name="TextBox 3"/>
          <p:cNvSpPr txBox="1"/>
          <p:nvPr/>
        </p:nvSpPr>
        <p:spPr>
          <a:xfrm>
            <a:off x="894652" y="2126166"/>
            <a:ext cx="750849"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FFFFFF"/>
                </a:solidFill>
                <a:latin typeface="Arial"/>
                <a:ea typeface="Arial"/>
              </a:rPr>
              <a:t>05</a:t>
            </a:r>
            <a:endParaRPr lang="en-US" sz="1100"/>
          </a:p>
        </p:txBody>
      </p:sp>
    </p:spTree>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Connector 2"/>
          <p:cNvCxnSpPr/>
          <p:nvPr/>
        </p:nvCxnSpPr>
        <p:spPr>
          <a:xfrm>
            <a:off x="4558857" y="2581356"/>
            <a:ext cx="0" cy="2119085"/>
          </a:xfrm>
          <a:prstGeom prst="line">
            <a:avLst/>
          </a:prstGeom>
          <a:ln w="12700" cap="flat" cmpd="sng">
            <a:solidFill>
              <a:srgbClr val="778495"/>
            </a:solidFill>
            <a:prstDash val="solid"/>
          </a:ln>
        </p:spPr>
      </p:cxnSp>
      <p:sp>
        <p:nvSpPr>
          <p:cNvPr id="3" name="AutoShape 3"/>
          <p:cNvSpPr/>
          <p:nvPr/>
        </p:nvSpPr>
        <p:spPr>
          <a:xfrm flipH="1">
            <a:off x="7725" y="1648246"/>
            <a:ext cx="4370959" cy="3552305"/>
          </a:xfrm>
          <a:prstGeom prst="homePlate">
            <a:avLst>
              <a:gd name="adj" fmla="val 39231"/>
            </a:avLst>
          </a:prstGeom>
          <a:gradFill>
            <a:gsLst>
              <a:gs pos="0">
                <a:srgbClr val="0048B4">
                  <a:lumMod val="60000"/>
                  <a:lumOff val="40000"/>
                </a:srgbClr>
              </a:gs>
              <a:gs pos="60000">
                <a:srgbClr val="0048B4"/>
              </a:gs>
            </a:gsLst>
            <a:lin ang="2700000"/>
          </a:gradFill>
          <a:ln cap="rnd" cmpd="sng">
            <a:prstDash val="solid"/>
          </a:ln>
          <a:effectLst>
            <a:outerShdw blurRad="50800" dist="50800" dir="5400000" algn="ctr" rotWithShape="0">
              <a:schemeClr val="accent1">
                <a:alpha val="20000"/>
              </a:schemeClr>
            </a:outerShdw>
          </a:effectLst>
        </p:spPr>
        <p:txBody>
          <a:bodyPr rot="0" vert="horz" wrap="square" lIns="91440" tIns="45720" rIns="91440" bIns="45720" anchor="b">
            <a:normAutofit/>
          </a:bodyPr>
          <a:lstStyle/>
          <a:p>
            <a:pPr marL="0" algn="ctr"/>
            <a:endParaRPr/>
          </a:p>
        </p:txBody>
      </p:sp>
      <p:sp>
        <p:nvSpPr>
          <p:cNvPr id="4" name="AutoShape 4"/>
          <p:cNvSpPr/>
          <p:nvPr/>
        </p:nvSpPr>
        <p:spPr>
          <a:xfrm>
            <a:off x="7733956" y="1667964"/>
            <a:ext cx="4370957" cy="3552305"/>
          </a:xfrm>
          <a:prstGeom prst="homePlate">
            <a:avLst>
              <a:gd name="adj" fmla="val 39231"/>
            </a:avLst>
          </a:prstGeom>
          <a:gradFill>
            <a:gsLst>
              <a:gs pos="0">
                <a:srgbClr val="0048B4">
                  <a:lumMod val="60000"/>
                  <a:lumOff val="40000"/>
                </a:srgbClr>
              </a:gs>
              <a:gs pos="60000">
                <a:srgbClr val="0048B4"/>
              </a:gs>
            </a:gsLst>
            <a:lin ang="2700000"/>
          </a:gradFill>
          <a:ln cap="rnd" cmpd="sng">
            <a:prstDash val="solid"/>
          </a:ln>
          <a:effectLst>
            <a:outerShdw blurRad="50800" dist="50800" dir="5400000" algn="ctr" rotWithShape="0">
              <a:schemeClr val="accent1">
                <a:alpha val="20000"/>
              </a:schemeClr>
            </a:outerShdw>
          </a:effectLst>
        </p:spPr>
        <p:txBody>
          <a:bodyPr rot="0" vert="horz" wrap="square" lIns="91440" tIns="45720" rIns="91440" bIns="45720" anchor="b">
            <a:normAutofit/>
          </a:bodyPr>
          <a:lstStyle/>
          <a:p>
            <a:pPr marL="0" algn="ctr"/>
            <a:endParaRPr/>
          </a:p>
        </p:txBody>
      </p:sp>
      <p:cxnSp>
        <p:nvCxnSpPr>
          <p:cNvPr id="5" name="Connector 5"/>
          <p:cNvCxnSpPr/>
          <p:nvPr/>
        </p:nvCxnSpPr>
        <p:spPr>
          <a:xfrm>
            <a:off x="7530657" y="2581356"/>
            <a:ext cx="0" cy="2119085"/>
          </a:xfrm>
          <a:prstGeom prst="line">
            <a:avLst/>
          </a:prstGeom>
          <a:ln w="12700" cap="flat" cmpd="sng">
            <a:solidFill>
              <a:srgbClr val="778495"/>
            </a:solidFill>
            <a:prstDash val="solid"/>
          </a:ln>
        </p:spPr>
      </p:cxnSp>
      <p:sp>
        <p:nvSpPr>
          <p:cNvPr id="6" name="AutoShape 6"/>
          <p:cNvSpPr/>
          <p:nvPr/>
        </p:nvSpPr>
        <p:spPr>
          <a:xfrm>
            <a:off x="4608240" y="2439464"/>
            <a:ext cx="2922417" cy="2815246"/>
          </a:xfrm>
          <a:prstGeom prst="ellipse">
            <a:avLst/>
          </a:prstGeom>
          <a:blipFill>
            <a:blip r:embed="rId3"/>
            <a:srcRect/>
            <a:stretch>
              <a:fillRect l="-25119" r="-25119"/>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7" name="AutoShape 7"/>
          <p:cNvSpPr/>
          <p:nvPr/>
        </p:nvSpPr>
        <p:spPr>
          <a:xfrm>
            <a:off x="1720114" y="2100910"/>
            <a:ext cx="2394686"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FFFFFF"/>
                </a:solidFill>
                <a:latin typeface="微软雅黑"/>
                <a:ea typeface="微软雅黑"/>
              </a:rPr>
              <a:t>新算法的出现</a:t>
            </a:r>
          </a:p>
        </p:txBody>
      </p:sp>
      <p:sp>
        <p:nvSpPr>
          <p:cNvPr id="8" name="AutoShape 8"/>
          <p:cNvSpPr/>
          <p:nvPr/>
        </p:nvSpPr>
        <p:spPr>
          <a:xfrm>
            <a:off x="1715976" y="2671177"/>
            <a:ext cx="2394686" cy="2316019"/>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chemeClr val="lt1"/>
                </a:solidFill>
                <a:latin typeface="微软雅黑"/>
                <a:ea typeface="微软雅黑"/>
              </a:rPr>
              <a:t>不断涌现的新算法，如联邦元学习和联邦对抗学习，可以提高模型的鲁棒性和精确度，为日后广泛应用铺平道路。</a:t>
            </a:r>
          </a:p>
        </p:txBody>
      </p:sp>
      <p:sp>
        <p:nvSpPr>
          <p:cNvPr id="9" name="AutoShape 9"/>
          <p:cNvSpPr/>
          <p:nvPr/>
        </p:nvSpPr>
        <p:spPr>
          <a:xfrm>
            <a:off x="8093636" y="2100910"/>
            <a:ext cx="2394686" cy="338554"/>
          </a:xfrm>
          <a:prstGeom prst="rect">
            <a:avLst/>
          </a:prstGeom>
          <a:noFill/>
          <a:ln cap="flat" cmpd="sng">
            <a:prstDash val="solid"/>
          </a:ln>
        </p:spPr>
        <p:txBody>
          <a:bodyPr vert="horz" wrap="square" lIns="91440" tIns="45720" rIns="91440" bIns="45720" anchor="t">
            <a:spAutoFit/>
          </a:bodyPr>
          <a:lstStyle/>
          <a:p>
            <a:pPr marL="0" algn="l">
              <a:lnSpc>
                <a:spcPct val="100000"/>
              </a:lnSpc>
            </a:pPr>
            <a:r>
              <a:rPr lang="zh-CN" altLang="en-US" sz="1600" b="1" i="0" u="none" baseline="0">
                <a:solidFill>
                  <a:srgbClr val="FFFFFF"/>
                </a:solidFill>
                <a:latin typeface="微软雅黑"/>
                <a:ea typeface="微软雅黑"/>
              </a:rPr>
              <a:t>跨域应用探索</a:t>
            </a:r>
          </a:p>
        </p:txBody>
      </p:sp>
      <p:sp>
        <p:nvSpPr>
          <p:cNvPr id="10" name="AutoShape 10"/>
          <p:cNvSpPr/>
          <p:nvPr/>
        </p:nvSpPr>
        <p:spPr>
          <a:xfrm>
            <a:off x="8089498" y="2671177"/>
            <a:ext cx="2394686" cy="2316019"/>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chemeClr val="lt1"/>
                </a:solidFill>
                <a:latin typeface="微软雅黑"/>
                <a:ea typeface="微软雅黑"/>
              </a:rPr>
              <a:t>联邦学习将逐渐向跨域应用扩展，将不同领域的数据利用融合起来，增强模型的全面性与适应性，形成更好的应用场景。</a:t>
            </a:r>
          </a:p>
        </p:txBody>
      </p:sp>
      <p:sp>
        <p:nvSpPr>
          <p:cNvPr id="11" name="AutoShape 11"/>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mn-ea"/>
                <a:ea typeface="+mn-ea"/>
              </a:rPr>
              <a:t>技术发展</a:t>
            </a:r>
          </a:p>
        </p:txBody>
      </p:sp>
    </p:spTree>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3632289" y="1739591"/>
            <a:ext cx="4319239" cy="4334106"/>
          </a:xfrm>
          <a:prstGeom prst="roundRect">
            <a:avLst/>
          </a:prstGeom>
          <a:solidFill>
            <a:schemeClr val="accent2">
              <a:alpha val="10000"/>
            </a:schemeClr>
          </a:solidFill>
          <a:ln w="12700" cap="rnd" cmpd="sng">
            <a:gradFill>
              <a:gsLst>
                <a:gs pos="0">
                  <a:srgbClr val="002880"/>
                </a:gs>
                <a:gs pos="100000">
                  <a:srgbClr val="002880">
                    <a:alpha val="20000"/>
                    <a:lumMod val="60000"/>
                    <a:lumOff val="40000"/>
                  </a:srgbClr>
                </a:gs>
              </a:gsLst>
              <a:lin ang="2700000"/>
            </a:gradFill>
            <a:prstDash val="solid"/>
          </a:ln>
        </p:spPr>
        <p:txBody>
          <a:bodyPr rot="0" vert="horz" wrap="square" lIns="91440" tIns="45720" rIns="91440" bIns="45720" anchor="ctr">
            <a:noAutofit/>
          </a:bodyPr>
          <a:lstStyle/>
          <a:p>
            <a:pPr marL="0" algn="ctr"/>
            <a:endParaRPr/>
          </a:p>
        </p:txBody>
      </p:sp>
      <p:sp>
        <p:nvSpPr>
          <p:cNvPr id="3" name="AutoShape 3"/>
          <p:cNvSpPr/>
          <p:nvPr/>
        </p:nvSpPr>
        <p:spPr>
          <a:xfrm>
            <a:off x="468350" y="1107687"/>
            <a:ext cx="4319239" cy="4334107"/>
          </a:xfrm>
          <a:prstGeom prst="roundRect">
            <a:avLst/>
          </a:prstGeom>
          <a:gradFill>
            <a:gsLst>
              <a:gs pos="0">
                <a:srgbClr val="002880">
                  <a:lumMod val="60000"/>
                  <a:lumOff val="40000"/>
                </a:srgbClr>
              </a:gs>
              <a:gs pos="60000">
                <a:srgbClr val="002880"/>
              </a:gs>
            </a:gsLst>
            <a:lin ang="2700000"/>
          </a:gradFill>
          <a:ln cap="rnd" cmpd="sng">
            <a:prstDash val="solid"/>
          </a:ln>
          <a:effectLst>
            <a:outerShdw blurRad="76200" dist="50800" dir="5400000" algn="ctr" rotWithShape="0">
              <a:schemeClr val="accent2">
                <a:alpha val="20000"/>
              </a:schemeClr>
            </a:outerShdw>
          </a:effectLst>
        </p:spPr>
        <p:txBody>
          <a:bodyPr rot="0" vert="horz" wrap="none" lIns="91440" tIns="45720" rIns="91440" bIns="45720" anchor="ctr">
            <a:noAutofit/>
          </a:bodyPr>
          <a:lstStyle/>
          <a:p>
            <a:pPr marL="0" algn="ctr"/>
            <a:endParaRPr/>
          </a:p>
        </p:txBody>
      </p:sp>
      <p:sp>
        <p:nvSpPr>
          <p:cNvPr id="4" name="AutoShape 4"/>
          <p:cNvSpPr/>
          <p:nvPr/>
        </p:nvSpPr>
        <p:spPr>
          <a:xfrm>
            <a:off x="7951528" y="426492"/>
            <a:ext cx="4158696" cy="4561819"/>
          </a:xfrm>
          <a:prstGeom prst="roundRect">
            <a:avLst>
              <a:gd name="adj" fmla="val 7022"/>
            </a:avLst>
          </a:prstGeom>
          <a:blipFill>
            <a:blip r:embed="rId3"/>
            <a:srcRect/>
            <a:stretch>
              <a:fillRect l="-25119" r="-25119"/>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5" name="TextBox 5"/>
          <p:cNvSpPr txBox="1"/>
          <p:nvPr/>
        </p:nvSpPr>
        <p:spPr>
          <a:xfrm>
            <a:off x="907869" y="2617727"/>
            <a:ext cx="3389811" cy="1669688"/>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FFFFFF"/>
                </a:solidFill>
                <a:latin typeface="微软雅黑"/>
                <a:ea typeface="微软雅黑"/>
              </a:rPr>
              <a:t>各国对数据隐私的政策日益严格，联邦学习将在符合GDPR和CCPA等法规的背景下得到更广泛的应用，确保法律合规。</a:t>
            </a:r>
            <a:endParaRPr lang="en-US" sz="1100"/>
          </a:p>
        </p:txBody>
      </p:sp>
      <p:sp>
        <p:nvSpPr>
          <p:cNvPr id="6" name="TextBox 6"/>
          <p:cNvSpPr txBox="1"/>
          <p:nvPr/>
        </p:nvSpPr>
        <p:spPr>
          <a:xfrm>
            <a:off x="907869" y="1986320"/>
            <a:ext cx="338981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FFFFFF"/>
                </a:solidFill>
                <a:latin typeface="微软雅黑"/>
                <a:ea typeface="微软雅黑"/>
              </a:rPr>
              <a:t>数据隐私政策</a:t>
            </a:r>
            <a:endParaRPr lang="en-US" sz="1100"/>
          </a:p>
        </p:txBody>
      </p:sp>
      <p:sp>
        <p:nvSpPr>
          <p:cNvPr id="7" name="TextBox 7"/>
          <p:cNvSpPr txBox="1"/>
          <p:nvPr/>
        </p:nvSpPr>
        <p:spPr>
          <a:xfrm>
            <a:off x="4757535" y="2962064"/>
            <a:ext cx="2903831" cy="1992853"/>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000000"/>
                </a:solidFill>
                <a:latin typeface="微软雅黑"/>
                <a:ea typeface="微软雅黑"/>
              </a:rPr>
              <a:t>企业在运用联邦学习时，应建立清晰的责任框架，确保每个参与者对数据、算法及其成果的管理和监督，促进整个生态的健康发展。</a:t>
            </a:r>
            <a:endParaRPr lang="en-US" sz="1100"/>
          </a:p>
        </p:txBody>
      </p:sp>
      <p:sp>
        <p:nvSpPr>
          <p:cNvPr id="8" name="TextBox 8"/>
          <p:cNvSpPr txBox="1"/>
          <p:nvPr/>
        </p:nvSpPr>
        <p:spPr>
          <a:xfrm>
            <a:off x="4757535" y="2330657"/>
            <a:ext cx="2903832" cy="338554"/>
          </a:xfrm>
          <a:prstGeom prst="rect">
            <a:avLst/>
          </a:prstGeom>
          <a:noFill/>
        </p:spPr>
        <p:txBody>
          <a:bodyPr vert="horz" wrap="square" lIns="91440" tIns="45720" rIns="91440" bIns="45720" rtlCol="0" anchor="t">
            <a:spAutoFit/>
          </a:bodyPr>
          <a:lstStyle/>
          <a:p>
            <a:pPr marL="0" algn="ctr">
              <a:lnSpc>
                <a:spcPct val="100000"/>
              </a:lnSpc>
              <a:defRPr/>
            </a:pPr>
            <a:r>
              <a:rPr lang="zh-CN" altLang="en-US" sz="1600" b="1" i="0" u="none" baseline="0">
                <a:ln/>
                <a:solidFill>
                  <a:srgbClr val="000000"/>
                </a:solidFill>
                <a:latin typeface="微软雅黑"/>
                <a:ea typeface="微软雅黑"/>
              </a:rPr>
              <a:t>企业责任框架</a:t>
            </a:r>
            <a:endParaRPr lang="en-US" sz="1100"/>
          </a:p>
        </p:txBody>
      </p:sp>
      <p:sp>
        <p:nvSpPr>
          <p:cNvPr id="9" name="AutoShape 9"/>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政策与法规</a:t>
            </a:r>
          </a:p>
        </p:txBody>
      </p:sp>
    </p:spTree>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399" y="0"/>
            <a:ext cx="10858500" cy="1028700"/>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生态系统构建</a:t>
            </a:r>
          </a:p>
        </p:txBody>
      </p:sp>
      <p:sp>
        <p:nvSpPr>
          <p:cNvPr id="3" name="AutoShape 3"/>
          <p:cNvSpPr/>
          <p:nvPr/>
        </p:nvSpPr>
        <p:spPr>
          <a:xfrm>
            <a:off x="1072294" y="1675039"/>
            <a:ext cx="4292910" cy="3341460"/>
          </a:xfrm>
          <a:prstGeom prst="rect">
            <a:avLst/>
          </a:prstGeom>
          <a:solidFill>
            <a:srgbClr val="000000">
              <a:alpha val="10000"/>
              <a:lumMod val="50000"/>
              <a:lumOff val="50000"/>
            </a:srgbClr>
          </a:solidFill>
          <a:ln cap="rnd" cmpd="sng">
            <a:prstDash val="solid"/>
          </a:ln>
        </p:spPr>
        <p:txBody>
          <a:bodyPr rot="0" vert="horz" wrap="square" lIns="91440" tIns="45720" rIns="91440" bIns="45720" anchor="ctr">
            <a:normAutofit/>
          </a:bodyPr>
          <a:lstStyle/>
          <a:p>
            <a:pPr marL="0" algn="ctr"/>
            <a:endParaRPr/>
          </a:p>
        </p:txBody>
      </p:sp>
      <p:sp>
        <p:nvSpPr>
          <p:cNvPr id="4" name="TextBox 4"/>
          <p:cNvSpPr txBox="1"/>
          <p:nvPr/>
        </p:nvSpPr>
        <p:spPr>
          <a:xfrm>
            <a:off x="1161213" y="2789193"/>
            <a:ext cx="3619789" cy="338554"/>
          </a:xfrm>
          <a:prstGeom prst="rect">
            <a:avLst/>
          </a:prstGeom>
          <a:noFill/>
          <a:ln cap="rnd" cmpd="sng">
            <a:prstDash val="solid"/>
          </a:ln>
        </p:spPr>
        <p:txBody>
          <a:bodyPr rot="0" vert="horz" wrap="square" lIns="91440" tIns="45720" rIns="91440" bIns="45720" rtlCol="0" anchor="ctr">
            <a:prstTxWarp prst="textNoShape">
              <a:avLst/>
            </a:prstTxWarp>
            <a:spAutoFit/>
          </a:bodyPr>
          <a:lstStyle/>
          <a:p>
            <a:pPr marL="0" algn="l">
              <a:defRPr/>
            </a:pPr>
            <a:r>
              <a:rPr lang="zh-CN" altLang="en-US" sz="1600" b="1" i="0" u="none" baseline="0">
                <a:solidFill>
                  <a:srgbClr val="000000"/>
                </a:solidFill>
                <a:latin typeface="微软雅黑"/>
                <a:ea typeface="微软雅黑"/>
              </a:rPr>
              <a:t>合作平台与联盟</a:t>
            </a:r>
            <a:endParaRPr lang="en-US" sz="1100"/>
          </a:p>
        </p:txBody>
      </p:sp>
      <p:sp>
        <p:nvSpPr>
          <p:cNvPr id="5" name="AutoShape 5"/>
          <p:cNvSpPr/>
          <p:nvPr/>
        </p:nvSpPr>
        <p:spPr>
          <a:xfrm>
            <a:off x="1161212" y="3184540"/>
            <a:ext cx="3619791" cy="1346522"/>
          </a:xfrm>
          <a:prstGeom prst="rect">
            <a:avLst/>
          </a:prstGeom>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随着技术的发展，构建行业合作平台和联盟，将成为联邦学习的重要趋势，促进参与者之间的合作与资源共享。</a:t>
            </a:r>
          </a:p>
        </p:txBody>
      </p:sp>
      <p:sp>
        <p:nvSpPr>
          <p:cNvPr id="6" name="TextBox 6"/>
          <p:cNvSpPr txBox="1"/>
          <p:nvPr/>
        </p:nvSpPr>
        <p:spPr>
          <a:xfrm>
            <a:off x="4029435" y="3844814"/>
            <a:ext cx="1441420" cy="1446550"/>
          </a:xfrm>
          <a:prstGeom prst="rect">
            <a:avLst/>
          </a:prstGeom>
          <a:noFill/>
        </p:spPr>
        <p:txBody>
          <a:bodyPr vert="horz" wrap="none" lIns="91440" tIns="45720" rIns="91440" bIns="45720" rtlCol="0" anchor="t">
            <a:spAutoFit/>
          </a:bodyPr>
          <a:lstStyle/>
          <a:p>
            <a:pPr marL="0" algn="l">
              <a:defRPr/>
            </a:pPr>
            <a:r>
              <a:rPr lang="en-US" sz="8800" b="1" i="0" u="none" baseline="0">
                <a:solidFill>
                  <a:srgbClr val="FFFFFF"/>
                </a:solidFill>
                <a:latin typeface="Arial"/>
                <a:ea typeface="Arial"/>
              </a:rPr>
              <a:t>01</a:t>
            </a:r>
            <a:endParaRPr lang="en-US" sz="1100"/>
          </a:p>
        </p:txBody>
      </p:sp>
      <p:cxnSp>
        <p:nvCxnSpPr>
          <p:cNvPr id="7" name="Connector 7"/>
          <p:cNvCxnSpPr/>
          <p:nvPr/>
        </p:nvCxnSpPr>
        <p:spPr>
          <a:xfrm>
            <a:off x="1072294" y="1688102"/>
            <a:ext cx="4292910" cy="0"/>
          </a:xfrm>
          <a:prstGeom prst="line">
            <a:avLst/>
          </a:prstGeom>
          <a:ln w="25400" cap="flat" cmpd="sng">
            <a:solidFill>
              <a:schemeClr val="accent1"/>
            </a:solidFill>
            <a:prstDash val="solid"/>
          </a:ln>
        </p:spPr>
      </p:cxnSp>
      <p:sp>
        <p:nvSpPr>
          <p:cNvPr id="8" name="Freeform 8"/>
          <p:cNvSpPr/>
          <p:nvPr/>
        </p:nvSpPr>
        <p:spPr>
          <a:xfrm>
            <a:off x="1257741" y="2118478"/>
            <a:ext cx="320770" cy="433039"/>
          </a:xfrm>
          <a:custGeom>
            <a:avLst/>
            <a:gdLst/>
            <a:ahLst/>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chemeClr val="accent1"/>
          </a:solidFill>
        </p:spPr>
        <p:txBody>
          <a:bodyPr vert="horz" lIns="91440" tIns="45720" rIns="91440" bIns="45720" anchor="t">
            <a:normAutofit/>
          </a:bodyPr>
          <a:lstStyle/>
          <a:p>
            <a:pPr marL="0" algn="l"/>
            <a:endParaRPr/>
          </a:p>
        </p:txBody>
      </p:sp>
      <p:sp>
        <p:nvSpPr>
          <p:cNvPr id="9" name="AutoShape 9"/>
          <p:cNvSpPr/>
          <p:nvPr/>
        </p:nvSpPr>
        <p:spPr>
          <a:xfrm>
            <a:off x="6721145" y="1675039"/>
            <a:ext cx="4292910" cy="3341460"/>
          </a:xfrm>
          <a:prstGeom prst="rect">
            <a:avLst/>
          </a:prstGeom>
          <a:solidFill>
            <a:srgbClr val="000000">
              <a:alpha val="10000"/>
              <a:lumMod val="50000"/>
              <a:lumOff val="50000"/>
            </a:srgbClr>
          </a:solidFill>
          <a:ln cap="rnd" cmpd="sng">
            <a:prstDash val="solid"/>
          </a:ln>
        </p:spPr>
        <p:txBody>
          <a:bodyPr rot="0" vert="horz" wrap="square" lIns="91440" tIns="45720" rIns="91440" bIns="45720" anchor="ctr">
            <a:normAutofit/>
          </a:bodyPr>
          <a:lstStyle/>
          <a:p>
            <a:pPr marL="0" algn="ctr"/>
            <a:endParaRPr/>
          </a:p>
        </p:txBody>
      </p:sp>
      <p:sp>
        <p:nvSpPr>
          <p:cNvPr id="10" name="TextBox 10"/>
          <p:cNvSpPr txBox="1"/>
          <p:nvPr/>
        </p:nvSpPr>
        <p:spPr>
          <a:xfrm>
            <a:off x="6810064" y="2789193"/>
            <a:ext cx="3619789" cy="338554"/>
          </a:xfrm>
          <a:prstGeom prst="rect">
            <a:avLst/>
          </a:prstGeom>
          <a:noFill/>
          <a:ln cap="rnd" cmpd="sng">
            <a:prstDash val="solid"/>
          </a:ln>
        </p:spPr>
        <p:txBody>
          <a:bodyPr rot="0" vert="horz" wrap="square" lIns="91440" tIns="45720" rIns="91440" bIns="45720" rtlCol="0" anchor="ctr">
            <a:prstTxWarp prst="textNoShape">
              <a:avLst/>
            </a:prstTxWarp>
            <a:spAutoFit/>
          </a:bodyPr>
          <a:lstStyle/>
          <a:p>
            <a:pPr marL="0" algn="l">
              <a:defRPr/>
            </a:pPr>
            <a:r>
              <a:rPr lang="zh-CN" altLang="en-US" sz="1600" b="1" i="0" u="none" baseline="0">
                <a:solidFill>
                  <a:srgbClr val="000000"/>
                </a:solidFill>
                <a:latin typeface="微软雅黑"/>
                <a:ea typeface="微软雅黑"/>
              </a:rPr>
              <a:t>开源工具和资源</a:t>
            </a:r>
            <a:endParaRPr lang="en-US" sz="1100"/>
          </a:p>
        </p:txBody>
      </p:sp>
      <p:sp>
        <p:nvSpPr>
          <p:cNvPr id="11" name="AutoShape 11"/>
          <p:cNvSpPr/>
          <p:nvPr/>
        </p:nvSpPr>
        <p:spPr>
          <a:xfrm>
            <a:off x="6810063" y="3184540"/>
            <a:ext cx="3619791" cy="1345048"/>
          </a:xfrm>
          <a:prstGeom prst="rect">
            <a:avLst/>
          </a:prstGeom>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开源工具库的建立将助力研发人员和研究机构共同开发与改进联邦学习，加快技术的普及和应用落地，降低技术开发的门槛。</a:t>
            </a:r>
          </a:p>
        </p:txBody>
      </p:sp>
      <p:sp>
        <p:nvSpPr>
          <p:cNvPr id="12" name="TextBox 12"/>
          <p:cNvSpPr txBox="1"/>
          <p:nvPr/>
        </p:nvSpPr>
        <p:spPr>
          <a:xfrm>
            <a:off x="9678286" y="3844814"/>
            <a:ext cx="1441420" cy="1446550"/>
          </a:xfrm>
          <a:prstGeom prst="rect">
            <a:avLst/>
          </a:prstGeom>
          <a:noFill/>
        </p:spPr>
        <p:txBody>
          <a:bodyPr vert="horz" wrap="none" lIns="91440" tIns="45720" rIns="91440" bIns="45720" rtlCol="0" anchor="t">
            <a:spAutoFit/>
          </a:bodyPr>
          <a:lstStyle/>
          <a:p>
            <a:pPr marL="0" algn="l">
              <a:defRPr/>
            </a:pPr>
            <a:r>
              <a:rPr lang="en-US" sz="8800" b="1" i="0" u="none" baseline="0">
                <a:solidFill>
                  <a:srgbClr val="FFFFFF"/>
                </a:solidFill>
                <a:latin typeface="Arial"/>
                <a:ea typeface="Arial"/>
              </a:rPr>
              <a:t>02</a:t>
            </a:r>
            <a:endParaRPr lang="en-US" sz="1100"/>
          </a:p>
        </p:txBody>
      </p:sp>
      <p:cxnSp>
        <p:nvCxnSpPr>
          <p:cNvPr id="13" name="Connector 13"/>
          <p:cNvCxnSpPr/>
          <p:nvPr/>
        </p:nvCxnSpPr>
        <p:spPr>
          <a:xfrm>
            <a:off x="6721145" y="1688102"/>
            <a:ext cx="4292910" cy="0"/>
          </a:xfrm>
          <a:prstGeom prst="line">
            <a:avLst/>
          </a:prstGeom>
          <a:ln w="25400" cap="flat" cmpd="sng">
            <a:solidFill>
              <a:schemeClr val="accent1"/>
            </a:solidFill>
            <a:prstDash val="solid"/>
          </a:ln>
        </p:spPr>
      </p:cxnSp>
      <p:sp>
        <p:nvSpPr>
          <p:cNvPr id="14" name="Freeform 14"/>
          <p:cNvSpPr/>
          <p:nvPr/>
        </p:nvSpPr>
        <p:spPr>
          <a:xfrm>
            <a:off x="6929962" y="2089250"/>
            <a:ext cx="425166" cy="433039"/>
          </a:xfrm>
          <a:custGeom>
            <a:avLst/>
            <a:gdLst/>
            <a:ahLst/>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chemeClr val="accent1"/>
          </a:solidFill>
        </p:spPr>
        <p:txBody>
          <a:bodyPr vert="horz" lIns="91440" tIns="45720" rIns="91440" bIns="45720" anchor="t">
            <a:normAutofit/>
          </a:bodyPr>
          <a:lstStyle/>
          <a:p>
            <a:pPr marL="0" algn="l"/>
            <a:endParaRPr/>
          </a:p>
        </p:txBody>
      </p:sp>
    </p:spTree>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047750" y="857250"/>
            <a:ext cx="5810250" cy="1809750"/>
          </a:xfrm>
        </p:spPr>
        <p:txBody>
          <a:bodyPr vert="horz" wrap="square" lIns="91440" tIns="45720" rIns="91440" bIns="45720" anchor="b">
            <a:normAutofit/>
          </a:bodyPr>
          <a:lstStyle/>
          <a:p>
            <a:pPr algn="l">
              <a:lnSpc>
                <a:spcPct val="100000"/>
              </a:lnSpc>
              <a:spcBef>
                <a:spcPct val="0"/>
              </a:spcBef>
            </a:pPr>
            <a:r>
              <a:rPr lang="zh-CN" altLang="en-US" sz="6000" b="1" i="0" u="none" baseline="0">
                <a:solidFill>
                  <a:srgbClr val="F0F0F0"/>
                </a:solidFill>
                <a:latin typeface="微软雅黑"/>
                <a:ea typeface="微软雅黑"/>
              </a:rPr>
              <a:t>感谢聆听</a:t>
            </a:r>
          </a:p>
        </p:txBody>
      </p:sp>
      <p:sp>
        <p:nvSpPr>
          <p:cNvPr id="3" name="TextBox 3"/>
          <p:cNvSpPr txBox="1"/>
          <p:nvPr/>
        </p:nvSpPr>
        <p:spPr>
          <a:xfrm>
            <a:off x="1144858" y="2818841"/>
            <a:ext cx="862361" cy="307777"/>
          </a:xfrm>
          <a:prstGeom prst="rect">
            <a:avLst/>
          </a:prstGeom>
          <a:noFill/>
        </p:spPr>
        <p:txBody>
          <a:bodyPr vert="horz" wrap="square" lIns="91440" tIns="45720" rIns="91440" bIns="45720" rtlCol="0" anchor="t">
            <a:spAutoFit/>
          </a:bodyPr>
          <a:lstStyle/>
          <a:p>
            <a:pPr marL="0" algn="l">
              <a:defRPr/>
            </a:pPr>
            <a:r>
              <a:rPr lang="zh-CN" altLang="en-US" sz="1400" b="0" i="0" u="none" baseline="0">
                <a:solidFill>
                  <a:srgbClr val="FFFFFF"/>
                </a:solidFill>
                <a:latin typeface="微软雅黑"/>
                <a:ea typeface="微软雅黑"/>
              </a:rPr>
              <a:t>汇报人</a:t>
            </a:r>
            <a:endParaRPr lang="en-US" sz="1100"/>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0048B4"/>
      </a:accent1>
      <a:accent2>
        <a:srgbClr val="002880"/>
      </a:accent2>
      <a:accent3>
        <a:srgbClr val="0F99FF"/>
      </a:accent3>
      <a:accent4>
        <a:srgbClr val="006BE2"/>
      </a:accent4>
      <a:accent5>
        <a:srgbClr val="A20841"/>
      </a:accent5>
      <a:accent6>
        <a:srgbClr val="800012"/>
      </a:accent6>
      <a:hlink>
        <a:srgbClr val="4472C4"/>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1185</Words>
  <Application>Microsoft Office PowerPoint</Application>
  <PresentationFormat>宽屏</PresentationFormat>
  <Paragraphs>104</Paragraphs>
  <Slides>21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微软雅黑</vt:lpstr>
      <vt:lpstr>Arial</vt:lpstr>
      <vt:lpstr>Office Theme</vt:lpstr>
      <vt:lpstr>联邦学习技术</vt:lpstr>
      <vt:lpstr>PowerPoint 演示文稿</vt:lpstr>
      <vt:lpstr>联邦学习概述</vt:lpstr>
      <vt:lpstr>什么是联邦学习</vt:lpstr>
      <vt:lpstr>主要特点</vt:lpstr>
      <vt:lpstr>联邦学习的工作原理</vt:lpstr>
      <vt:lpstr>基本流程</vt:lpstr>
      <vt:lpstr>系统架构</vt:lpstr>
      <vt:lpstr>联邦学习的应用场景</vt:lpstr>
      <vt:lpstr>医疗健康数据</vt:lpstr>
      <vt:lpstr>金融行业</vt:lpstr>
      <vt:lpstr>智能设备</vt:lpstr>
      <vt:lpstr>联邦学习的挑战与问题</vt:lpstr>
      <vt:lpstr>数据异质性</vt:lpstr>
      <vt:lpstr>隐私与安全</vt:lpstr>
      <vt:lpstr>通信效率</vt:lpstr>
      <vt:lpstr>联邦学习的未来趋势</vt:lpstr>
      <vt:lpstr>技术发展</vt:lpstr>
      <vt:lpstr>政策与法规</vt:lpstr>
      <vt:lpstr>生态系统构建</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充 刘</cp:lastModifiedBy>
  <cp:revision>3</cp:revision>
  <dcterms:created xsi:type="dcterms:W3CDTF">2025-07-23T01:34:09Z</dcterms:created>
  <dcterms:modified xsi:type="dcterms:W3CDTF">2025-07-23T02:32:32Z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ies>
</file>