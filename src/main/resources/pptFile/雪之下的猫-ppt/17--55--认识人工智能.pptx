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omments/modernComment_100_0.xml" ContentType="application/vnd.ms-powerpoint.comments+xml"/>
  <Override PartName="/ppt/comments/modernComment_101_0.xml" ContentType="application/vnd.ms-powerpoint.comments+xml"/>
  <Override PartName="/ppt/comments/modernComment_102_0.xml" ContentType="application/vnd.ms-powerpoint.comments+xml"/>
  <Override PartName="/ppt/comments/modernComment_103_0.xml" ContentType="application/vnd.ms-powerpoint.comments+xml"/>
  <Override PartName="/ppt/comments/modernComment_104_0.xml" ContentType="application/vnd.ms-powerpoint.comments+xml"/>
  <Override PartName="/ppt/comments/modernComment_105_0.xml" ContentType="application/vnd.ms-powerpoint.comments+xml"/>
  <Override PartName="/ppt/comments/modernComment_106_0.xml" ContentType="application/vnd.ms-powerpoint.comments+xml"/>
  <Override PartName="/ppt/comments/modernComment_107_0.xml" ContentType="application/vnd.ms-powerpoint.comments+xml"/>
  <Override PartName="/ppt/comments/modernComment_108_0.xml" ContentType="application/vnd.ms-powerpoint.comments+xml"/>
  <Override PartName="/ppt/comments/modernComment_109_0.xml" ContentType="application/vnd.ms-powerpoint.comments+xml"/>
  <Override PartName="/ppt/comments/modernComment_10A_0.xml" ContentType="application/vnd.ms-powerpoint.comments+xml"/>
  <Override PartName="/ppt/comments/modernComment_10B_0.xml" ContentType="application/vnd.ms-powerpoint.comments+xml"/>
  <Override PartName="/ppt/comments/modernComment_10C_0.xml" ContentType="application/vnd.ms-powerpoint.comments+xml"/>
  <Override PartName="/ppt/comments/modernComment_10D_0.xml" ContentType="application/vnd.ms-powerpoint.comments+xml"/>
  <Override PartName="/ppt/comments/modernComment_10E_0.xml" ContentType="application/vnd.ms-powerpoint.comments+xml"/>
  <Override PartName="/ppt/comments/modernComment_10F_0.xml" ContentType="application/vnd.ms-powerpoint.comments+xml"/>
  <Override PartName="/ppt/comments/modernComment_110_0.xml" ContentType="application/vnd.ms-powerpoint.comments+xml"/>
  <Override PartName="/ppt/comments/modernComment_114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DB4E6F-FBD6-FF5D-3947-84D9301DD603}" name="充 刘" initials="充刘" userId="807eb20ee4d2c00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6" d="100"/>
          <a:sy n="96" d="100"/>
        </p:scale>
        <p:origin x="102" y="2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2A3348-2D66-44F9-B404-6C31F8E640FC}" authorId="{4EDB4E6F-FBD6-FF5D-3947-84D9301DD603}" created="2025-07-13T12:19:03.435">
    <pc:sldMkLst xmlns:pc="http://schemas.microsoft.com/office/powerpoint/2013/main/command">
      <pc:docMk/>
      <pc:sldMk cId="0" sldId="266"/>
    </pc:sldMkLst>
    <p188:txBody>
      <a:bodyPr/>
      <a:lstStyle/>
      <a:p>
        <a:r>
          <a:rPr lang="zh-CN" altLang="en-US"/>
          <a:t>NLP 助力客服助手高效处理查询，信息检索精准提取内容，情感分析辅助企业决策</a:t>
        </a:r>
      </a:p>
    </p188:txBody>
  </p188:cm>
</p188:cmLst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2EE3B1-0DD9-4E4A-8F3B-7ECB02642BD1}" authorId="{4EDB4E6F-FBD6-FF5D-3947-84D9301DD603}" created="2025-07-13T12:19:20.410">
    <pc:sldMkLst xmlns:pc="http://schemas.microsoft.com/office/powerpoint/2013/main/command">
      <pc:docMk/>
      <pc:sldMk cId="0" sldId="267"/>
    </pc:sldMkLst>
    <p188:txBody>
      <a:bodyPr/>
      <a:lstStyle/>
      <a:p>
        <a:r>
          <a:rPr lang="zh-CN" altLang="en-US"/>
          <a:t>计算机视觉（CV）让机器 “看懂” 世界，通过图像处理、目标检测和识别，实现对视觉信息的理解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FDB824-D5B5-4C7D-AE83-705A9093204D}" authorId="{4EDB4E6F-FBD6-FF5D-3947-84D9301DD603}" created="2025-07-13T12:19:39.360">
    <pc:sldMkLst xmlns:pc="http://schemas.microsoft.com/office/powerpoint/2013/main/command">
      <pc:docMk/>
      <pc:sldMk cId="0" sldId="268"/>
    </pc:sldMkLst>
    <p188:txBody>
      <a:bodyPr/>
      <a:lstStyle/>
      <a:p>
        <a:r>
          <a:rPr lang="zh-CN" altLang="en-US"/>
          <a:t>CV 技术包括图像分类、目标检测、语义分割等，广泛应用于安防监控、医疗影像分析等领域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6F39CA-DD7E-44A5-ABE9-F47F140A6124}" authorId="{4EDB4E6F-FBD6-FF5D-3947-84D9301DD603}" created="2025-07-13T12:21:46.110">
    <pc:sldMkLst xmlns:pc="http://schemas.microsoft.com/office/powerpoint/2013/main/command">
      <pc:docMk/>
      <pc:sldMk cId="0" sldId="269"/>
    </pc:sldMkLst>
    <p188:txBody>
      <a:bodyPr/>
      <a:lstStyle/>
      <a:p>
        <a:r>
          <a:rPr lang="zh-CN" altLang="en-US"/>
          <a:t>人脸识别技术是 CV 的典型应用，通过特征提取和比对，实现身份验证、门禁控制等功能，同时自动驾驶依赖 CV 技术识别道路、交通标志和障碍物</a:t>
        </a:r>
      </a:p>
    </p188:txBody>
  </p188:cm>
</p188:cmLst>
</file>

<file path=ppt/comments/modernComment_10E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20720C-FBC3-48BF-81CA-47CAB9233BD8}" authorId="{4EDB4E6F-FBD6-FF5D-3947-84D9301DD603}" created="2025-07-13T12:22:00.558">
    <pc:sldMkLst xmlns:pc="http://schemas.microsoft.com/office/powerpoint/2013/main/command">
      <pc:docMk/>
      <pc:sldMk cId="0" sldId="270"/>
    </pc:sldMkLst>
    <p188:txBody>
      <a:bodyPr/>
      <a:lstStyle/>
      <a:p>
        <a:r>
          <a:rPr lang="zh-CN" altLang="en-US"/>
          <a:t>下面是人工智能需要面对的 伦理与挑战</a:t>
        </a:r>
      </a:p>
    </p188:txBody>
  </p188:cm>
</p188:cmLst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2EEE5F-DAB4-41A7-9D55-A56C7BA60754}" authorId="{4EDB4E6F-FBD6-FF5D-3947-84D9301DD603}" created="2025-07-13T12:23:29.710">
    <pc:sldMkLst xmlns:pc="http://schemas.microsoft.com/office/powerpoint/2013/main/command">
      <pc:docMk/>
      <pc:sldMk cId="0" sldId="271"/>
    </pc:sldMkLst>
    <p188:txBody>
      <a:bodyPr/>
      <a:lstStyle/>
      <a:p>
        <a:r>
          <a:rPr lang="zh-CN" altLang="en-US"/>
          <a:t>人工智能面临的伦理与挑战包括数据隐私保护、算法偏见、就业影响等，需建立法规和道德准则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126E25B-83FD-4FDF-9AE4-8FB948AF1F1A}" authorId="{4EDB4E6F-FBD6-FF5D-3947-84D9301DD603}" created="2025-07-13T12:09:56.267">
    <pc:sldMkLst xmlns:pc="http://schemas.microsoft.com/office/powerpoint/2013/main/command">
      <pc:docMk/>
      <pc:sldMk cId="0" sldId="256"/>
    </pc:sldMkLst>
    <p188:txBody>
      <a:bodyPr/>
      <a:lstStyle/>
      <a:p>
        <a:r>
          <a:rPr lang="zh-CN" altLang="en-US"/>
          <a:t>同学们好，今天我们学习第一讲《认识人工智能》，将一起探索 AI 的奥秘，了解其定义、技术及未来发展。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04925CF-3900-404C-9201-5CEF32599A6E}" authorId="{4EDB4E6F-FBD6-FF5D-3947-84D9301DD603}" created="2025-07-13T12:10:06.953">
    <pc:sldMkLst xmlns:pc="http://schemas.microsoft.com/office/powerpoint/2013/main/command">
      <pc:docMk/>
      <pc:sldMk cId="0" sldId="257"/>
    </pc:sldMkLst>
    <p188:txBody>
      <a:bodyPr/>
      <a:lstStyle/>
      <a:p>
        <a:r>
          <a:rPr lang="zh-CN" altLang="en-US"/>
          <a:t>本次课程包含六个部分，分别是人工智能的定义、技术分类、自然语言处理、计算机视觉、伦理与挑战、未来展望，让我们逐一学习。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B51B4E-8CC1-4EF0-9350-20AAF1F4F8B6}" authorId="{4EDB4E6F-FBD6-FF5D-3947-84D9301DD603}" created="2025-07-13T12:13:57.820">
    <pc:sldMkLst xmlns:pc="http://schemas.microsoft.com/office/powerpoint/2013/main/command">
      <pc:docMk/>
      <pc:sldMk cId="0" sldId="258"/>
    </pc:sldMkLst>
    <p188:txBody>
      <a:bodyPr/>
      <a:lstStyle/>
      <a:p>
        <a:r>
          <a:rPr lang="zh-CN" altLang="en-US"/>
          <a:t>人工智能（AI）是模拟人类智能的计算机分支，能学习、推理、自我修正，处理自然语言等复杂任务</a:t>
        </a:r>
      </a:p>
    </p188:txBody>
  </p188:cm>
</p188:cmLst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E758B8-7387-4809-8705-7440F668F96E}" authorId="{4EDB4E6F-FBD6-FF5D-3947-84D9301DD603}" created="2025-07-13T12:14:41.043">
    <pc:sldMkLst xmlns:pc="http://schemas.microsoft.com/office/powerpoint/2013/main/command">
      <pc:docMk/>
      <pc:sldMk cId="0" sldId="259"/>
    </pc:sldMkLst>
    <p188:txBody>
      <a:bodyPr/>
      <a:lstStyle/>
      <a:p>
        <a:r>
          <a:rPr lang="zh-CN" altLang="en-US"/>
          <a:t>人工智能的基本概念核心是让机器具备感知、理解、决策能力，模拟人类智能过程，AI 与传统计算的区别在于AI 可自主学习、适应动态环境而传统计算依赖预设规则，缺乏灵活性</a:t>
        </a:r>
      </a:p>
    </p188:txBody>
  </p188:cm>
</p188:cmLst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A78227-0F42-461F-ADF0-7349E3D1FE1A}" authorId="{4EDB4E6F-FBD6-FF5D-3947-84D9301DD603}" created="2025-07-13T12:15:44.700">
    <pc:sldMkLst xmlns:pc="http://schemas.microsoft.com/office/powerpoint/2013/main/command">
      <pc:docMk/>
      <pc:sldMk cId="0" sldId="260"/>
    </pc:sldMkLst>
    <p188:txBody>
      <a:bodyPr/>
      <a:lstStyle/>
      <a:p>
        <a:r>
          <a:rPr lang="zh-CN" altLang="en-US"/>
          <a:t>人工智能的组成包括硬件、软件框架和数据，三者协同支撑人工智能系统的训练与运行，硬件基础有CPU、GPU、TPU 等处理器负责复杂运算，是人工智能处理大规模数据的 “物理基础”</a:t>
        </a:r>
      </a:p>
    </p188:txBody>
  </p188:cm>
</p188:cmLst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31F4822-3BC4-46AD-A8F0-C2C82C9C344A}" authorId="{4EDB4E6F-FBD6-FF5D-3947-84D9301DD603}" created="2025-07-13T12:16:23.598">
    <pc:sldMkLst xmlns:pc="http://schemas.microsoft.com/office/powerpoint/2013/main/command">
      <pc:docMk/>
      <pc:sldMk cId="0" sldId="261"/>
    </pc:sldMkLst>
    <p188:txBody>
      <a:bodyPr/>
      <a:lstStyle/>
      <a:p>
        <a:r>
          <a:rPr lang="zh-CN" altLang="en-US"/>
          <a:t>人工智能技术分类分为强 AI 与弱 AI：强 AI 具人类水平认知（未实现）；弱 AI 专注特定任务（已实现）</a:t>
        </a:r>
      </a:p>
    </p188:txBody>
  </p188:cm>
</p188:cmLst>
</file>

<file path=ppt/comments/modernComment_106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2F1EC96-432A-4990-A19C-971645B51A68}" authorId="{4EDB4E6F-FBD6-FF5D-3947-84D9301DD603}" created="2025-07-13T12:17:06.464">
    <pc:sldMkLst xmlns:pc="http://schemas.microsoft.com/office/powerpoint/2013/main/command">
      <pc:docMk/>
      <pc:sldMk cId="0" sldId="262"/>
    </pc:sldMkLst>
    <p188:txBody>
      <a:bodyPr/>
      <a:lstStyle/>
      <a:p>
        <a:r>
          <a:rPr lang="zh-CN" altLang="en-US"/>
          <a:t>强人工智能能理解、学习各类知识，完成任何人类精神任务，目前仅存在于理论中，弱人工智能应用广泛，如语音助手、推荐系统、影像识别，已在医疗、金融等领域落地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D57517-EB3A-4118-9EBF-18B81D63915F}" authorId="{4EDB4E6F-FBD6-FF5D-3947-84D9301DD603}" created="2025-07-13T12:17:50.103">
    <pc:sldMkLst xmlns:pc="http://schemas.microsoft.com/office/powerpoint/2013/main/command">
      <pc:docMk/>
      <pc:sldMk cId="0" sldId="263"/>
    </pc:sldMkLst>
    <p188:txBody>
      <a:bodyPr/>
      <a:lstStyle/>
      <a:p>
        <a:r>
          <a:rPr lang="zh-CN" altLang="en-US"/>
          <a:t>机器学习是 AI 核心，深度学习是其分支；前者提取数据规律，后者基于神经网络处理复杂任务，机器学习方法包括监督、非监督、强化学习，用于从数据中总结模式，实现分类和预测。深度学习通过多层神经网络提取特征，在图像处理、自然语言处理等领域成果显著</a:t>
        </a:r>
      </a:p>
    </p188:txBody>
  </p188:cm>
</p188:cmLst>
</file>

<file path=ppt/comments/modernComment_10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1D546D8-F357-4E91-967D-70CCEAAA11C8}" authorId="{4EDB4E6F-FBD6-FF5D-3947-84D9301DD603}" created="2025-07-13T12:18:06.734">
    <pc:sldMkLst xmlns:pc="http://schemas.microsoft.com/office/powerpoint/2013/main/command">
      <pc:docMk/>
      <pc:sldMk cId="0" sldId="264"/>
    </pc:sldMkLst>
    <p188:txBody>
      <a:bodyPr/>
      <a:lstStyle/>
      <a:p>
        <a:r>
          <a:rPr lang="zh-CN" altLang="en-US"/>
          <a:t>自然语言处理（NLP）让计算机理解、生成人类语言，推动自动翻译、信息提取等技术发展</a:t>
        </a:r>
      </a:p>
    </p188:txBody>
  </p188:cm>
</p188:cmLst>
</file>

<file path=ppt/comments/modernComment_10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D23EEEF-5305-4A18-BCE9-EC82F022326D}" authorId="{4EDB4E6F-FBD6-FF5D-3947-84D9301DD603}" created="2025-07-13T12:18:31.217">
    <pc:sldMkLst xmlns:pc="http://schemas.microsoft.com/office/powerpoint/2013/main/command">
      <pc:docMk/>
      <pc:sldMk cId="0" sldId="265"/>
    </pc:sldMkLst>
    <p188:txBody>
      <a:bodyPr/>
      <a:lstStyle/>
      <a:p>
        <a:r>
          <a:rPr lang="zh-CN" altLang="en-US"/>
          <a:t>语言处理应用有三种，分别是机器翻译（如谷歌翻译）、聊天机器人，实现流畅的人机语言交互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8DF031-F8B2-46A4-B0D2-5EF6AD5FA732}" authorId="{4EDB4E6F-FBD6-FF5D-3947-84D9301DD603}" created="2025-07-13T12:24:11.886">
    <pc:sldMkLst xmlns:pc="http://schemas.microsoft.com/office/powerpoint/2013/main/command">
      <pc:docMk/>
      <pc:sldMk cId="0" sldId="272"/>
    </pc:sldMkLst>
    <p188:txBody>
      <a:bodyPr/>
      <a:lstStyle/>
      <a:p>
        <a:r>
          <a:rPr lang="zh-CN" altLang="en-US"/>
          <a:t>持续发展的挑战有技术限制、社会使用性问题以及职业影响</a:t>
        </a:r>
      </a:p>
    </p188:txBody>
  </p188:cm>
</p188:cmLst>
</file>

<file path=ppt/comments/modernComment_11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1001F1-618B-452F-A4A4-4707F3AA9F45}" authorId="{4EDB4E6F-FBD6-FF5D-3947-84D9301DD603}" created="2025-07-13T12:25:24.979">
    <pc:sldMkLst xmlns:pc="http://schemas.microsoft.com/office/powerpoint/2013/main/command">
      <pc:docMk/>
      <pc:sldMk cId="0" sldId="276"/>
    </pc:sldMkLst>
    <p188:txBody>
      <a:bodyPr/>
      <a:lstStyle/>
      <a:p>
        <a:r>
          <a:rPr lang="zh-CN" altLang="en-US"/>
          <a:t>感谢同学们的观看，希望本次课程可以帮助你们队人工智能有一个大致的了解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gradFill>
          <a:gsLst>
            <a:gs pos="0">
              <a:srgbClr val="3C6790">
                <a:alpha val="80000"/>
              </a:srgbClr>
            </a:gs>
            <a:gs pos="66000">
              <a:srgbClr val="3C6790"/>
            </a:gs>
          </a:gsLst>
          <a:lin ang="5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blipFill>
              <a:blip r:embed="rId2"/>
              <a:srcRect/>
              <a:stretch>
                <a:fillRect l="-184" r="-184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5140778"/>
              <a:ext cx="1717222" cy="1717222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1223554" y="0"/>
                  </a:moveTo>
                  <a:lnTo>
                    <a:pt x="2039257" y="0"/>
                  </a:lnTo>
                  <a:cubicBezTo>
                    <a:pt x="2039257" y="1126251"/>
                    <a:pt x="1126251" y="2039257"/>
                    <a:pt x="0" y="2039257"/>
                  </a:cubicBezTo>
                  <a:lnTo>
                    <a:pt x="0" y="1223554"/>
                  </a:lnTo>
                  <a:cubicBezTo>
                    <a:pt x="675750" y="1223554"/>
                    <a:pt x="1223554" y="675750"/>
                    <a:pt x="1223554" y="0"/>
                  </a:cubicBezTo>
                  <a:close/>
                </a:path>
              </a:pathLst>
            </a:custGeom>
            <a:gradFill>
              <a:gsLst>
                <a:gs pos="0">
                  <a:srgbClr val="BF9762">
                    <a:alpha val="0"/>
                  </a:srgbClr>
                </a:gs>
                <a:gs pos="100000">
                  <a:srgbClr val="BF9762">
                    <a:alpha val="50000"/>
                  </a:srgbClr>
                </a:gs>
              </a:gsLst>
              <a:lin ang="5400000"/>
            </a:gradFill>
            <a:ln cap="flat" cmpd="sng">
              <a:noFill/>
              <a:prstDash val="solid"/>
              <a:miter lim="800000"/>
            </a:ln>
            <a:effectLst/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3423556"/>
              <a:ext cx="1717222" cy="1717222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2039257" y="0"/>
                  </a:moveTo>
                  <a:lnTo>
                    <a:pt x="2039257" y="815703"/>
                  </a:lnTo>
                  <a:cubicBezTo>
                    <a:pt x="1363507" y="815703"/>
                    <a:pt x="815703" y="1363507"/>
                    <a:pt x="815703" y="2039257"/>
                  </a:cubicBezTo>
                  <a:lnTo>
                    <a:pt x="0" y="2039257"/>
                  </a:lnTo>
                  <a:cubicBezTo>
                    <a:pt x="0" y="913006"/>
                    <a:pt x="913006" y="0"/>
                    <a:pt x="2039257" y="0"/>
                  </a:cubicBezTo>
                  <a:close/>
                </a:path>
              </a:pathLst>
            </a:custGeom>
            <a:gradFill>
              <a:gsLst>
                <a:gs pos="0">
                  <a:srgbClr val="3C6790">
                    <a:alpha val="61000"/>
                  </a:srgbClr>
                </a:gs>
                <a:gs pos="100000">
                  <a:srgbClr val="3C6790">
                    <a:alpha val="0"/>
                  </a:srgbClr>
                </a:gs>
              </a:gsLst>
              <a:lin ang="5400000"/>
            </a:gradFill>
            <a:ln>
              <a:noFill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AutoShape 6"/>
          <p:cNvSpPr>
            <a:spLocks noGrp="1"/>
          </p:cNvSpPr>
          <p:nvPr>
            <p:ph type="ctrTitle"/>
          </p:nvPr>
        </p:nvSpPr>
        <p:spPr>
          <a:xfrm>
            <a:off x="1717222" y="3429000"/>
            <a:ext cx="9801678" cy="1116293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 i="0" u="none" baseline="0">
                <a:gradFill>
                  <a:gsLst>
                    <a:gs pos="0">
                      <a:srgbClr val="BF9762"/>
                    </a:gs>
                    <a:gs pos="66000">
                      <a:srgbClr val="FFFFFF"/>
                    </a:gs>
                  </a:gsLst>
                  <a:lin ang="540000"/>
                </a:gra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7" name="AutoShape 7"/>
          <p:cNvSpPr>
            <a:spLocks noGrp="1"/>
          </p:cNvSpPr>
          <p:nvPr>
            <p:ph type="subTitle" sz="quarter" idx="1"/>
          </p:nvPr>
        </p:nvSpPr>
        <p:spPr>
          <a:xfrm>
            <a:off x="1717222" y="4587155"/>
            <a:ext cx="9801678" cy="74396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en-US" sz="24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398" y="2178797"/>
            <a:ext cx="10858491" cy="777873"/>
          </a:xfrm>
          <a:prstGeom prst="roundRect">
            <a:avLst/>
          </a:prstGeom>
          <a:noFill/>
        </p:spPr>
        <p:txBody>
          <a:bodyPr vert="horz" lIns="91440" tIns="45720" rIns="91440" bIns="45720" anchor="ctr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id="3" name="AutoShape 3"/>
          <p:cNvSpPr>
            <a:spLocks noGrp="1"/>
          </p:cNvSpPr>
          <p:nvPr>
            <p:ph sz="quarter" idx="1"/>
          </p:nvPr>
        </p:nvSpPr>
        <p:spPr>
          <a:xfrm>
            <a:off x="660399" y="3429000"/>
            <a:ext cx="10858490" cy="2705100"/>
          </a:xfrm>
        </p:spPr>
        <p:txBody>
          <a:bodyPr vert="horz" lIns="91440" tIns="45720" rIns="91440" bIns="45720" anchor="t">
            <a:normAutofit/>
          </a:bodyPr>
          <a:lstStyle/>
          <a:p>
            <a:pPr marL="342900" indent="-342900" algn="l">
              <a:lnSpc>
                <a:spcPct val="10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800100" lvl="1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257300" lvl="2" indent="-342900" algn="l">
              <a:lnSpc>
                <a:spcPct val="10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0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423556"/>
            <a:ext cx="12191998" cy="3445330"/>
            <a:chOff x="0" y="3423556"/>
            <a:chExt cx="12191998" cy="3445330"/>
          </a:xfrm>
        </p:grpSpPr>
        <p:sp>
          <p:nvSpPr>
            <p:cNvPr id="3" name="Freeform 3"/>
            <p:cNvSpPr/>
            <p:nvPr/>
          </p:nvSpPr>
          <p:spPr>
            <a:xfrm>
              <a:off x="8757555" y="3434443"/>
              <a:ext cx="3434443" cy="3434443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1223554" y="0"/>
                  </a:moveTo>
                  <a:lnTo>
                    <a:pt x="2039257" y="0"/>
                  </a:lnTo>
                  <a:cubicBezTo>
                    <a:pt x="2039257" y="1126251"/>
                    <a:pt x="1126251" y="2039257"/>
                    <a:pt x="0" y="2039257"/>
                  </a:cubicBezTo>
                  <a:lnTo>
                    <a:pt x="0" y="1223554"/>
                  </a:lnTo>
                  <a:cubicBezTo>
                    <a:pt x="675750" y="1223554"/>
                    <a:pt x="1223554" y="675750"/>
                    <a:pt x="1223554" y="0"/>
                  </a:cubicBezTo>
                  <a:close/>
                </a:path>
              </a:pathLst>
            </a:custGeom>
            <a:gradFill>
              <a:gsLst>
                <a:gs pos="0">
                  <a:srgbClr val="3C6790">
                    <a:alpha val="61000"/>
                  </a:srgbClr>
                </a:gs>
                <a:gs pos="100000">
                  <a:srgbClr val="3C6790">
                    <a:alpha val="0"/>
                  </a:srgbClr>
                </a:gs>
              </a:gsLst>
              <a:lin ang="5400000"/>
            </a:gradFill>
            <a:ln>
              <a:noFill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3423556"/>
              <a:ext cx="1717222" cy="3434443"/>
              <a:chOff x="9144001" y="72571"/>
              <a:chExt cx="2039257" cy="407851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9144001" y="2111828"/>
                <a:ext cx="2039257" cy="2039257"/>
              </a:xfrm>
              <a:custGeom>
                <a:avLst/>
                <a:gdLst/>
                <a:ahLst/>
                <a:cxnLst/>
                <a:rect l="l" t="t" r="r" b="b"/>
                <a:pathLst>
                  <a:path w="2039257" h="2039257">
                    <a:moveTo>
                      <a:pt x="1223554" y="0"/>
                    </a:moveTo>
                    <a:lnTo>
                      <a:pt x="2039257" y="0"/>
                    </a:lnTo>
                    <a:cubicBezTo>
                      <a:pt x="2039257" y="1126251"/>
                      <a:pt x="1126251" y="2039257"/>
                      <a:pt x="0" y="2039257"/>
                    </a:cubicBezTo>
                    <a:lnTo>
                      <a:pt x="0" y="1223554"/>
                    </a:lnTo>
                    <a:cubicBezTo>
                      <a:pt x="675750" y="1223554"/>
                      <a:pt x="1223554" y="675750"/>
                      <a:pt x="122355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BF9762">
                      <a:alpha val="0"/>
                    </a:srgbClr>
                  </a:gs>
                  <a:gs pos="100000">
                    <a:srgbClr val="BF9762">
                      <a:alpha val="50000"/>
                    </a:srgbClr>
                  </a:gs>
                </a:gsLst>
                <a:lin ang="5400000"/>
              </a:gradFill>
              <a:ln cap="flat" cmpd="sng">
                <a:noFill/>
                <a:prstDash val="solid"/>
                <a:miter lim="800000"/>
              </a:ln>
              <a:effectLst/>
            </p:spPr>
            <p:txBody>
              <a:bodyPr rot="0" vert="horz" wrap="square" lIns="91440" tIns="45720" rIns="91440" bIns="45720" anchor="ctr">
                <a:prstTxWarp prst="textNoShape">
                  <a:avLst/>
                </a:prstTxWarp>
                <a:no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9144001" y="72571"/>
                <a:ext cx="2039257" cy="2039257"/>
              </a:xfrm>
              <a:custGeom>
                <a:avLst/>
                <a:gdLst/>
                <a:ahLst/>
                <a:cxnLst/>
                <a:rect l="l" t="t" r="r" b="b"/>
                <a:pathLst>
                  <a:path w="2039257" h="2039257">
                    <a:moveTo>
                      <a:pt x="2039257" y="0"/>
                    </a:moveTo>
                    <a:lnTo>
                      <a:pt x="2039257" y="815703"/>
                    </a:lnTo>
                    <a:cubicBezTo>
                      <a:pt x="1363507" y="815703"/>
                      <a:pt x="815703" y="1363507"/>
                      <a:pt x="815703" y="2039257"/>
                    </a:cubicBezTo>
                    <a:lnTo>
                      <a:pt x="0" y="2039257"/>
                    </a:lnTo>
                    <a:cubicBezTo>
                      <a:pt x="0" y="913006"/>
                      <a:pt x="913006" y="0"/>
                      <a:pt x="20392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3C6790">
                      <a:alpha val="61000"/>
                    </a:srgbClr>
                  </a:gs>
                  <a:gs pos="100000">
                    <a:srgbClr val="3C6790">
                      <a:alpha val="0"/>
                    </a:srgbClr>
                  </a:gs>
                </a:gsLst>
                <a:lin ang="5400000"/>
              </a:gradFill>
              <a:ln>
                <a:noFill/>
              </a:ln>
            </p:spPr>
            <p:txBody>
              <a:bodyPr vert="horz" wrap="square" lIns="91440" tIns="45720" rIns="91440" bIns="45720" anchor="ctr">
                <a:noAutofit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7" name="AutoShape 7"/>
          <p:cNvSpPr>
            <a:spLocks noGrp="1"/>
          </p:cNvSpPr>
          <p:nvPr>
            <p:ph type="title"/>
          </p:nvPr>
        </p:nvSpPr>
        <p:spPr>
          <a:xfrm>
            <a:off x="1916943" y="4055835"/>
            <a:ext cx="6840611" cy="858103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1"/>
          </p:nvPr>
        </p:nvSpPr>
        <p:spPr>
          <a:xfrm>
            <a:off x="1916943" y="4925793"/>
            <a:ext cx="6840611" cy="1073143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12185649" cy="4451738"/>
          </a:xfrm>
          <a:custGeom>
            <a:avLst/>
            <a:gdLst/>
            <a:ahLst/>
            <a:cxnLst/>
            <a:rect l="l" t="t" r="r" b="b"/>
            <a:pathLst>
              <a:path w="12185649" h="4451738">
                <a:moveTo>
                  <a:pt x="0" y="0"/>
                </a:moveTo>
                <a:lnTo>
                  <a:pt x="12185649" y="0"/>
                </a:lnTo>
                <a:lnTo>
                  <a:pt x="12185649" y="3606776"/>
                </a:lnTo>
                <a:cubicBezTo>
                  <a:pt x="8185149" y="6488077"/>
                  <a:pt x="4184650" y="860536"/>
                  <a:pt x="184150" y="3475936"/>
                </a:cubicBezTo>
                <a:lnTo>
                  <a:pt x="0" y="3602415"/>
                </a:lnTo>
                <a:close/>
              </a:path>
            </a:pathLst>
          </a:custGeom>
          <a:blipFill>
            <a:blip r:embed="rId2"/>
            <a:srcRect/>
            <a:stretch>
              <a:fillRect t="-26704" b="-26704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Autofit/>
          </a:bodyPr>
          <a:lstStyle/>
          <a:p>
            <a:pPr marL="0"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dt" sz="half" idx="10"/>
          </p:nvPr>
        </p:nvSpPr>
        <p:spPr>
          <a:xfrm>
            <a:off x="4718050" y="6409690"/>
            <a:ext cx="27432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ftr" sz="quarter" idx="11"/>
          </p:nvPr>
        </p:nvSpPr>
        <p:spPr>
          <a:xfrm>
            <a:off x="660399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 vert="horz" lIns="91440" tIns="45720" rIns="91440" bIns="45720" anchor="ctr">
            <a:normAutofit/>
          </a:bodyPr>
          <a:lstStyle/>
          <a:p>
            <a:pPr marL="0" algn="r"/>
            <a:fld id="{3386411A-70EE-422D-B97C-F56BEE3FF077}" type="slidenum">
              <a:rPr lang="en-US" sz="1200" b="0" i="0" u="none" baseline="0">
                <a:solidFill>
                  <a:srgbClr val="FFFFFF">
                    <a:tint val="75000"/>
                  </a:srgbClr>
                </a:solidFill>
                <a:latin typeface="Arial"/>
                <a:ea typeface="Arial"/>
              </a:rPr>
              <a:t>‹#›</a:t>
            </a:fld>
            <a:endParaRPr lang="en-US" sz="1200" b="0" i="0" u="none" baseline="0">
              <a:solidFill>
                <a:srgbClr val="FFFFFF">
                  <a:tint val="75000"/>
                </a:srgbClr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gradFill>
          <a:gsLst>
            <a:gs pos="0">
              <a:srgbClr val="3C6790">
                <a:alpha val="80000"/>
              </a:srgbClr>
            </a:gs>
            <a:gs pos="66000">
              <a:srgbClr val="3C6790"/>
            </a:gs>
          </a:gsLst>
          <a:lin ang="5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blipFill>
              <a:blip r:embed="rId2"/>
              <a:srcRect/>
              <a:stretch>
                <a:fillRect l="-184" r="-184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5140778"/>
              <a:ext cx="1717222" cy="1717222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1223554" y="0"/>
                  </a:moveTo>
                  <a:lnTo>
                    <a:pt x="2039257" y="0"/>
                  </a:lnTo>
                  <a:cubicBezTo>
                    <a:pt x="2039257" y="1126251"/>
                    <a:pt x="1126251" y="2039257"/>
                    <a:pt x="0" y="2039257"/>
                  </a:cubicBezTo>
                  <a:lnTo>
                    <a:pt x="0" y="1223554"/>
                  </a:lnTo>
                  <a:cubicBezTo>
                    <a:pt x="675750" y="1223554"/>
                    <a:pt x="1223554" y="675750"/>
                    <a:pt x="1223554" y="0"/>
                  </a:cubicBezTo>
                  <a:close/>
                </a:path>
              </a:pathLst>
            </a:custGeom>
            <a:gradFill>
              <a:gsLst>
                <a:gs pos="0">
                  <a:srgbClr val="BF9762">
                    <a:alpha val="0"/>
                  </a:srgbClr>
                </a:gs>
                <a:gs pos="100000">
                  <a:srgbClr val="BF9762">
                    <a:alpha val="50000"/>
                  </a:srgbClr>
                </a:gs>
              </a:gsLst>
              <a:lin ang="5400000"/>
            </a:gradFill>
            <a:ln cap="flat" cmpd="sng">
              <a:noFill/>
              <a:prstDash val="solid"/>
              <a:miter lim="800000"/>
            </a:ln>
            <a:effectLst/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3423556"/>
              <a:ext cx="1717222" cy="1717222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2039257" y="0"/>
                  </a:moveTo>
                  <a:lnTo>
                    <a:pt x="2039257" y="815703"/>
                  </a:lnTo>
                  <a:cubicBezTo>
                    <a:pt x="1363507" y="815703"/>
                    <a:pt x="815703" y="1363507"/>
                    <a:pt x="815703" y="2039257"/>
                  </a:cubicBezTo>
                  <a:lnTo>
                    <a:pt x="0" y="2039257"/>
                  </a:lnTo>
                  <a:cubicBezTo>
                    <a:pt x="0" y="913006"/>
                    <a:pt x="913006" y="0"/>
                    <a:pt x="2039257" y="0"/>
                  </a:cubicBezTo>
                  <a:close/>
                </a:path>
              </a:pathLst>
            </a:custGeom>
            <a:gradFill>
              <a:gsLst>
                <a:gs pos="0">
                  <a:srgbClr val="3C6790">
                    <a:alpha val="61000"/>
                  </a:srgbClr>
                </a:gs>
                <a:gs pos="100000">
                  <a:srgbClr val="3C6790">
                    <a:alpha val="0"/>
                  </a:srgbClr>
                </a:gs>
              </a:gsLst>
              <a:lin ang="5400000"/>
            </a:gradFill>
            <a:ln>
              <a:noFill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AutoShape 6"/>
          <p:cNvSpPr>
            <a:spLocks noGrp="1"/>
          </p:cNvSpPr>
          <p:nvPr>
            <p:ph type="title"/>
          </p:nvPr>
        </p:nvSpPr>
        <p:spPr>
          <a:xfrm>
            <a:off x="2061029" y="3429000"/>
            <a:ext cx="9457871" cy="1711778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">
    <p:bg>
      <p:bgPr>
        <a:gradFill>
          <a:gsLst>
            <a:gs pos="0">
              <a:srgbClr val="3C6790">
                <a:alpha val="80000"/>
              </a:srgbClr>
            </a:gs>
            <a:gs pos="66000">
              <a:srgbClr val="3C6790"/>
            </a:gs>
          </a:gsLst>
          <a:lin ang="5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blipFill>
              <a:blip r:embed="rId2"/>
              <a:srcRect/>
              <a:stretch>
                <a:fillRect l="-184" r="-184"/>
              </a:stretch>
            </a:blipFill>
            <a:ln>
              <a:noFill/>
            </a:ln>
            <a:effectLst/>
          </p:spPr>
          <p:txBody>
            <a:bodyPr rot="0" vert="horz" wrap="square" lIns="91440" tIns="45720" rIns="91440" bIns="45720" anchor="t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5140778"/>
              <a:ext cx="1717222" cy="1717222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1223554" y="0"/>
                  </a:moveTo>
                  <a:lnTo>
                    <a:pt x="2039257" y="0"/>
                  </a:lnTo>
                  <a:cubicBezTo>
                    <a:pt x="2039257" y="1126251"/>
                    <a:pt x="1126251" y="2039257"/>
                    <a:pt x="0" y="2039257"/>
                  </a:cubicBezTo>
                  <a:lnTo>
                    <a:pt x="0" y="1223554"/>
                  </a:lnTo>
                  <a:cubicBezTo>
                    <a:pt x="675750" y="1223554"/>
                    <a:pt x="1223554" y="675750"/>
                    <a:pt x="1223554" y="0"/>
                  </a:cubicBezTo>
                  <a:close/>
                </a:path>
              </a:pathLst>
            </a:custGeom>
            <a:gradFill>
              <a:gsLst>
                <a:gs pos="0">
                  <a:srgbClr val="BF9762">
                    <a:alpha val="0"/>
                  </a:srgbClr>
                </a:gs>
                <a:gs pos="100000">
                  <a:srgbClr val="BF9762">
                    <a:alpha val="50000"/>
                  </a:srgbClr>
                </a:gs>
              </a:gsLst>
              <a:lin ang="5400000"/>
            </a:gradFill>
            <a:ln cap="flat" cmpd="sng">
              <a:noFill/>
              <a:prstDash val="solid"/>
              <a:miter lim="800000"/>
            </a:ln>
            <a:effectLst/>
          </p:spPr>
          <p:txBody>
            <a:bodyPr rot="0" vert="horz" wrap="square" lIns="91440" tIns="45720" rIns="91440" bIns="45720" anchor="ctr">
              <a:prstTxWarp prst="textNoShape">
                <a:avLst/>
              </a:prstTxWarp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3423556"/>
              <a:ext cx="1717222" cy="1717222"/>
            </a:xfrm>
            <a:custGeom>
              <a:avLst/>
              <a:gdLst/>
              <a:ahLst/>
              <a:cxnLst/>
              <a:rect l="l" t="t" r="r" b="b"/>
              <a:pathLst>
                <a:path w="2039257" h="2039257">
                  <a:moveTo>
                    <a:pt x="2039257" y="0"/>
                  </a:moveTo>
                  <a:lnTo>
                    <a:pt x="2039257" y="815703"/>
                  </a:lnTo>
                  <a:cubicBezTo>
                    <a:pt x="1363507" y="815703"/>
                    <a:pt x="815703" y="1363507"/>
                    <a:pt x="815703" y="2039257"/>
                  </a:cubicBezTo>
                  <a:lnTo>
                    <a:pt x="0" y="2039257"/>
                  </a:lnTo>
                  <a:cubicBezTo>
                    <a:pt x="0" y="913006"/>
                    <a:pt x="913006" y="0"/>
                    <a:pt x="2039257" y="0"/>
                  </a:cubicBezTo>
                  <a:close/>
                </a:path>
              </a:pathLst>
            </a:custGeom>
            <a:gradFill>
              <a:gsLst>
                <a:gs pos="0">
                  <a:srgbClr val="3C6790">
                    <a:alpha val="61000"/>
                  </a:srgbClr>
                </a:gs>
                <a:gs pos="100000">
                  <a:srgbClr val="3C6790">
                    <a:alpha val="0"/>
                  </a:srgbClr>
                </a:gs>
              </a:gsLst>
              <a:lin ang="5400000"/>
            </a:gradFill>
            <a:ln>
              <a:noFill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AutoShape 6"/>
          <p:cNvSpPr>
            <a:spLocks noGrp="1"/>
          </p:cNvSpPr>
          <p:nvPr>
            <p:ph type="title"/>
          </p:nvPr>
        </p:nvSpPr>
        <p:spPr>
          <a:xfrm>
            <a:off x="2061029" y="3429000"/>
            <a:ext cx="9457871" cy="1711778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0" y="0"/>
            <a:ext cx="12191998" cy="723900"/>
            <a:chOff x="0" y="-399728"/>
            <a:chExt cx="13815102" cy="1183569"/>
          </a:xfrm>
          <a:gradFill>
            <a:gsLst>
              <a:gs pos="0">
                <a:srgbClr val="BF9762"/>
              </a:gs>
              <a:gs pos="100000">
                <a:srgbClr val="BF9762">
                  <a:alpha val="0"/>
                </a:srgbClr>
              </a:gs>
            </a:gsLst>
          </a:gradFill>
        </p:grpSpPr>
        <p:sp>
          <p:nvSpPr>
            <p:cNvPr id="3" name="Freeform 3"/>
            <p:cNvSpPr/>
            <p:nvPr/>
          </p:nvSpPr>
          <p:spPr>
            <a:xfrm>
              <a:off x="0" y="-399728"/>
              <a:ext cx="13815102" cy="1183569"/>
            </a:xfrm>
            <a:custGeom>
              <a:avLst/>
              <a:gdLst/>
              <a:ahLst/>
              <a:cxnLst/>
              <a:rect l="l" t="t" r="r" b="b"/>
              <a:pathLst>
                <a:path w="13815102" h="1183569">
                  <a:moveTo>
                    <a:pt x="13814622" y="-466"/>
                  </a:moveTo>
                  <a:lnTo>
                    <a:pt x="13814622" y="633122"/>
                  </a:lnTo>
                  <a:cubicBezTo>
                    <a:pt x="11529385" y="330728"/>
                    <a:pt x="8779036" y="301928"/>
                    <a:pt x="6676676" y="762720"/>
                  </a:cubicBezTo>
                  <a:cubicBezTo>
                    <a:pt x="4251041" y="1294358"/>
                    <a:pt x="2409171" y="1351381"/>
                    <a:pt x="-480" y="762720"/>
                  </a:cubicBezTo>
                  <a:lnTo>
                    <a:pt x="-480" y="-466"/>
                  </a:lnTo>
                  <a:close/>
                </a:path>
              </a:pathLst>
            </a:custGeom>
            <a:grpFill/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6734755" y="205070"/>
              <a:ext cx="6811073" cy="532994"/>
            </a:xfrm>
            <a:custGeom>
              <a:avLst/>
              <a:gdLst/>
              <a:ahLst/>
              <a:cxnLst/>
              <a:rect l="l" t="t" r="r" b="b"/>
              <a:pathLst>
                <a:path w="6811073" h="532993">
                  <a:moveTo>
                    <a:pt x="613812" y="234527"/>
                  </a:moveTo>
                  <a:cubicBezTo>
                    <a:pt x="414952" y="260735"/>
                    <a:pt x="209755" y="284206"/>
                    <a:pt x="-480" y="304798"/>
                  </a:cubicBezTo>
                  <a:cubicBezTo>
                    <a:pt x="2307942" y="625912"/>
                    <a:pt x="4083428" y="592793"/>
                    <a:pt x="6415608" y="297310"/>
                  </a:cubicBezTo>
                  <a:cubicBezTo>
                    <a:pt x="6544486" y="281182"/>
                    <a:pt x="6676244" y="265962"/>
                    <a:pt x="6810593" y="251663"/>
                  </a:cubicBezTo>
                  <a:lnTo>
                    <a:pt x="6810593" y="234527"/>
                  </a:lnTo>
                  <a:cubicBezTo>
                    <a:pt x="4574314" y="-94507"/>
                    <a:pt x="2865066" y="-62684"/>
                    <a:pt x="613812" y="234527"/>
                  </a:cubicBezTo>
                  <a:close/>
                </a:path>
              </a:pathLst>
            </a:custGeom>
            <a:grpFill/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5" name="AutoShape 5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 baseline="0">
                <a:solidFill>
                  <a:srgbClr val="FFFFFF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pPr marL="228600" indent="-228600" algn="l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Click to add text</a:t>
            </a:r>
          </a:p>
          <a:p>
            <a:pPr marL="685800" lvl="1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600" b="0" i="0" u="none" baseline="0">
                <a:solidFill>
                  <a:srgbClr val="FFFFFF"/>
                </a:solidFill>
                <a:latin typeface="Arial"/>
                <a:ea typeface="Arial"/>
              </a:rPr>
              <a:t>Second level</a:t>
            </a:r>
          </a:p>
          <a:p>
            <a:pPr marL="1143000" lvl="2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400" b="0" i="0" u="none" baseline="0">
                <a:solidFill>
                  <a:srgbClr val="FFFFFF"/>
                </a:solidFill>
                <a:latin typeface="Arial"/>
                <a:ea typeface="Arial"/>
              </a:rPr>
              <a:t>Third level</a:t>
            </a:r>
          </a:p>
          <a:p>
            <a:pPr marL="1600200" lvl="3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Fourth level</a:t>
            </a:r>
          </a:p>
          <a:p>
            <a:pPr marL="2057400" lvl="4" indent="-228600" algn="l">
              <a:lnSpc>
                <a:spcPct val="120000"/>
              </a:lnSpc>
              <a:spcBef>
                <a:spcPts val="500"/>
              </a:spcBef>
            </a:pPr>
            <a:r>
              <a:rPr lang="en-US" sz="1200" b="0" i="0" u="none" baseline="0">
                <a:solidFill>
                  <a:srgbClr val="FFFFFF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AutoShape 8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9" name="AutoShape 9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fld id="{3386411A-70EE-422D-B97C-F56BEE3FF077}" type="slidenum"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‹#›</a:t>
            </a:fld>
            <a:endParaRPr lang="en-US" sz="1800" b="0" i="0" u="none" baseline="0">
              <a:solidFill>
                <a:srgbClr val="FFFFFF"/>
              </a:solidFill>
              <a:latin typeface="Arial"/>
              <a:ea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0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0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0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0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0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7_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0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9_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A_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B_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C_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D_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E_0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F_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4_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alpha val="80000"/>
              </a:srgbClr>
            </a:gs>
            <a:gs pos="66000">
              <a:srgbClr val="3C6790"/>
            </a:gs>
          </a:gsLst>
          <a:lin ang="5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ctrTitle"/>
          </p:nvPr>
        </p:nvSpPr>
        <p:spPr>
          <a:xfrm>
            <a:off x="1717221" y="3269403"/>
            <a:ext cx="10161101" cy="1015663"/>
          </a:xfrm>
        </p:spPr>
        <p:txBody>
          <a:bodyPr vert="horz" wrap="square" lIns="91440" tIns="45720" rIns="91440" bIns="45720" anchor="b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6000" b="1" i="0" u="none" baseline="0">
                <a:gradFill>
                  <a:gsLst>
                    <a:gs pos="0">
                      <a:srgbClr val="BF9762"/>
                    </a:gs>
                    <a:gs pos="66000">
                      <a:srgbClr val="FFFFFF"/>
                    </a:gs>
                  </a:gsLst>
                  <a:lin ang="540000"/>
                </a:gradFill>
                <a:latin typeface="微软雅黑"/>
                <a:ea typeface="微软雅黑"/>
              </a:rPr>
              <a:t>第一讲认识人工智能</a:t>
            </a:r>
          </a:p>
        </p:txBody>
      </p:sp>
      <p:sp>
        <p:nvSpPr>
          <p:cNvPr id="3" name="AutoShape 3"/>
          <p:cNvSpPr>
            <a:spLocks noGrp="1"/>
          </p:cNvSpPr>
          <p:nvPr>
            <p:ph type="subTitle" sz="quarter" idx="1"/>
          </p:nvPr>
        </p:nvSpPr>
        <p:spPr>
          <a:xfrm>
            <a:off x="1717222" y="4498378"/>
            <a:ext cx="9801678" cy="743961"/>
          </a:xfrm>
        </p:spPr>
        <p:txBody>
          <a:bodyPr vert="horz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</a:pPr>
            <a:r>
              <a:rPr lang="zh-CN" altLang="en-US" sz="2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6925" y="2490726"/>
            <a:ext cx="242346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人工智能的定义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80213" y="2447556"/>
            <a:ext cx="504959" cy="504957"/>
          </a:xfrm>
          <a:prstGeom prst="ellipse">
            <a:avLst/>
          </a:prstGeom>
          <a:solidFill>
            <a:schemeClr val="accent6"/>
          </a:solidFill>
          <a:ln cap="rnd">
            <a:noFill/>
            <a:prstDash val="solid"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48678" y="2588810"/>
            <a:ext cx="182725" cy="222449"/>
          </a:xfrm>
          <a:custGeom>
            <a:avLst/>
            <a:gdLst/>
            <a:ahLst/>
            <a:cxnLst/>
            <a:rect l="l" t="t" r="r" b="b"/>
            <a:pathLst>
              <a:path w="438150" h="533400">
                <a:moveTo>
                  <a:pt x="283816" y="621"/>
                </a:moveTo>
                <a:cubicBezTo>
                  <a:pt x="284578" y="621"/>
                  <a:pt x="285340" y="621"/>
                  <a:pt x="286102" y="716"/>
                </a:cubicBezTo>
                <a:lnTo>
                  <a:pt x="286102" y="124446"/>
                </a:lnTo>
                <a:lnTo>
                  <a:pt x="286197" y="126160"/>
                </a:lnTo>
                <a:cubicBezTo>
                  <a:pt x="287055" y="141115"/>
                  <a:pt x="299532" y="153021"/>
                  <a:pt x="314677" y="153021"/>
                </a:cubicBezTo>
                <a:lnTo>
                  <a:pt x="314677" y="153021"/>
                </a:lnTo>
                <a:lnTo>
                  <a:pt x="438407" y="153021"/>
                </a:lnTo>
                <a:cubicBezTo>
                  <a:pt x="438502" y="153783"/>
                  <a:pt x="438502" y="154545"/>
                  <a:pt x="438502" y="155307"/>
                </a:cubicBezTo>
                <a:lnTo>
                  <a:pt x="438502" y="505446"/>
                </a:lnTo>
                <a:cubicBezTo>
                  <a:pt x="438502" y="521257"/>
                  <a:pt x="425739" y="534021"/>
                  <a:pt x="409927" y="534021"/>
                </a:cubicBezTo>
                <a:lnTo>
                  <a:pt x="28927" y="534021"/>
                </a:lnTo>
                <a:cubicBezTo>
                  <a:pt x="13115" y="534021"/>
                  <a:pt x="352" y="521257"/>
                  <a:pt x="352" y="505446"/>
                </a:cubicBezTo>
                <a:lnTo>
                  <a:pt x="352" y="29196"/>
                </a:lnTo>
                <a:cubicBezTo>
                  <a:pt x="352" y="13385"/>
                  <a:pt x="13115" y="621"/>
                  <a:pt x="28927" y="621"/>
                </a:cubicBezTo>
                <a:lnTo>
                  <a:pt x="283816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50098" y="314946"/>
                </a:lnTo>
                <a:cubicBezTo>
                  <a:pt x="280673" y="313803"/>
                  <a:pt x="305152" y="288657"/>
                  <a:pt x="305152" y="257796"/>
                </a:cubicBezTo>
                <a:cubicBezTo>
                  <a:pt x="305152" y="226268"/>
                  <a:pt x="279530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9052" y="219696"/>
                  <a:pt x="286102" y="236746"/>
                  <a:pt x="286102" y="257796"/>
                </a:cubicBezTo>
                <a:cubicBezTo>
                  <a:pt x="286102" y="278846"/>
                  <a:pt x="269052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534" y="133876"/>
                </a:lnTo>
                <a:cubicBezTo>
                  <a:pt x="308772" y="133304"/>
                  <a:pt x="305152" y="129304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176521" y="2536074"/>
            <a:ext cx="2418159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人工智能的技术分类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184281" y="2490726"/>
            <a:ext cx="504958" cy="504956"/>
          </a:xfrm>
          <a:prstGeom prst="ellipse">
            <a:avLst/>
          </a:prstGeom>
          <a:solidFill>
            <a:schemeClr val="accent3"/>
          </a:solidFill>
          <a:ln cap="rnd">
            <a:noFill/>
            <a:prstDash val="solid"/>
          </a:ln>
          <a:effectLst>
            <a:outerShdw blurRad="254000" dist="127000" algn="ctr" rotWithShape="0">
              <a:schemeClr val="accent3">
                <a:alpha val="32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4326993" y="2637115"/>
            <a:ext cx="214663" cy="195496"/>
          </a:xfrm>
          <a:custGeom>
            <a:avLst/>
            <a:gdLst/>
            <a:ahLst/>
            <a:cxnLst/>
            <a:rect l="l" t="t" r="r" b="b"/>
            <a:pathLst>
              <a:path w="533400" h="485775">
                <a:moveTo>
                  <a:pt x="125329" y="229221"/>
                </a:moveTo>
                <a:lnTo>
                  <a:pt x="125329" y="276846"/>
                </a:lnTo>
                <a:lnTo>
                  <a:pt x="144379" y="276846"/>
                </a:lnTo>
                <a:lnTo>
                  <a:pt x="144379" y="229221"/>
                </a:lnTo>
                <a:lnTo>
                  <a:pt x="392029" y="229221"/>
                </a:lnTo>
                <a:lnTo>
                  <a:pt x="392029" y="276846"/>
                </a:lnTo>
                <a:lnTo>
                  <a:pt x="411079" y="276846"/>
                </a:lnTo>
                <a:lnTo>
                  <a:pt x="411079" y="229221"/>
                </a:lnTo>
                <a:lnTo>
                  <a:pt x="534904" y="229221"/>
                </a:lnTo>
                <a:lnTo>
                  <a:pt x="534904" y="457821"/>
                </a:lnTo>
                <a:cubicBezTo>
                  <a:pt x="534904" y="473632"/>
                  <a:pt x="522141" y="486396"/>
                  <a:pt x="506329" y="486396"/>
                </a:cubicBezTo>
                <a:lnTo>
                  <a:pt x="30079" y="486396"/>
                </a:lnTo>
                <a:cubicBezTo>
                  <a:pt x="14267" y="486396"/>
                  <a:pt x="1504" y="473632"/>
                  <a:pt x="1504" y="457821"/>
                </a:cubicBezTo>
                <a:lnTo>
                  <a:pt x="1504" y="229221"/>
                </a:lnTo>
                <a:lnTo>
                  <a:pt x="125329" y="229221"/>
                </a:lnTo>
                <a:close/>
                <a:moveTo>
                  <a:pt x="372979" y="621"/>
                </a:moveTo>
                <a:cubicBezTo>
                  <a:pt x="393363" y="621"/>
                  <a:pt x="410031" y="16623"/>
                  <a:pt x="411079" y="36816"/>
                </a:cubicBezTo>
                <a:lnTo>
                  <a:pt x="411079" y="38721"/>
                </a:lnTo>
                <a:lnTo>
                  <a:pt x="411079" y="114921"/>
                </a:lnTo>
                <a:lnTo>
                  <a:pt x="506329" y="114921"/>
                </a:lnTo>
                <a:cubicBezTo>
                  <a:pt x="522141" y="114921"/>
                  <a:pt x="534904" y="127685"/>
                  <a:pt x="534904" y="143496"/>
                </a:cubicBezTo>
                <a:lnTo>
                  <a:pt x="534904" y="210171"/>
                </a:lnTo>
                <a:lnTo>
                  <a:pt x="1504" y="210171"/>
                </a:lnTo>
                <a:lnTo>
                  <a:pt x="1504" y="143496"/>
                </a:lnTo>
                <a:cubicBezTo>
                  <a:pt x="1504" y="127685"/>
                  <a:pt x="14267" y="114921"/>
                  <a:pt x="30079" y="114921"/>
                </a:cubicBezTo>
                <a:lnTo>
                  <a:pt x="125329" y="114921"/>
                </a:lnTo>
                <a:lnTo>
                  <a:pt x="125329" y="38721"/>
                </a:lnTo>
                <a:cubicBezTo>
                  <a:pt x="125329" y="18337"/>
                  <a:pt x="141331" y="1669"/>
                  <a:pt x="161524" y="621"/>
                </a:cubicBezTo>
                <a:lnTo>
                  <a:pt x="163429" y="621"/>
                </a:lnTo>
                <a:lnTo>
                  <a:pt x="372979" y="621"/>
                </a:lnTo>
                <a:close/>
                <a:moveTo>
                  <a:pt x="372979" y="19671"/>
                </a:moveTo>
                <a:lnTo>
                  <a:pt x="163429" y="19671"/>
                </a:lnTo>
                <a:cubicBezTo>
                  <a:pt x="153428" y="19671"/>
                  <a:pt x="145141" y="27482"/>
                  <a:pt x="144474" y="37292"/>
                </a:cubicBezTo>
                <a:lnTo>
                  <a:pt x="144379" y="38721"/>
                </a:lnTo>
                <a:lnTo>
                  <a:pt x="144379" y="114921"/>
                </a:lnTo>
                <a:lnTo>
                  <a:pt x="392029" y="114921"/>
                </a:lnTo>
                <a:lnTo>
                  <a:pt x="392029" y="38721"/>
                </a:lnTo>
                <a:cubicBezTo>
                  <a:pt x="392029" y="29196"/>
                  <a:pt x="384981" y="21290"/>
                  <a:pt x="375836" y="19862"/>
                </a:cubicBezTo>
                <a:lnTo>
                  <a:pt x="374408" y="19671"/>
                </a:lnTo>
                <a:lnTo>
                  <a:pt x="372979" y="1967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8747419" y="2504830"/>
            <a:ext cx="2418159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自然语言处理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91291" y="2452563"/>
            <a:ext cx="504958" cy="504956"/>
          </a:xfrm>
          <a:prstGeom prst="ellipse">
            <a:avLst/>
          </a:prstGeom>
          <a:solidFill>
            <a:schemeClr val="accent5"/>
          </a:solidFill>
          <a:ln cap="rnd">
            <a:noFill/>
            <a:prstDash val="solid"/>
          </a:ln>
          <a:effectLst>
            <a:outerShdw blurRad="254000" dist="127000" algn="ctr" rotWithShape="0">
              <a:schemeClr val="accent5">
                <a:alpha val="32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929449" y="2584213"/>
            <a:ext cx="222912" cy="244347"/>
          </a:xfrm>
          <a:custGeom>
            <a:avLst/>
            <a:gdLst/>
            <a:ahLst/>
            <a:cxnLst/>
            <a:rect l="l" t="t" r="r" b="b"/>
            <a:pathLst>
              <a:path w="495300" h="542925">
                <a:moveTo>
                  <a:pt x="248770" y="621"/>
                </a:moveTo>
                <a:cubicBezTo>
                  <a:pt x="385549" y="621"/>
                  <a:pt x="496420" y="111492"/>
                  <a:pt x="496420" y="248271"/>
                </a:cubicBezTo>
                <a:cubicBezTo>
                  <a:pt x="496420" y="358856"/>
                  <a:pt x="423935" y="452582"/>
                  <a:pt x="323827" y="484396"/>
                </a:cubicBezTo>
                <a:lnTo>
                  <a:pt x="346973" y="524496"/>
                </a:lnTo>
                <a:lnTo>
                  <a:pt x="420220" y="524496"/>
                </a:lnTo>
                <a:lnTo>
                  <a:pt x="420220" y="543546"/>
                </a:lnTo>
                <a:lnTo>
                  <a:pt x="77320" y="543546"/>
                </a:lnTo>
                <a:lnTo>
                  <a:pt x="77320" y="524496"/>
                </a:lnTo>
                <a:lnTo>
                  <a:pt x="150567" y="524496"/>
                </a:lnTo>
                <a:lnTo>
                  <a:pt x="173713" y="484396"/>
                </a:lnTo>
                <a:cubicBezTo>
                  <a:pt x="73605" y="452582"/>
                  <a:pt x="1120" y="358856"/>
                  <a:pt x="1120" y="248271"/>
                </a:cubicBezTo>
                <a:cubicBezTo>
                  <a:pt x="1120" y="111492"/>
                  <a:pt x="111991" y="621"/>
                  <a:pt x="248770" y="621"/>
                </a:cubicBezTo>
                <a:close/>
                <a:moveTo>
                  <a:pt x="192763" y="489539"/>
                </a:moveTo>
                <a:lnTo>
                  <a:pt x="172570" y="524496"/>
                </a:lnTo>
                <a:lnTo>
                  <a:pt x="324970" y="524496"/>
                </a:lnTo>
                <a:lnTo>
                  <a:pt x="304777" y="489539"/>
                </a:lnTo>
                <a:cubicBezTo>
                  <a:pt x="286775" y="493730"/>
                  <a:pt x="268010" y="495921"/>
                  <a:pt x="248770" y="495921"/>
                </a:cubicBezTo>
                <a:cubicBezTo>
                  <a:pt x="229530" y="495921"/>
                  <a:pt x="210765" y="493730"/>
                  <a:pt x="192763" y="489539"/>
                </a:cubicBezTo>
                <a:close/>
                <a:moveTo>
                  <a:pt x="248770" y="143496"/>
                </a:moveTo>
                <a:cubicBezTo>
                  <a:pt x="190858" y="143496"/>
                  <a:pt x="143995" y="190359"/>
                  <a:pt x="143995" y="248271"/>
                </a:cubicBezTo>
                <a:cubicBezTo>
                  <a:pt x="143995" y="306183"/>
                  <a:pt x="190858" y="353046"/>
                  <a:pt x="248770" y="353046"/>
                </a:cubicBezTo>
                <a:cubicBezTo>
                  <a:pt x="306682" y="353046"/>
                  <a:pt x="353545" y="306183"/>
                  <a:pt x="353545" y="248271"/>
                </a:cubicBezTo>
                <a:cubicBezTo>
                  <a:pt x="353545" y="190359"/>
                  <a:pt x="306682" y="143496"/>
                  <a:pt x="248770" y="143496"/>
                </a:cubicBezTo>
                <a:close/>
                <a:moveTo>
                  <a:pt x="367833" y="114921"/>
                </a:moveTo>
                <a:cubicBezTo>
                  <a:pt x="359927" y="114921"/>
                  <a:pt x="353545" y="121303"/>
                  <a:pt x="353545" y="129209"/>
                </a:cubicBezTo>
                <a:cubicBezTo>
                  <a:pt x="353545" y="137114"/>
                  <a:pt x="359927" y="143496"/>
                  <a:pt x="367833" y="143496"/>
                </a:cubicBezTo>
                <a:cubicBezTo>
                  <a:pt x="375738" y="143496"/>
                  <a:pt x="382120" y="137114"/>
                  <a:pt x="382120" y="129209"/>
                </a:cubicBezTo>
                <a:cubicBezTo>
                  <a:pt x="382120" y="121303"/>
                  <a:pt x="375738" y="114921"/>
                  <a:pt x="367833" y="1149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655627" y="4708970"/>
            <a:ext cx="2418159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计算机视觉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7529" y="4636355"/>
            <a:ext cx="504958" cy="504956"/>
          </a:xfrm>
          <a:prstGeom prst="ellipse">
            <a:avLst/>
          </a:prstGeom>
          <a:solidFill>
            <a:schemeClr val="accent1"/>
          </a:solidFill>
          <a:ln cap="rnd">
            <a:noFill/>
            <a:prstDash val="solid"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25608" y="4801444"/>
            <a:ext cx="232198" cy="174148"/>
          </a:xfrm>
          <a:custGeom>
            <a:avLst/>
            <a:gdLst/>
            <a:ahLst/>
            <a:cxnLst/>
            <a:rect l="l" t="t" r="r" b="b"/>
            <a:pathLst>
              <a:path w="533400" h="400050">
                <a:moveTo>
                  <a:pt x="505433" y="621"/>
                </a:moveTo>
                <a:cubicBezTo>
                  <a:pt x="521245" y="621"/>
                  <a:pt x="534008" y="13385"/>
                  <a:pt x="534008" y="29196"/>
                </a:cubicBezTo>
                <a:lnTo>
                  <a:pt x="534008" y="372096"/>
                </a:lnTo>
                <a:cubicBezTo>
                  <a:pt x="534008" y="387907"/>
                  <a:pt x="521245" y="400671"/>
                  <a:pt x="505433" y="400671"/>
                </a:cubicBezTo>
                <a:lnTo>
                  <a:pt x="29183" y="400671"/>
                </a:lnTo>
                <a:cubicBezTo>
                  <a:pt x="13371" y="400671"/>
                  <a:pt x="608" y="387907"/>
                  <a:pt x="608" y="372096"/>
                </a:cubicBezTo>
                <a:lnTo>
                  <a:pt x="608" y="29196"/>
                </a:lnTo>
                <a:cubicBezTo>
                  <a:pt x="608" y="13385"/>
                  <a:pt x="13371" y="621"/>
                  <a:pt x="29183" y="621"/>
                </a:cubicBezTo>
                <a:lnTo>
                  <a:pt x="505433" y="621"/>
                </a:lnTo>
                <a:close/>
                <a:moveTo>
                  <a:pt x="391419" y="198646"/>
                </a:moveTo>
                <a:cubicBezTo>
                  <a:pt x="378846" y="189121"/>
                  <a:pt x="360939" y="191597"/>
                  <a:pt x="351414" y="204170"/>
                </a:cubicBezTo>
                <a:lnTo>
                  <a:pt x="351414" y="204170"/>
                </a:lnTo>
                <a:lnTo>
                  <a:pt x="267118" y="315613"/>
                </a:lnTo>
                <a:cubicBezTo>
                  <a:pt x="266355" y="316660"/>
                  <a:pt x="265498" y="317518"/>
                  <a:pt x="264641" y="318470"/>
                </a:cubicBezTo>
                <a:cubicBezTo>
                  <a:pt x="253592" y="329710"/>
                  <a:pt x="235495" y="329805"/>
                  <a:pt x="224255" y="318756"/>
                </a:cubicBezTo>
                <a:lnTo>
                  <a:pt x="224255" y="318756"/>
                </a:lnTo>
                <a:lnTo>
                  <a:pt x="162152" y="257415"/>
                </a:lnTo>
                <a:cubicBezTo>
                  <a:pt x="161485" y="256844"/>
                  <a:pt x="160914" y="256177"/>
                  <a:pt x="160247" y="255701"/>
                </a:cubicBezTo>
                <a:cubicBezTo>
                  <a:pt x="148055" y="245699"/>
                  <a:pt x="130053" y="247414"/>
                  <a:pt x="120052" y="259606"/>
                </a:cubicBezTo>
                <a:lnTo>
                  <a:pt x="120052" y="259606"/>
                </a:lnTo>
                <a:lnTo>
                  <a:pt x="32517" y="366095"/>
                </a:lnTo>
                <a:cubicBezTo>
                  <a:pt x="31088" y="367810"/>
                  <a:pt x="30326" y="369905"/>
                  <a:pt x="30326" y="372096"/>
                </a:cubicBezTo>
                <a:cubicBezTo>
                  <a:pt x="30326" y="377335"/>
                  <a:pt x="34612" y="381621"/>
                  <a:pt x="39851" y="381621"/>
                </a:cubicBezTo>
                <a:lnTo>
                  <a:pt x="39851" y="381621"/>
                </a:lnTo>
                <a:lnTo>
                  <a:pt x="497242" y="381621"/>
                </a:lnTo>
                <a:cubicBezTo>
                  <a:pt x="499146" y="381621"/>
                  <a:pt x="500956" y="381050"/>
                  <a:pt x="502480" y="380002"/>
                </a:cubicBezTo>
                <a:cubicBezTo>
                  <a:pt x="506862" y="377049"/>
                  <a:pt x="508005" y="371144"/>
                  <a:pt x="505147" y="366762"/>
                </a:cubicBezTo>
                <a:lnTo>
                  <a:pt x="505147" y="366762"/>
                </a:lnTo>
                <a:lnTo>
                  <a:pt x="397991" y="205504"/>
                </a:lnTo>
                <a:cubicBezTo>
                  <a:pt x="396181" y="202932"/>
                  <a:pt x="393990" y="200551"/>
                  <a:pt x="391419" y="198646"/>
                </a:cubicBezTo>
                <a:close/>
                <a:moveTo>
                  <a:pt x="95858" y="57771"/>
                </a:moveTo>
                <a:cubicBezTo>
                  <a:pt x="74808" y="57771"/>
                  <a:pt x="57758" y="74821"/>
                  <a:pt x="57758" y="95871"/>
                </a:cubicBezTo>
                <a:cubicBezTo>
                  <a:pt x="57758" y="116921"/>
                  <a:pt x="74808" y="133971"/>
                  <a:pt x="95858" y="133971"/>
                </a:cubicBezTo>
                <a:cubicBezTo>
                  <a:pt x="116908" y="133971"/>
                  <a:pt x="133958" y="116921"/>
                  <a:pt x="133958" y="95871"/>
                </a:cubicBezTo>
                <a:cubicBezTo>
                  <a:pt x="133958" y="74821"/>
                  <a:pt x="116908" y="57771"/>
                  <a:pt x="95858" y="5777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814714" y="4732823"/>
            <a:ext cx="2418159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人工智能的未来展望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95464" y="4631718"/>
            <a:ext cx="504958" cy="504956"/>
          </a:xfrm>
          <a:prstGeom prst="ellipse">
            <a:avLst/>
          </a:prstGeom>
          <a:solidFill>
            <a:schemeClr val="accent2"/>
          </a:solidFill>
          <a:ln cap="rnd">
            <a:noFill/>
            <a:prstDash val="solid"/>
          </a:ln>
          <a:effectLst>
            <a:outerShdw blurRad="254000" dist="127000" algn="ctr" rotWithShape="0">
              <a:schemeClr val="accent2">
                <a:alpha val="32000"/>
              </a:schemeClr>
            </a:outerShdw>
          </a:effectLst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7933929" y="4780932"/>
            <a:ext cx="218911" cy="215001"/>
          </a:xfrm>
          <a:custGeom>
            <a:avLst/>
            <a:gdLst/>
            <a:ahLst/>
            <a:cxnLst/>
            <a:rect l="l" t="t" r="r" b="b"/>
            <a:pathLst>
              <a:path w="533400" h="523875">
                <a:moveTo>
                  <a:pt x="343764" y="276846"/>
                </a:moveTo>
                <a:cubicBezTo>
                  <a:pt x="359576" y="276846"/>
                  <a:pt x="372339" y="289610"/>
                  <a:pt x="372339" y="305421"/>
                </a:cubicBezTo>
                <a:lnTo>
                  <a:pt x="372339" y="495921"/>
                </a:lnTo>
                <a:cubicBezTo>
                  <a:pt x="372339" y="511732"/>
                  <a:pt x="359576" y="524496"/>
                  <a:pt x="343764" y="524496"/>
                </a:cubicBezTo>
                <a:lnTo>
                  <a:pt x="191364" y="524496"/>
                </a:lnTo>
                <a:cubicBezTo>
                  <a:pt x="175552" y="524496"/>
                  <a:pt x="162789" y="511732"/>
                  <a:pt x="162789" y="495921"/>
                </a:cubicBezTo>
                <a:lnTo>
                  <a:pt x="162789" y="305421"/>
                </a:lnTo>
                <a:cubicBezTo>
                  <a:pt x="162789" y="289610"/>
                  <a:pt x="175552" y="276846"/>
                  <a:pt x="191364" y="276846"/>
                </a:cubicBezTo>
                <a:lnTo>
                  <a:pt x="343764" y="276846"/>
                </a:lnTo>
                <a:close/>
                <a:moveTo>
                  <a:pt x="143739" y="114921"/>
                </a:moveTo>
                <a:cubicBezTo>
                  <a:pt x="143739" y="135305"/>
                  <a:pt x="159741" y="151973"/>
                  <a:pt x="179934" y="153021"/>
                </a:cubicBezTo>
                <a:lnTo>
                  <a:pt x="181839" y="153021"/>
                </a:lnTo>
                <a:lnTo>
                  <a:pt x="353289" y="153021"/>
                </a:lnTo>
                <a:cubicBezTo>
                  <a:pt x="373673" y="153021"/>
                  <a:pt x="390341" y="137019"/>
                  <a:pt x="391389" y="116826"/>
                </a:cubicBezTo>
                <a:lnTo>
                  <a:pt x="391389" y="114921"/>
                </a:lnTo>
                <a:lnTo>
                  <a:pt x="505689" y="114921"/>
                </a:lnTo>
                <a:cubicBezTo>
                  <a:pt x="521501" y="114921"/>
                  <a:pt x="534264" y="127685"/>
                  <a:pt x="534264" y="143496"/>
                </a:cubicBezTo>
                <a:lnTo>
                  <a:pt x="534264" y="381621"/>
                </a:lnTo>
                <a:cubicBezTo>
                  <a:pt x="534264" y="397432"/>
                  <a:pt x="521501" y="410196"/>
                  <a:pt x="505689" y="410196"/>
                </a:cubicBezTo>
                <a:lnTo>
                  <a:pt x="391389" y="410196"/>
                </a:lnTo>
                <a:lnTo>
                  <a:pt x="391389" y="295896"/>
                </a:lnTo>
                <a:cubicBezTo>
                  <a:pt x="391389" y="275512"/>
                  <a:pt x="375387" y="258844"/>
                  <a:pt x="355194" y="257796"/>
                </a:cubicBezTo>
                <a:lnTo>
                  <a:pt x="353289" y="257796"/>
                </a:lnTo>
                <a:lnTo>
                  <a:pt x="181839" y="257796"/>
                </a:lnTo>
                <a:cubicBezTo>
                  <a:pt x="161455" y="257796"/>
                  <a:pt x="144787" y="273798"/>
                  <a:pt x="143739" y="293991"/>
                </a:cubicBezTo>
                <a:lnTo>
                  <a:pt x="143739" y="295896"/>
                </a:lnTo>
                <a:lnTo>
                  <a:pt x="143739" y="410196"/>
                </a:lnTo>
                <a:lnTo>
                  <a:pt x="29439" y="410196"/>
                </a:lnTo>
                <a:cubicBezTo>
                  <a:pt x="13627" y="410196"/>
                  <a:pt x="864" y="397432"/>
                  <a:pt x="864" y="381621"/>
                </a:cubicBezTo>
                <a:lnTo>
                  <a:pt x="864" y="201408"/>
                </a:lnTo>
                <a:cubicBezTo>
                  <a:pt x="864" y="191788"/>
                  <a:pt x="4484" y="182454"/>
                  <a:pt x="11151" y="175405"/>
                </a:cubicBezTo>
                <a:lnTo>
                  <a:pt x="56300" y="127018"/>
                </a:lnTo>
                <a:cubicBezTo>
                  <a:pt x="63538" y="119303"/>
                  <a:pt x="73635" y="114921"/>
                  <a:pt x="84112" y="114921"/>
                </a:cubicBezTo>
                <a:lnTo>
                  <a:pt x="143739" y="114921"/>
                </a:lnTo>
                <a:close/>
                <a:moveTo>
                  <a:pt x="462827" y="172071"/>
                </a:moveTo>
                <a:cubicBezTo>
                  <a:pt x="454921" y="172071"/>
                  <a:pt x="448539" y="178453"/>
                  <a:pt x="448539" y="186359"/>
                </a:cubicBezTo>
                <a:cubicBezTo>
                  <a:pt x="448539" y="194264"/>
                  <a:pt x="454921" y="200646"/>
                  <a:pt x="462827" y="200646"/>
                </a:cubicBezTo>
                <a:cubicBezTo>
                  <a:pt x="470732" y="200646"/>
                  <a:pt x="477114" y="194264"/>
                  <a:pt x="477114" y="186359"/>
                </a:cubicBezTo>
                <a:cubicBezTo>
                  <a:pt x="477114" y="178453"/>
                  <a:pt x="470732" y="172071"/>
                  <a:pt x="462827" y="172071"/>
                </a:cubicBezTo>
                <a:close/>
                <a:moveTo>
                  <a:pt x="343764" y="621"/>
                </a:moveTo>
                <a:cubicBezTo>
                  <a:pt x="359576" y="621"/>
                  <a:pt x="372339" y="13385"/>
                  <a:pt x="372339" y="29196"/>
                </a:cubicBezTo>
                <a:lnTo>
                  <a:pt x="372339" y="105396"/>
                </a:lnTo>
                <a:cubicBezTo>
                  <a:pt x="372339" y="121207"/>
                  <a:pt x="359576" y="133971"/>
                  <a:pt x="343764" y="133971"/>
                </a:cubicBezTo>
                <a:lnTo>
                  <a:pt x="191364" y="133971"/>
                </a:lnTo>
                <a:cubicBezTo>
                  <a:pt x="175552" y="133971"/>
                  <a:pt x="162789" y="121207"/>
                  <a:pt x="162789" y="105396"/>
                </a:cubicBezTo>
                <a:lnTo>
                  <a:pt x="162789" y="29196"/>
                </a:lnTo>
                <a:cubicBezTo>
                  <a:pt x="162789" y="13385"/>
                  <a:pt x="175552" y="621"/>
                  <a:pt x="191364" y="621"/>
                </a:cubicBezTo>
                <a:lnTo>
                  <a:pt x="343764" y="621"/>
                </a:lnTo>
                <a:close/>
              </a:path>
            </a:pathLst>
          </a:custGeom>
          <a:solidFill>
            <a:srgbClr val="FFFFFF"/>
          </a:solidFill>
          <a:ln cap="rnd">
            <a:noFill/>
            <a:prstDash val="solid"/>
          </a:ln>
          <a:effectLst/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658812" y="1130300"/>
            <a:ext cx="10874376" cy="110619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1">
            <a:normAutofit/>
          </a:bodyPr>
          <a:lstStyle/>
          <a:p>
            <a:pPr marL="0" algn="ctr">
              <a:defRPr/>
            </a:pPr>
            <a:r>
              <a:rPr lang="zh-CN" altLang="en-US" sz="4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176589" y="4636355"/>
            <a:ext cx="515816" cy="515816"/>
          </a:xfrm>
          <a:prstGeom prst="ellipse">
            <a:avLst/>
          </a:prstGeom>
          <a:solidFill>
            <a:srgbClr val="F0F0F0">
              <a:lumMod val="20000"/>
              <a:lumOff val="80000"/>
            </a:srgbClr>
          </a:solidFill>
          <a:ln>
            <a:noFill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4327226" y="4800278"/>
            <a:ext cx="214542" cy="18797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5176521" y="4685108"/>
            <a:ext cx="2418159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人工智能的伦理与挑战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40844" y="2480685"/>
            <a:ext cx="50495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776460" y="2490726"/>
            <a:ext cx="50495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53175" y="2490726"/>
            <a:ext cx="50495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241161" y="4698929"/>
            <a:ext cx="50495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776460" y="4698929"/>
            <a:ext cx="50495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383997" y="4734045"/>
            <a:ext cx="504958" cy="36933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1800" b="1" i="0" u="none" baseline="0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916943" y="4408676"/>
            <a:ext cx="6840611" cy="584775"/>
          </a:xfrm>
        </p:spPr>
        <p:txBody>
          <a:bodyPr vert="horz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人工智能的定义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1214" y="3210498"/>
            <a:ext cx="1363168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7200" b="0" i="0" u="none" spc="100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253306" y="0"/>
            <a:ext cx="3672688" cy="6858000"/>
          </a:xfrm>
          <a:prstGeom prst="rect">
            <a:avLst/>
          </a:prstGeom>
          <a:solidFill>
            <a:srgbClr val="FFFFFF">
              <a:alpha val="5000"/>
              <a:lumMod val="50000"/>
              <a:lumOff val="50000"/>
            </a:srgbClr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815483" y="2001128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gradFill>
                  <a:gsLst>
                    <a:gs pos="0">
                      <a:srgbClr val="3C6790">
                        <a:lumMod val="60000"/>
                        <a:lumOff val="40000"/>
                      </a:srgbClr>
                    </a:gs>
                    <a:gs pos="61062">
                      <a:srgbClr val="3C6790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3668995"/>
            <a:ext cx="3410129" cy="117729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人工智能（AI）是计算机科学的一个分支，旨在模拟人类智能的过程，如学习、推理和自我修正。其目标是使机器能够感知、理解和处理自然语言和其他复杂任务。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924" y="3035116"/>
            <a:ext cx="344960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人工智能的基本概念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698537" y="2001128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gradFill>
                  <a:gsLst>
                    <a:gs pos="0">
                      <a:srgbClr val="3C6790">
                        <a:lumMod val="60000"/>
                        <a:lumOff val="40000"/>
                      </a:srgbClr>
                    </a:gs>
                    <a:gs pos="61062">
                      <a:srgbClr val="3C6790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443119" y="3668995"/>
            <a:ext cx="3249528" cy="140038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自20世纪50年代以来，人工智能经历了多次浪潮，从早期的符号推理到机器学习的出现，再到近年来的深度学习突破。重要里程碑包括“达特茅斯会议”和IBM的深蓝棋手胜利等。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43118" y="3035116"/>
            <a:ext cx="324952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人工智能的历史背景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724992" y="2001128"/>
            <a:ext cx="755335" cy="70788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4000" b="1" i="0" u="none" baseline="0">
                <a:gradFill>
                  <a:gsLst>
                    <a:gs pos="0">
                      <a:srgbClr val="BF9762">
                        <a:lumMod val="60000"/>
                        <a:lumOff val="40000"/>
                      </a:srgbClr>
                    </a:gs>
                    <a:gs pos="60000">
                      <a:srgbClr val="BF9762"/>
                    </a:gs>
                  </a:gsLst>
                  <a:lin ang="2700000"/>
                </a:gradFill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32022" y="3668995"/>
            <a:ext cx="3211196" cy="140038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与传统计算方法依赖预先编程规则不同，人工智能具有自主学习能力，可以从数据中总结出模式并优化决策。此外，AI能够在动态环境中实时适应，而传统计算通常依赖静态逻辑。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32022" y="3035116"/>
            <a:ext cx="3211196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00000"/>
              </a:lnSpc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人工智能与传统计算的区别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什么是人工智能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03895" y="3190656"/>
            <a:ext cx="195080" cy="195080"/>
          </a:xfrm>
          <a:prstGeom prst="rect">
            <a:avLst/>
          </a:prstGeom>
          <a:gradFill>
            <a:gsLst>
              <a:gs pos="0">
                <a:srgbClr val="BF9762">
                  <a:lumMod val="60000"/>
                  <a:lumOff val="40000"/>
                </a:srgbClr>
              </a:gs>
              <a:gs pos="50000">
                <a:srgbClr val="BF9762"/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203895" y="4965362"/>
            <a:ext cx="195080" cy="195080"/>
          </a:xfrm>
          <a:prstGeom prst="rect">
            <a:avLst/>
          </a:prstGeom>
          <a:gradFill>
            <a:gsLst>
              <a:gs pos="0">
                <a:srgbClr val="3C6790">
                  <a:lumMod val="60000"/>
                  <a:lumOff val="40000"/>
                </a:srgbClr>
              </a:gs>
              <a:gs pos="50000">
                <a:srgbClr val="3C6790"/>
              </a:gs>
            </a:gsLst>
            <a:lin ang="2700000"/>
          </a:gradFill>
          <a:ln>
            <a:noFill/>
          </a:ln>
        </p:spPr>
        <p:txBody>
          <a:bodyPr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03895" y="1604448"/>
            <a:ext cx="195080" cy="195080"/>
          </a:xfrm>
          <a:prstGeom prst="rect">
            <a:avLst/>
          </a:prstGeom>
          <a:gradFill>
            <a:gsLst>
              <a:gs pos="0">
                <a:srgbClr val="3C6790">
                  <a:lumMod val="60000"/>
                  <a:lumOff val="40000"/>
                </a:srgbClr>
              </a:gs>
              <a:gs pos="50000">
                <a:srgbClr val="3C6790"/>
              </a:gs>
            </a:gsLst>
            <a:lin ang="2700000"/>
          </a:gradFill>
          <a:ln>
            <a:noFill/>
          </a:ln>
        </p:spPr>
        <p:txBody>
          <a:bodyPr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488423" y="1859667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人工智能的硬件基础通常包括CPU、GPU和TPU等处理器，能够处理复杂运算和大规模数据。这些硬件支持深度学习算法及其他AI模型的训练和推理。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1488850" y="1521113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硬件基础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488423" y="3443980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支持人工智能开发的主要软件框架包括TensorFlow、PyTorch和Keras等。这些框架提供了建模、训练及部署AI解决方案的工具和库，简化了开发过程。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488850" y="3105426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软件框架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488423" y="5216791"/>
            <a:ext cx="5467759" cy="84561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数据是人工智能系统的“燃料”，高质量和丰富的数据集是训练有效模型的关键。包括数据的来源、清洗、标注和存储等环节，都会直接影响AI的性能。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488850" y="4878237"/>
            <a:ext cx="5466939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数据的重要性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8058490" y="2356670"/>
            <a:ext cx="2566021" cy="3879030"/>
          </a:xfrm>
          <a:custGeom>
            <a:avLst/>
            <a:gdLst/>
            <a:ahLst/>
            <a:cxnLst/>
            <a:rect l="l" t="t" r="r" b="b"/>
            <a:pathLst>
              <a:path w="689" h="1041">
                <a:moveTo>
                  <a:pt x="534" y="591"/>
                </a:moveTo>
                <a:cubicBezTo>
                  <a:pt x="537" y="590"/>
                  <a:pt x="597" y="559"/>
                  <a:pt x="667" y="589"/>
                </a:cubicBezTo>
                <a:cubicBezTo>
                  <a:pt x="667" y="589"/>
                  <a:pt x="587" y="584"/>
                  <a:pt x="509" y="634"/>
                </a:cubicBezTo>
                <a:cubicBezTo>
                  <a:pt x="493" y="644"/>
                  <a:pt x="477" y="657"/>
                  <a:pt x="462" y="672"/>
                </a:cubicBezTo>
                <a:cubicBezTo>
                  <a:pt x="442" y="692"/>
                  <a:pt x="423" y="718"/>
                  <a:pt x="407" y="750"/>
                </a:cubicBezTo>
                <a:cubicBezTo>
                  <a:pt x="401" y="762"/>
                  <a:pt x="395" y="775"/>
                  <a:pt x="390" y="788"/>
                </a:cubicBezTo>
                <a:cubicBezTo>
                  <a:pt x="390" y="788"/>
                  <a:pt x="374" y="851"/>
                  <a:pt x="381" y="961"/>
                </a:cubicBezTo>
                <a:cubicBezTo>
                  <a:pt x="381" y="961"/>
                  <a:pt x="381" y="970"/>
                  <a:pt x="383" y="983"/>
                </a:cubicBezTo>
                <a:cubicBezTo>
                  <a:pt x="383" y="983"/>
                  <a:pt x="383" y="983"/>
                  <a:pt x="383" y="983"/>
                </a:cubicBezTo>
                <a:cubicBezTo>
                  <a:pt x="387" y="1000"/>
                  <a:pt x="387" y="1026"/>
                  <a:pt x="411" y="1041"/>
                </a:cubicBezTo>
                <a:cubicBezTo>
                  <a:pt x="227" y="1041"/>
                  <a:pt x="227" y="1041"/>
                  <a:pt x="227" y="1041"/>
                </a:cubicBezTo>
                <a:cubicBezTo>
                  <a:pt x="227" y="1041"/>
                  <a:pt x="258" y="1034"/>
                  <a:pt x="266" y="968"/>
                </a:cubicBezTo>
                <a:cubicBezTo>
                  <a:pt x="266" y="968"/>
                  <a:pt x="266" y="968"/>
                  <a:pt x="266" y="968"/>
                </a:cubicBezTo>
                <a:cubicBezTo>
                  <a:pt x="267" y="935"/>
                  <a:pt x="270" y="901"/>
                  <a:pt x="274" y="866"/>
                </a:cubicBezTo>
                <a:cubicBezTo>
                  <a:pt x="289" y="744"/>
                  <a:pt x="247" y="642"/>
                  <a:pt x="196" y="596"/>
                </a:cubicBezTo>
                <a:cubicBezTo>
                  <a:pt x="192" y="592"/>
                  <a:pt x="188" y="589"/>
                  <a:pt x="184" y="586"/>
                </a:cubicBezTo>
                <a:cubicBezTo>
                  <a:pt x="134" y="551"/>
                  <a:pt x="73" y="547"/>
                  <a:pt x="19" y="496"/>
                </a:cubicBezTo>
                <a:cubicBezTo>
                  <a:pt x="13" y="489"/>
                  <a:pt x="6" y="482"/>
                  <a:pt x="0" y="473"/>
                </a:cubicBezTo>
                <a:cubicBezTo>
                  <a:pt x="1" y="474"/>
                  <a:pt x="9" y="482"/>
                  <a:pt x="23" y="490"/>
                </a:cubicBezTo>
                <a:cubicBezTo>
                  <a:pt x="23" y="490"/>
                  <a:pt x="23" y="490"/>
                  <a:pt x="23" y="490"/>
                </a:cubicBezTo>
                <a:cubicBezTo>
                  <a:pt x="37" y="499"/>
                  <a:pt x="57" y="509"/>
                  <a:pt x="82" y="516"/>
                </a:cubicBezTo>
                <a:cubicBezTo>
                  <a:pt x="103" y="522"/>
                  <a:pt x="126" y="526"/>
                  <a:pt x="154" y="527"/>
                </a:cubicBezTo>
                <a:cubicBezTo>
                  <a:pt x="154" y="527"/>
                  <a:pt x="137" y="509"/>
                  <a:pt x="120" y="479"/>
                </a:cubicBezTo>
                <a:cubicBezTo>
                  <a:pt x="114" y="470"/>
                  <a:pt x="108" y="459"/>
                  <a:pt x="103" y="447"/>
                </a:cubicBezTo>
                <a:cubicBezTo>
                  <a:pt x="94" y="429"/>
                  <a:pt x="86" y="408"/>
                  <a:pt x="81" y="386"/>
                </a:cubicBezTo>
                <a:cubicBezTo>
                  <a:pt x="77" y="372"/>
                  <a:pt x="74" y="356"/>
                  <a:pt x="73" y="340"/>
                </a:cubicBezTo>
                <a:cubicBezTo>
                  <a:pt x="72" y="332"/>
                  <a:pt x="72" y="323"/>
                  <a:pt x="72" y="314"/>
                </a:cubicBezTo>
                <a:cubicBezTo>
                  <a:pt x="73" y="303"/>
                  <a:pt x="74" y="291"/>
                  <a:pt x="76" y="280"/>
                </a:cubicBezTo>
                <a:cubicBezTo>
                  <a:pt x="76" y="280"/>
                  <a:pt x="76" y="290"/>
                  <a:pt x="79" y="305"/>
                </a:cubicBezTo>
                <a:cubicBezTo>
                  <a:pt x="80" y="311"/>
                  <a:pt x="82" y="316"/>
                  <a:pt x="83" y="323"/>
                </a:cubicBezTo>
                <a:cubicBezTo>
                  <a:pt x="89" y="346"/>
                  <a:pt x="98" y="377"/>
                  <a:pt x="115" y="406"/>
                </a:cubicBezTo>
                <a:cubicBezTo>
                  <a:pt x="120" y="416"/>
                  <a:pt x="126" y="426"/>
                  <a:pt x="133" y="435"/>
                </a:cubicBezTo>
                <a:cubicBezTo>
                  <a:pt x="139" y="442"/>
                  <a:pt x="145" y="450"/>
                  <a:pt x="151" y="458"/>
                </a:cubicBezTo>
                <a:cubicBezTo>
                  <a:pt x="151" y="458"/>
                  <a:pt x="151" y="458"/>
                  <a:pt x="151" y="458"/>
                </a:cubicBezTo>
                <a:cubicBezTo>
                  <a:pt x="153" y="460"/>
                  <a:pt x="155" y="462"/>
                  <a:pt x="157" y="465"/>
                </a:cubicBezTo>
                <a:cubicBezTo>
                  <a:pt x="171" y="482"/>
                  <a:pt x="187" y="500"/>
                  <a:pt x="203" y="518"/>
                </a:cubicBezTo>
                <a:cubicBezTo>
                  <a:pt x="203" y="518"/>
                  <a:pt x="203" y="518"/>
                  <a:pt x="203" y="518"/>
                </a:cubicBezTo>
                <a:cubicBezTo>
                  <a:pt x="216" y="534"/>
                  <a:pt x="230" y="550"/>
                  <a:pt x="243" y="567"/>
                </a:cubicBezTo>
                <a:cubicBezTo>
                  <a:pt x="270" y="601"/>
                  <a:pt x="293" y="637"/>
                  <a:pt x="303" y="671"/>
                </a:cubicBezTo>
                <a:cubicBezTo>
                  <a:pt x="303" y="671"/>
                  <a:pt x="317" y="642"/>
                  <a:pt x="332" y="594"/>
                </a:cubicBezTo>
                <a:cubicBezTo>
                  <a:pt x="333" y="593"/>
                  <a:pt x="333" y="593"/>
                  <a:pt x="333" y="592"/>
                </a:cubicBezTo>
                <a:cubicBezTo>
                  <a:pt x="342" y="565"/>
                  <a:pt x="351" y="532"/>
                  <a:pt x="359" y="494"/>
                </a:cubicBezTo>
                <a:cubicBezTo>
                  <a:pt x="359" y="491"/>
                  <a:pt x="360" y="489"/>
                  <a:pt x="360" y="486"/>
                </a:cubicBezTo>
                <a:cubicBezTo>
                  <a:pt x="361" y="484"/>
                  <a:pt x="361" y="482"/>
                  <a:pt x="361" y="481"/>
                </a:cubicBezTo>
                <a:cubicBezTo>
                  <a:pt x="364" y="468"/>
                  <a:pt x="366" y="454"/>
                  <a:pt x="368" y="440"/>
                </a:cubicBezTo>
                <a:cubicBezTo>
                  <a:pt x="369" y="436"/>
                  <a:pt x="369" y="431"/>
                  <a:pt x="370" y="427"/>
                </a:cubicBezTo>
                <a:cubicBezTo>
                  <a:pt x="373" y="400"/>
                  <a:pt x="375" y="371"/>
                  <a:pt x="376" y="342"/>
                </a:cubicBezTo>
                <a:cubicBezTo>
                  <a:pt x="376" y="337"/>
                  <a:pt x="376" y="332"/>
                  <a:pt x="376" y="327"/>
                </a:cubicBezTo>
                <a:cubicBezTo>
                  <a:pt x="376" y="314"/>
                  <a:pt x="376" y="301"/>
                  <a:pt x="375" y="288"/>
                </a:cubicBezTo>
                <a:cubicBezTo>
                  <a:pt x="375" y="287"/>
                  <a:pt x="375" y="287"/>
                  <a:pt x="375" y="287"/>
                </a:cubicBezTo>
                <a:cubicBezTo>
                  <a:pt x="375" y="281"/>
                  <a:pt x="374" y="276"/>
                  <a:pt x="374" y="270"/>
                </a:cubicBezTo>
                <a:cubicBezTo>
                  <a:pt x="374" y="270"/>
                  <a:pt x="374" y="270"/>
                  <a:pt x="374" y="270"/>
                </a:cubicBezTo>
                <a:cubicBezTo>
                  <a:pt x="374" y="265"/>
                  <a:pt x="373" y="261"/>
                  <a:pt x="373" y="257"/>
                </a:cubicBezTo>
                <a:cubicBezTo>
                  <a:pt x="372" y="243"/>
                  <a:pt x="370" y="229"/>
                  <a:pt x="368" y="215"/>
                </a:cubicBezTo>
                <a:cubicBezTo>
                  <a:pt x="367" y="207"/>
                  <a:pt x="365" y="199"/>
                  <a:pt x="364" y="191"/>
                </a:cubicBezTo>
                <a:cubicBezTo>
                  <a:pt x="363" y="190"/>
                  <a:pt x="363" y="189"/>
                  <a:pt x="363" y="188"/>
                </a:cubicBezTo>
                <a:cubicBezTo>
                  <a:pt x="363" y="188"/>
                  <a:pt x="363" y="188"/>
                  <a:pt x="363" y="188"/>
                </a:cubicBezTo>
                <a:cubicBezTo>
                  <a:pt x="362" y="181"/>
                  <a:pt x="360" y="173"/>
                  <a:pt x="358" y="165"/>
                </a:cubicBezTo>
                <a:cubicBezTo>
                  <a:pt x="352" y="139"/>
                  <a:pt x="344" y="113"/>
                  <a:pt x="334" y="86"/>
                </a:cubicBezTo>
                <a:cubicBezTo>
                  <a:pt x="332" y="80"/>
                  <a:pt x="330" y="74"/>
                  <a:pt x="327" y="67"/>
                </a:cubicBezTo>
                <a:cubicBezTo>
                  <a:pt x="323" y="57"/>
                  <a:pt x="319" y="48"/>
                  <a:pt x="314" y="38"/>
                </a:cubicBezTo>
                <a:cubicBezTo>
                  <a:pt x="308" y="25"/>
                  <a:pt x="302" y="12"/>
                  <a:pt x="295" y="0"/>
                </a:cubicBezTo>
                <a:cubicBezTo>
                  <a:pt x="296" y="1"/>
                  <a:pt x="310" y="14"/>
                  <a:pt x="328" y="39"/>
                </a:cubicBezTo>
                <a:cubicBezTo>
                  <a:pt x="334" y="47"/>
                  <a:pt x="340" y="56"/>
                  <a:pt x="346" y="66"/>
                </a:cubicBezTo>
                <a:cubicBezTo>
                  <a:pt x="346" y="66"/>
                  <a:pt x="346" y="66"/>
                  <a:pt x="346" y="66"/>
                </a:cubicBezTo>
                <a:cubicBezTo>
                  <a:pt x="359" y="87"/>
                  <a:pt x="373" y="114"/>
                  <a:pt x="386" y="146"/>
                </a:cubicBezTo>
                <a:cubicBezTo>
                  <a:pt x="392" y="163"/>
                  <a:pt x="398" y="181"/>
                  <a:pt x="404" y="201"/>
                </a:cubicBezTo>
                <a:cubicBezTo>
                  <a:pt x="406" y="210"/>
                  <a:pt x="408" y="218"/>
                  <a:pt x="410" y="228"/>
                </a:cubicBezTo>
                <a:cubicBezTo>
                  <a:pt x="410" y="228"/>
                  <a:pt x="410" y="228"/>
                  <a:pt x="410" y="228"/>
                </a:cubicBezTo>
                <a:cubicBezTo>
                  <a:pt x="412" y="238"/>
                  <a:pt x="414" y="248"/>
                  <a:pt x="416" y="259"/>
                </a:cubicBezTo>
                <a:cubicBezTo>
                  <a:pt x="420" y="281"/>
                  <a:pt x="423" y="305"/>
                  <a:pt x="424" y="331"/>
                </a:cubicBezTo>
                <a:cubicBezTo>
                  <a:pt x="424" y="340"/>
                  <a:pt x="425" y="350"/>
                  <a:pt x="425" y="361"/>
                </a:cubicBezTo>
                <a:cubicBezTo>
                  <a:pt x="425" y="370"/>
                  <a:pt x="425" y="379"/>
                  <a:pt x="425" y="389"/>
                </a:cubicBezTo>
                <a:cubicBezTo>
                  <a:pt x="425" y="389"/>
                  <a:pt x="429" y="381"/>
                  <a:pt x="437" y="370"/>
                </a:cubicBezTo>
                <a:cubicBezTo>
                  <a:pt x="442" y="362"/>
                  <a:pt x="449" y="353"/>
                  <a:pt x="457" y="344"/>
                </a:cubicBezTo>
                <a:cubicBezTo>
                  <a:pt x="467" y="331"/>
                  <a:pt x="478" y="317"/>
                  <a:pt x="491" y="306"/>
                </a:cubicBezTo>
                <a:cubicBezTo>
                  <a:pt x="495" y="302"/>
                  <a:pt x="501" y="297"/>
                  <a:pt x="506" y="291"/>
                </a:cubicBezTo>
                <a:cubicBezTo>
                  <a:pt x="511" y="286"/>
                  <a:pt x="515" y="281"/>
                  <a:pt x="520" y="275"/>
                </a:cubicBezTo>
                <a:cubicBezTo>
                  <a:pt x="528" y="265"/>
                  <a:pt x="537" y="253"/>
                  <a:pt x="546" y="239"/>
                </a:cubicBezTo>
                <a:cubicBezTo>
                  <a:pt x="546" y="239"/>
                  <a:pt x="546" y="239"/>
                  <a:pt x="546" y="239"/>
                </a:cubicBezTo>
                <a:cubicBezTo>
                  <a:pt x="551" y="231"/>
                  <a:pt x="556" y="222"/>
                  <a:pt x="561" y="213"/>
                </a:cubicBezTo>
                <a:cubicBezTo>
                  <a:pt x="575" y="186"/>
                  <a:pt x="588" y="153"/>
                  <a:pt x="599" y="113"/>
                </a:cubicBezTo>
                <a:cubicBezTo>
                  <a:pt x="602" y="101"/>
                  <a:pt x="605" y="88"/>
                  <a:pt x="608" y="74"/>
                </a:cubicBezTo>
                <a:cubicBezTo>
                  <a:pt x="608" y="74"/>
                  <a:pt x="611" y="91"/>
                  <a:pt x="608" y="120"/>
                </a:cubicBezTo>
                <a:cubicBezTo>
                  <a:pt x="608" y="123"/>
                  <a:pt x="607" y="127"/>
                  <a:pt x="607" y="131"/>
                </a:cubicBezTo>
                <a:cubicBezTo>
                  <a:pt x="607" y="131"/>
                  <a:pt x="607" y="131"/>
                  <a:pt x="607" y="131"/>
                </a:cubicBezTo>
                <a:cubicBezTo>
                  <a:pt x="606" y="137"/>
                  <a:pt x="605" y="143"/>
                  <a:pt x="604" y="150"/>
                </a:cubicBezTo>
                <a:cubicBezTo>
                  <a:pt x="600" y="174"/>
                  <a:pt x="592" y="203"/>
                  <a:pt x="578" y="235"/>
                </a:cubicBezTo>
                <a:cubicBezTo>
                  <a:pt x="574" y="244"/>
                  <a:pt x="570" y="253"/>
                  <a:pt x="566" y="262"/>
                </a:cubicBezTo>
                <a:cubicBezTo>
                  <a:pt x="563" y="268"/>
                  <a:pt x="560" y="274"/>
                  <a:pt x="556" y="280"/>
                </a:cubicBezTo>
                <a:cubicBezTo>
                  <a:pt x="553" y="286"/>
                  <a:pt x="550" y="291"/>
                  <a:pt x="547" y="297"/>
                </a:cubicBezTo>
                <a:cubicBezTo>
                  <a:pt x="544" y="302"/>
                  <a:pt x="541" y="306"/>
                  <a:pt x="538" y="311"/>
                </a:cubicBezTo>
                <a:cubicBezTo>
                  <a:pt x="521" y="337"/>
                  <a:pt x="508" y="359"/>
                  <a:pt x="496" y="376"/>
                </a:cubicBezTo>
                <a:cubicBezTo>
                  <a:pt x="493" y="379"/>
                  <a:pt x="491" y="383"/>
                  <a:pt x="489" y="386"/>
                </a:cubicBezTo>
                <a:cubicBezTo>
                  <a:pt x="448" y="446"/>
                  <a:pt x="439" y="449"/>
                  <a:pt x="427" y="479"/>
                </a:cubicBezTo>
                <a:cubicBezTo>
                  <a:pt x="427" y="479"/>
                  <a:pt x="426" y="483"/>
                  <a:pt x="425" y="489"/>
                </a:cubicBezTo>
                <a:cubicBezTo>
                  <a:pt x="425" y="492"/>
                  <a:pt x="424" y="497"/>
                  <a:pt x="423" y="501"/>
                </a:cubicBezTo>
                <a:cubicBezTo>
                  <a:pt x="419" y="526"/>
                  <a:pt x="411" y="568"/>
                  <a:pt x="406" y="605"/>
                </a:cubicBezTo>
                <a:cubicBezTo>
                  <a:pt x="401" y="635"/>
                  <a:pt x="397" y="663"/>
                  <a:pt x="396" y="677"/>
                </a:cubicBezTo>
                <a:cubicBezTo>
                  <a:pt x="396" y="677"/>
                  <a:pt x="444" y="624"/>
                  <a:pt x="496" y="584"/>
                </a:cubicBezTo>
                <a:cubicBezTo>
                  <a:pt x="502" y="579"/>
                  <a:pt x="509" y="574"/>
                  <a:pt x="515" y="570"/>
                </a:cubicBezTo>
                <a:cubicBezTo>
                  <a:pt x="545" y="548"/>
                  <a:pt x="581" y="519"/>
                  <a:pt x="614" y="485"/>
                </a:cubicBezTo>
                <a:cubicBezTo>
                  <a:pt x="615" y="485"/>
                  <a:pt x="615" y="484"/>
                  <a:pt x="616" y="483"/>
                </a:cubicBezTo>
                <a:cubicBezTo>
                  <a:pt x="644" y="454"/>
                  <a:pt x="669" y="422"/>
                  <a:pt x="685" y="390"/>
                </a:cubicBezTo>
                <a:cubicBezTo>
                  <a:pt x="686" y="387"/>
                  <a:pt x="688" y="385"/>
                  <a:pt x="689" y="383"/>
                </a:cubicBezTo>
                <a:cubicBezTo>
                  <a:pt x="689" y="383"/>
                  <a:pt x="688" y="386"/>
                  <a:pt x="686" y="390"/>
                </a:cubicBezTo>
                <a:cubicBezTo>
                  <a:pt x="681" y="406"/>
                  <a:pt x="665" y="444"/>
                  <a:pt x="632" y="490"/>
                </a:cubicBezTo>
                <a:cubicBezTo>
                  <a:pt x="631" y="490"/>
                  <a:pt x="631" y="491"/>
                  <a:pt x="630" y="492"/>
                </a:cubicBezTo>
                <a:cubicBezTo>
                  <a:pt x="607" y="523"/>
                  <a:pt x="576" y="558"/>
                  <a:pt x="534" y="591"/>
                </a:cubicBezTo>
                <a:close/>
              </a:path>
            </a:pathLst>
          </a:custGeom>
          <a:solidFill>
            <a:srgbClr val="FFC529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208481" y="3288929"/>
            <a:ext cx="1218399" cy="1220707"/>
          </a:xfrm>
          <a:custGeom>
            <a:avLst/>
            <a:gdLst/>
            <a:ahLst/>
            <a:cxnLst/>
            <a:rect l="l" t="t" r="r" b="b"/>
            <a:pathLst>
              <a:path w="327" h="328">
                <a:moveTo>
                  <a:pt x="323" y="198"/>
                </a:moveTo>
                <a:cubicBezTo>
                  <a:pt x="321" y="209"/>
                  <a:pt x="317" y="219"/>
                  <a:pt x="313" y="229"/>
                </a:cubicBezTo>
                <a:cubicBezTo>
                  <a:pt x="312" y="231"/>
                  <a:pt x="311" y="233"/>
                  <a:pt x="310" y="235"/>
                </a:cubicBezTo>
                <a:cubicBezTo>
                  <a:pt x="295" y="266"/>
                  <a:pt x="270" y="291"/>
                  <a:pt x="240" y="307"/>
                </a:cubicBezTo>
                <a:cubicBezTo>
                  <a:pt x="228" y="313"/>
                  <a:pt x="216" y="318"/>
                  <a:pt x="203" y="321"/>
                </a:cubicBezTo>
                <a:cubicBezTo>
                  <a:pt x="193" y="323"/>
                  <a:pt x="183" y="325"/>
                  <a:pt x="173" y="325"/>
                </a:cubicBezTo>
                <a:cubicBezTo>
                  <a:pt x="121" y="328"/>
                  <a:pt x="74" y="306"/>
                  <a:pt x="42" y="270"/>
                </a:cubicBezTo>
                <a:cubicBezTo>
                  <a:pt x="31" y="257"/>
                  <a:pt x="22" y="243"/>
                  <a:pt x="15" y="227"/>
                </a:cubicBezTo>
                <a:cubicBezTo>
                  <a:pt x="8" y="210"/>
                  <a:pt x="3" y="191"/>
                  <a:pt x="2" y="171"/>
                </a:cubicBezTo>
                <a:cubicBezTo>
                  <a:pt x="0" y="133"/>
                  <a:pt x="12" y="97"/>
                  <a:pt x="32" y="68"/>
                </a:cubicBezTo>
                <a:cubicBezTo>
                  <a:pt x="35" y="65"/>
                  <a:pt x="37" y="62"/>
                  <a:pt x="39" y="59"/>
                </a:cubicBezTo>
                <a:cubicBezTo>
                  <a:pt x="55" y="40"/>
                  <a:pt x="76" y="24"/>
                  <a:pt x="99" y="14"/>
                </a:cubicBezTo>
                <a:cubicBezTo>
                  <a:pt x="109" y="10"/>
                  <a:pt x="120" y="6"/>
                  <a:pt x="132" y="4"/>
                </a:cubicBezTo>
                <a:cubicBezTo>
                  <a:pt x="139" y="2"/>
                  <a:pt x="147" y="1"/>
                  <a:pt x="155" y="1"/>
                </a:cubicBezTo>
                <a:cubicBezTo>
                  <a:pt x="155" y="1"/>
                  <a:pt x="155" y="1"/>
                  <a:pt x="155" y="1"/>
                </a:cubicBezTo>
                <a:cubicBezTo>
                  <a:pt x="155" y="1"/>
                  <a:pt x="156" y="1"/>
                  <a:pt x="156" y="1"/>
                </a:cubicBezTo>
                <a:cubicBezTo>
                  <a:pt x="165" y="0"/>
                  <a:pt x="173" y="0"/>
                  <a:pt x="182" y="1"/>
                </a:cubicBezTo>
                <a:cubicBezTo>
                  <a:pt x="182" y="1"/>
                  <a:pt x="182" y="1"/>
                  <a:pt x="182" y="1"/>
                </a:cubicBezTo>
                <a:cubicBezTo>
                  <a:pt x="206" y="4"/>
                  <a:pt x="228" y="12"/>
                  <a:pt x="248" y="24"/>
                </a:cubicBezTo>
                <a:cubicBezTo>
                  <a:pt x="253" y="27"/>
                  <a:pt x="259" y="30"/>
                  <a:pt x="264" y="34"/>
                </a:cubicBezTo>
                <a:cubicBezTo>
                  <a:pt x="277" y="45"/>
                  <a:pt x="290" y="58"/>
                  <a:pt x="299" y="72"/>
                </a:cubicBezTo>
                <a:cubicBezTo>
                  <a:pt x="299" y="73"/>
                  <a:pt x="299" y="73"/>
                  <a:pt x="299" y="73"/>
                </a:cubicBezTo>
                <a:cubicBezTo>
                  <a:pt x="302" y="77"/>
                  <a:pt x="305" y="82"/>
                  <a:pt x="308" y="86"/>
                </a:cubicBezTo>
                <a:cubicBezTo>
                  <a:pt x="319" y="107"/>
                  <a:pt x="325" y="130"/>
                  <a:pt x="327" y="155"/>
                </a:cubicBezTo>
                <a:cubicBezTo>
                  <a:pt x="327" y="170"/>
                  <a:pt x="326" y="184"/>
                  <a:pt x="323" y="198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7735429" y="2682036"/>
            <a:ext cx="535357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7"/>
                  <a:pt x="114" y="140"/>
                  <a:pt x="76" y="142"/>
                </a:cubicBezTo>
                <a:cubicBezTo>
                  <a:pt x="37" y="144"/>
                  <a:pt x="4" y="114"/>
                  <a:pt x="2" y="76"/>
                </a:cubicBezTo>
                <a:cubicBezTo>
                  <a:pt x="0" y="37"/>
                  <a:pt x="30" y="4"/>
                  <a:pt x="69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0377600" y="3325850"/>
            <a:ext cx="537665" cy="535357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2" y="69"/>
                </a:moveTo>
                <a:cubicBezTo>
                  <a:pt x="144" y="108"/>
                  <a:pt x="114" y="141"/>
                  <a:pt x="75" y="142"/>
                </a:cubicBezTo>
                <a:cubicBezTo>
                  <a:pt x="36" y="144"/>
                  <a:pt x="3" y="115"/>
                  <a:pt x="1" y="76"/>
                </a:cubicBezTo>
                <a:cubicBezTo>
                  <a:pt x="0" y="37"/>
                  <a:pt x="29" y="4"/>
                  <a:pt x="68" y="2"/>
                </a:cubicBezTo>
                <a:cubicBezTo>
                  <a:pt x="107" y="0"/>
                  <a:pt x="140" y="30"/>
                  <a:pt x="142" y="69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8990749" y="3575068"/>
            <a:ext cx="539972" cy="537665"/>
          </a:xfrm>
          <a:custGeom>
            <a:avLst/>
            <a:gdLst/>
            <a:ahLst/>
            <a:cxnLst/>
            <a:rect l="l" t="t" r="r" b="b"/>
            <a:pathLst>
              <a:path w="145" h="144">
                <a:moveTo>
                  <a:pt x="143" y="68"/>
                </a:moveTo>
                <a:cubicBezTo>
                  <a:pt x="145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6"/>
                  <a:pt x="30" y="3"/>
                  <a:pt x="69" y="2"/>
                </a:cubicBezTo>
                <a:cubicBezTo>
                  <a:pt x="108" y="0"/>
                  <a:pt x="141" y="29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011516" y="2017455"/>
            <a:ext cx="537665" cy="537665"/>
          </a:xfrm>
          <a:custGeom>
            <a:avLst/>
            <a:gdLst/>
            <a:ahLst/>
            <a:cxnLst/>
            <a:rect l="l" t="t" r="r" b="b"/>
            <a:pathLst>
              <a:path w="144" h="144">
                <a:moveTo>
                  <a:pt x="143" y="68"/>
                </a:moveTo>
                <a:cubicBezTo>
                  <a:pt x="144" y="107"/>
                  <a:pt x="115" y="140"/>
                  <a:pt x="76" y="142"/>
                </a:cubicBezTo>
                <a:cubicBezTo>
                  <a:pt x="37" y="144"/>
                  <a:pt x="4" y="114"/>
                  <a:pt x="2" y="75"/>
                </a:cubicBezTo>
                <a:cubicBezTo>
                  <a:pt x="0" y="37"/>
                  <a:pt x="30" y="4"/>
                  <a:pt x="69" y="2"/>
                </a:cubicBezTo>
                <a:cubicBezTo>
                  <a:pt x="108" y="0"/>
                  <a:pt x="141" y="30"/>
                  <a:pt x="143" y="68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0389138" y="1775161"/>
            <a:ext cx="200760" cy="203066"/>
          </a:xfrm>
          <a:custGeom>
            <a:avLst/>
            <a:gdLst/>
            <a:ahLst/>
            <a:cxnLst/>
            <a:rect l="l" t="t" r="r" b="b"/>
            <a:pathLst>
              <a:path w="54" h="54">
                <a:moveTo>
                  <a:pt x="53" y="25"/>
                </a:moveTo>
                <a:cubicBezTo>
                  <a:pt x="54" y="40"/>
                  <a:pt x="43" y="52"/>
                  <a:pt x="28" y="53"/>
                </a:cubicBezTo>
                <a:cubicBezTo>
                  <a:pt x="14" y="54"/>
                  <a:pt x="2" y="42"/>
                  <a:pt x="1" y="28"/>
                </a:cubicBezTo>
                <a:cubicBezTo>
                  <a:pt x="0" y="14"/>
                  <a:pt x="11" y="1"/>
                  <a:pt x="26" y="1"/>
                </a:cubicBezTo>
                <a:cubicBezTo>
                  <a:pt x="40" y="0"/>
                  <a:pt x="52" y="11"/>
                  <a:pt x="53" y="2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0594512" y="2151295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1" y="12"/>
                  <a:pt x="1" y="8"/>
                </a:cubicBezTo>
                <a:cubicBezTo>
                  <a:pt x="0" y="4"/>
                  <a:pt x="4" y="1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8238505" y="2642807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8508493" y="2518197"/>
            <a:ext cx="916111" cy="918413"/>
          </a:xfrm>
          <a:custGeom>
            <a:avLst/>
            <a:gdLst/>
            <a:ahLst/>
            <a:cxnLst/>
            <a:rect l="l" t="t" r="r" b="b"/>
            <a:pathLst>
              <a:path w="246" h="247">
                <a:moveTo>
                  <a:pt x="243" y="118"/>
                </a:moveTo>
                <a:cubicBezTo>
                  <a:pt x="246" y="184"/>
                  <a:pt x="195" y="240"/>
                  <a:pt x="129" y="243"/>
                </a:cubicBezTo>
                <a:cubicBezTo>
                  <a:pt x="63" y="247"/>
                  <a:pt x="7" y="196"/>
                  <a:pt x="3" y="130"/>
                </a:cubicBezTo>
                <a:cubicBezTo>
                  <a:pt x="0" y="63"/>
                  <a:pt x="51" y="7"/>
                  <a:pt x="117" y="4"/>
                </a:cubicBezTo>
                <a:cubicBezTo>
                  <a:pt x="183" y="0"/>
                  <a:pt x="240" y="51"/>
                  <a:pt x="243" y="11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9491523" y="3076628"/>
            <a:ext cx="768426" cy="766113"/>
          </a:xfrm>
          <a:custGeom>
            <a:avLst/>
            <a:gdLst/>
            <a:ahLst/>
            <a:cxnLst/>
            <a:rect l="l" t="t" r="r" b="b"/>
            <a:pathLst>
              <a:path w="206" h="206">
                <a:moveTo>
                  <a:pt x="204" y="98"/>
                </a:moveTo>
                <a:cubicBezTo>
                  <a:pt x="206" y="153"/>
                  <a:pt x="164" y="200"/>
                  <a:pt x="108" y="203"/>
                </a:cubicBezTo>
                <a:cubicBezTo>
                  <a:pt x="53" y="206"/>
                  <a:pt x="6" y="163"/>
                  <a:pt x="3" y="108"/>
                </a:cubicBezTo>
                <a:cubicBezTo>
                  <a:pt x="0" y="52"/>
                  <a:pt x="43" y="5"/>
                  <a:pt x="98" y="3"/>
                </a:cubicBezTo>
                <a:cubicBezTo>
                  <a:pt x="154" y="0"/>
                  <a:pt x="201" y="42"/>
                  <a:pt x="204" y="98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9286119" y="1800544"/>
            <a:ext cx="745346" cy="740732"/>
          </a:xfrm>
          <a:custGeom>
            <a:avLst/>
            <a:gdLst/>
            <a:ahLst/>
            <a:cxnLst/>
            <a:rect l="l" t="t" r="r" b="b"/>
            <a:pathLst>
              <a:path w="200" h="199">
                <a:moveTo>
                  <a:pt x="197" y="95"/>
                </a:moveTo>
                <a:cubicBezTo>
                  <a:pt x="200" y="148"/>
                  <a:pt x="158" y="194"/>
                  <a:pt x="105" y="197"/>
                </a:cubicBezTo>
                <a:cubicBezTo>
                  <a:pt x="51" y="199"/>
                  <a:pt x="6" y="158"/>
                  <a:pt x="3" y="105"/>
                </a:cubicBezTo>
                <a:cubicBezTo>
                  <a:pt x="0" y="51"/>
                  <a:pt x="42" y="5"/>
                  <a:pt x="95" y="3"/>
                </a:cubicBezTo>
                <a:cubicBezTo>
                  <a:pt x="149" y="0"/>
                  <a:pt x="194" y="41"/>
                  <a:pt x="197" y="95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0220685" y="2268982"/>
            <a:ext cx="256141" cy="258448"/>
          </a:xfrm>
          <a:custGeom>
            <a:avLst/>
            <a:gdLst/>
            <a:ahLst/>
            <a:cxnLst/>
            <a:rect l="l" t="t" r="r" b="b"/>
            <a:pathLst>
              <a:path w="69" h="69">
                <a:moveTo>
                  <a:pt x="68" y="33"/>
                </a:moveTo>
                <a:cubicBezTo>
                  <a:pt x="69" y="52"/>
                  <a:pt x="54" y="67"/>
                  <a:pt x="36" y="68"/>
                </a:cubicBezTo>
                <a:cubicBezTo>
                  <a:pt x="17" y="69"/>
                  <a:pt x="1" y="55"/>
                  <a:pt x="0" y="36"/>
                </a:cubicBezTo>
                <a:cubicBezTo>
                  <a:pt x="0" y="18"/>
                  <a:pt x="14" y="2"/>
                  <a:pt x="32" y="1"/>
                </a:cubicBezTo>
                <a:cubicBezTo>
                  <a:pt x="51" y="0"/>
                  <a:pt x="67" y="14"/>
                  <a:pt x="68" y="33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7940803" y="1975919"/>
            <a:ext cx="235373" cy="237681"/>
          </a:xfrm>
          <a:custGeom>
            <a:avLst/>
            <a:gdLst/>
            <a:ahLst/>
            <a:cxnLst/>
            <a:rect l="l" t="t" r="r" b="b"/>
            <a:pathLst>
              <a:path w="63" h="64">
                <a:moveTo>
                  <a:pt x="62" y="30"/>
                </a:moveTo>
                <a:cubicBezTo>
                  <a:pt x="63" y="47"/>
                  <a:pt x="50" y="62"/>
                  <a:pt x="33" y="63"/>
                </a:cubicBezTo>
                <a:cubicBezTo>
                  <a:pt x="16" y="64"/>
                  <a:pt x="1" y="51"/>
                  <a:pt x="1" y="34"/>
                </a:cubicBezTo>
                <a:cubicBezTo>
                  <a:pt x="0" y="16"/>
                  <a:pt x="13" y="2"/>
                  <a:pt x="30" y="1"/>
                </a:cubicBezTo>
                <a:cubicBezTo>
                  <a:pt x="47" y="0"/>
                  <a:pt x="62" y="13"/>
                  <a:pt x="62" y="30"/>
                </a:cubicBezTo>
                <a:close/>
              </a:path>
            </a:pathLst>
          </a:custGeom>
          <a:solidFill>
            <a:srgbClr val="FFC529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9819167" y="1445178"/>
            <a:ext cx="237681" cy="239987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3" y="31"/>
                </a:moveTo>
                <a:cubicBezTo>
                  <a:pt x="64" y="48"/>
                  <a:pt x="50" y="62"/>
                  <a:pt x="33" y="63"/>
                </a:cubicBezTo>
                <a:cubicBezTo>
                  <a:pt x="16" y="64"/>
                  <a:pt x="2" y="51"/>
                  <a:pt x="1" y="34"/>
                </a:cubicBezTo>
                <a:cubicBezTo>
                  <a:pt x="0" y="17"/>
                  <a:pt x="13" y="2"/>
                  <a:pt x="30" y="1"/>
                </a:cubicBezTo>
                <a:cubicBezTo>
                  <a:pt x="47" y="0"/>
                  <a:pt x="62" y="13"/>
                  <a:pt x="63" y="31"/>
                </a:cubicBezTo>
                <a:close/>
              </a:path>
            </a:pathLst>
          </a:custGeom>
          <a:solidFill>
            <a:srgbClr val="FFC529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10123767" y="2439742"/>
            <a:ext cx="55382" cy="5769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0"/>
                </a:cubicBezTo>
                <a:cubicBezTo>
                  <a:pt x="11" y="0"/>
                  <a:pt x="14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10610665" y="3171242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4" y="7"/>
                </a:moveTo>
                <a:cubicBezTo>
                  <a:pt x="15" y="11"/>
                  <a:pt x="12" y="14"/>
                  <a:pt x="8" y="14"/>
                </a:cubicBezTo>
                <a:cubicBezTo>
                  <a:pt x="3" y="15"/>
                  <a:pt x="0" y="11"/>
                  <a:pt x="0" y="7"/>
                </a:cubicBezTo>
                <a:cubicBezTo>
                  <a:pt x="0" y="3"/>
                  <a:pt x="3" y="0"/>
                  <a:pt x="7" y="0"/>
                </a:cubicBezTo>
                <a:cubicBezTo>
                  <a:pt x="11" y="0"/>
                  <a:pt x="14" y="3"/>
                  <a:pt x="14" y="7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8817681" y="2195140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5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1"/>
                  <a:pt x="7" y="1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8480775" y="1389796"/>
            <a:ext cx="57690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4"/>
                </a:cubicBezTo>
                <a:cubicBezTo>
                  <a:pt x="4" y="15"/>
                  <a:pt x="1" y="12"/>
                  <a:pt x="1" y="8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8277708" y="3178166"/>
            <a:ext cx="55382" cy="55382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15" y="7"/>
                </a:moveTo>
                <a:cubicBezTo>
                  <a:pt x="15" y="11"/>
                  <a:pt x="12" y="14"/>
                  <a:pt x="8" y="15"/>
                </a:cubicBezTo>
                <a:cubicBezTo>
                  <a:pt x="4" y="15"/>
                  <a:pt x="0" y="12"/>
                  <a:pt x="0" y="8"/>
                </a:cubicBezTo>
                <a:cubicBezTo>
                  <a:pt x="0" y="4"/>
                  <a:pt x="3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8370012" y="2354362"/>
            <a:ext cx="341521" cy="346136"/>
          </a:xfrm>
          <a:custGeom>
            <a:avLst/>
            <a:gdLst/>
            <a:ahLst/>
            <a:cxnLst/>
            <a:rect l="l" t="t" r="r" b="b"/>
            <a:pathLst>
              <a:path w="92" h="93">
                <a:moveTo>
                  <a:pt x="91" y="44"/>
                </a:moveTo>
                <a:cubicBezTo>
                  <a:pt x="92" y="69"/>
                  <a:pt x="73" y="90"/>
                  <a:pt x="48" y="91"/>
                </a:cubicBezTo>
                <a:cubicBezTo>
                  <a:pt x="23" y="93"/>
                  <a:pt x="2" y="73"/>
                  <a:pt x="1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1" y="44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10301450" y="2772033"/>
            <a:ext cx="346136" cy="346136"/>
          </a:xfrm>
          <a:custGeom>
            <a:avLst/>
            <a:gdLst/>
            <a:ahLst/>
            <a:cxnLst/>
            <a:rect l="l" t="t" r="r" b="b"/>
            <a:pathLst>
              <a:path w="93" h="93">
                <a:moveTo>
                  <a:pt x="92" y="44"/>
                </a:moveTo>
                <a:cubicBezTo>
                  <a:pt x="93" y="69"/>
                  <a:pt x="74" y="90"/>
                  <a:pt x="49" y="91"/>
                </a:cubicBezTo>
                <a:cubicBezTo>
                  <a:pt x="24" y="93"/>
                  <a:pt x="3" y="74"/>
                  <a:pt x="2" y="49"/>
                </a:cubicBezTo>
                <a:cubicBezTo>
                  <a:pt x="0" y="24"/>
                  <a:pt x="19" y="3"/>
                  <a:pt x="44" y="1"/>
                </a:cubicBezTo>
                <a:cubicBezTo>
                  <a:pt x="69" y="0"/>
                  <a:pt x="90" y="19"/>
                  <a:pt x="92" y="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586923" y="1223651"/>
            <a:ext cx="978411" cy="978410"/>
          </a:xfrm>
          <a:prstGeom prst="ellipse">
            <a:avLst/>
          </a:prstGeom>
          <a:solidFill>
            <a:srgbClr val="EFD0E2"/>
          </a:solidFill>
          <a:ln cap="flat" cmpd="sng">
            <a:noFill/>
            <a:prstDash val="solid"/>
          </a:ln>
          <a:effectLst/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34" name="Connector 34"/>
          <p:cNvCxnSpPr/>
          <p:nvPr/>
        </p:nvCxnSpPr>
        <p:spPr>
          <a:xfrm>
            <a:off x="8400854" y="3773427"/>
            <a:ext cx="1142924" cy="414214"/>
          </a:xfrm>
          <a:prstGeom prst="line">
            <a:avLst/>
          </a:prstGeom>
          <a:ln w="57150">
            <a:solidFill>
              <a:schemeClr val="accent1"/>
            </a:solidFill>
          </a:ln>
        </p:spPr>
      </p:cxnSp>
      <p:cxnSp>
        <p:nvCxnSpPr>
          <p:cNvPr id="35" name="Connector 35"/>
          <p:cNvCxnSpPr/>
          <p:nvPr/>
        </p:nvCxnSpPr>
        <p:spPr>
          <a:xfrm flipV="1">
            <a:off x="9559119" y="3903828"/>
            <a:ext cx="1020194" cy="276143"/>
          </a:xfrm>
          <a:prstGeom prst="line">
            <a:avLst/>
          </a:prstGeom>
          <a:ln w="57150">
            <a:solidFill>
              <a:schemeClr val="accent1"/>
            </a:solidFill>
          </a:ln>
        </p:spPr>
      </p:cxnSp>
      <p:sp>
        <p:nvSpPr>
          <p:cNvPr id="36" name="Freeform 36"/>
          <p:cNvSpPr/>
          <p:nvPr/>
        </p:nvSpPr>
        <p:spPr>
          <a:xfrm>
            <a:off x="8720997" y="3283162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5" y="310"/>
                </a:cubicBezTo>
                <a:cubicBezTo>
                  <a:pt x="80" y="314"/>
                  <a:pt x="9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6" y="65"/>
                  <a:pt x="310" y="15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 cmpd="sng">
            <a:noFill/>
            <a:prstDash val="solid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8370011" y="2421283"/>
            <a:ext cx="953029" cy="948413"/>
          </a:xfrm>
          <a:custGeom>
            <a:avLst/>
            <a:gdLst/>
            <a:ahLst/>
            <a:cxnLst/>
            <a:rect l="l" t="t" r="r" b="b"/>
            <a:pathLst>
              <a:path w="256" h="255">
                <a:moveTo>
                  <a:pt x="252" y="121"/>
                </a:moveTo>
                <a:cubicBezTo>
                  <a:pt x="256" y="190"/>
                  <a:pt x="203" y="248"/>
                  <a:pt x="134" y="252"/>
                </a:cubicBezTo>
                <a:cubicBezTo>
                  <a:pt x="65" y="255"/>
                  <a:pt x="7" y="202"/>
                  <a:pt x="4" y="133"/>
                </a:cubicBezTo>
                <a:cubicBezTo>
                  <a:pt x="0" y="65"/>
                  <a:pt x="53" y="6"/>
                  <a:pt x="122" y="3"/>
                </a:cubicBezTo>
                <a:cubicBezTo>
                  <a:pt x="190" y="0"/>
                  <a:pt x="249" y="52"/>
                  <a:pt x="252" y="121"/>
                </a:cubicBezTo>
                <a:close/>
              </a:path>
            </a:pathLst>
          </a:custGeom>
          <a:solidFill>
            <a:srgbClr val="FFC529"/>
          </a:solidFill>
          <a:ln cap="flat" cmpd="sng">
            <a:noFill/>
            <a:prstDash val="solid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8250017" y="1851311"/>
            <a:ext cx="1169940" cy="1169941"/>
          </a:xfrm>
          <a:custGeom>
            <a:avLst/>
            <a:gdLst/>
            <a:ahLst/>
            <a:cxnLst/>
            <a:rect l="l" t="t" r="r" b="b"/>
            <a:pathLst>
              <a:path w="314" h="314">
                <a:moveTo>
                  <a:pt x="310" y="150"/>
                </a:moveTo>
                <a:cubicBezTo>
                  <a:pt x="314" y="234"/>
                  <a:pt x="249" y="306"/>
                  <a:pt x="164" y="310"/>
                </a:cubicBezTo>
                <a:cubicBezTo>
                  <a:pt x="80" y="314"/>
                  <a:pt x="8" y="249"/>
                  <a:pt x="4" y="165"/>
                </a:cubicBezTo>
                <a:cubicBezTo>
                  <a:pt x="0" y="80"/>
                  <a:pt x="65" y="9"/>
                  <a:pt x="149" y="4"/>
                </a:cubicBezTo>
                <a:cubicBezTo>
                  <a:pt x="234" y="0"/>
                  <a:pt x="305" y="65"/>
                  <a:pt x="310" y="150"/>
                </a:cubicBezTo>
                <a:close/>
              </a:path>
            </a:pathLst>
          </a:custGeom>
          <a:solidFill>
            <a:srgbClr val="FFC529"/>
          </a:solidFill>
          <a:ln cap="flat" cmpd="sng">
            <a:noFill/>
            <a:prstDash val="solid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9687635" y="2633579"/>
            <a:ext cx="856111" cy="856111"/>
          </a:xfrm>
          <a:custGeom>
            <a:avLst/>
            <a:gdLst/>
            <a:ahLst/>
            <a:cxnLst/>
            <a:rect l="l" t="t" r="r" b="b"/>
            <a:pathLst>
              <a:path w="230" h="230">
                <a:moveTo>
                  <a:pt x="227" y="109"/>
                </a:moveTo>
                <a:cubicBezTo>
                  <a:pt x="230" y="171"/>
                  <a:pt x="182" y="224"/>
                  <a:pt x="121" y="227"/>
                </a:cubicBezTo>
                <a:cubicBezTo>
                  <a:pt x="59" y="230"/>
                  <a:pt x="6" y="182"/>
                  <a:pt x="3" y="120"/>
                </a:cubicBezTo>
                <a:cubicBezTo>
                  <a:pt x="0" y="59"/>
                  <a:pt x="48" y="6"/>
                  <a:pt x="109" y="3"/>
                </a:cubicBezTo>
                <a:cubicBezTo>
                  <a:pt x="171" y="0"/>
                  <a:pt x="224" y="48"/>
                  <a:pt x="227" y="109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 cap="flat" cmpd="sng">
            <a:noFill/>
            <a:prstDash val="solid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8944598" y="2174371"/>
            <a:ext cx="1220707" cy="1220707"/>
          </a:xfrm>
          <a:custGeom>
            <a:avLst/>
            <a:gdLst/>
            <a:ahLst/>
            <a:cxnLst/>
            <a:rect l="l" t="t" r="r" b="b"/>
            <a:pathLst>
              <a:path w="328" h="328">
                <a:moveTo>
                  <a:pt x="323" y="156"/>
                </a:moveTo>
                <a:cubicBezTo>
                  <a:pt x="328" y="244"/>
                  <a:pt x="260" y="319"/>
                  <a:pt x="172" y="323"/>
                </a:cubicBezTo>
                <a:cubicBezTo>
                  <a:pt x="84" y="328"/>
                  <a:pt x="9" y="260"/>
                  <a:pt x="4" y="172"/>
                </a:cubicBezTo>
                <a:cubicBezTo>
                  <a:pt x="0" y="84"/>
                  <a:pt x="68" y="9"/>
                  <a:pt x="156" y="4"/>
                </a:cubicBezTo>
                <a:cubicBezTo>
                  <a:pt x="244" y="0"/>
                  <a:pt x="319" y="68"/>
                  <a:pt x="323" y="156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>
            <a:noFill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10202224" y="3547377"/>
            <a:ext cx="722271" cy="717656"/>
          </a:xfrm>
          <a:custGeom>
            <a:avLst/>
            <a:gdLst/>
            <a:ahLst/>
            <a:cxnLst/>
            <a:rect l="l" t="t" r="r" b="b"/>
            <a:pathLst>
              <a:path w="194" h="193">
                <a:moveTo>
                  <a:pt x="192" y="93"/>
                </a:moveTo>
                <a:cubicBezTo>
                  <a:pt x="194" y="145"/>
                  <a:pt x="153" y="190"/>
                  <a:pt x="101" y="192"/>
                </a:cubicBezTo>
                <a:cubicBezTo>
                  <a:pt x="84" y="193"/>
                  <a:pt x="69" y="190"/>
                  <a:pt x="55" y="183"/>
                </a:cubicBezTo>
                <a:cubicBezTo>
                  <a:pt x="50" y="181"/>
                  <a:pt x="45" y="178"/>
                  <a:pt x="40" y="174"/>
                </a:cubicBezTo>
                <a:cubicBezTo>
                  <a:pt x="25" y="163"/>
                  <a:pt x="12" y="147"/>
                  <a:pt x="6" y="127"/>
                </a:cubicBezTo>
                <a:cubicBezTo>
                  <a:pt x="4" y="122"/>
                  <a:pt x="2" y="115"/>
                  <a:pt x="1" y="109"/>
                </a:cubicBezTo>
                <a:cubicBezTo>
                  <a:pt x="1" y="106"/>
                  <a:pt x="1" y="104"/>
                  <a:pt x="1" y="101"/>
                </a:cubicBezTo>
                <a:cubicBezTo>
                  <a:pt x="0" y="79"/>
                  <a:pt x="6" y="59"/>
                  <a:pt x="18" y="43"/>
                </a:cubicBezTo>
                <a:cubicBezTo>
                  <a:pt x="26" y="31"/>
                  <a:pt x="36" y="21"/>
                  <a:pt x="48" y="14"/>
                </a:cubicBezTo>
                <a:cubicBezTo>
                  <a:pt x="61" y="6"/>
                  <a:pt x="76" y="2"/>
                  <a:pt x="92" y="1"/>
                </a:cubicBezTo>
                <a:cubicBezTo>
                  <a:pt x="129" y="0"/>
                  <a:pt x="161" y="19"/>
                  <a:pt x="179" y="48"/>
                </a:cubicBezTo>
                <a:cubicBezTo>
                  <a:pt x="179" y="48"/>
                  <a:pt x="179" y="48"/>
                  <a:pt x="179" y="48"/>
                </a:cubicBezTo>
                <a:cubicBezTo>
                  <a:pt x="187" y="61"/>
                  <a:pt x="191" y="76"/>
                  <a:pt x="192" y="93"/>
                </a:cubicBezTo>
                <a:close/>
              </a:path>
            </a:pathLst>
          </a:custGeom>
          <a:solidFill>
            <a:srgbClr val="FFC529"/>
          </a:solidFill>
          <a:ln cap="flat" cmpd="sng">
            <a:noFill/>
            <a:prstDash val="solid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7986955" y="3328158"/>
            <a:ext cx="869955" cy="869956"/>
          </a:xfrm>
          <a:custGeom>
            <a:avLst/>
            <a:gdLst/>
            <a:ahLst/>
            <a:cxnLst/>
            <a:rect l="l" t="t" r="r" b="b"/>
            <a:pathLst>
              <a:path w="234" h="234">
                <a:moveTo>
                  <a:pt x="232" y="112"/>
                </a:moveTo>
                <a:cubicBezTo>
                  <a:pt x="234" y="175"/>
                  <a:pt x="185" y="229"/>
                  <a:pt x="122" y="232"/>
                </a:cubicBezTo>
                <a:cubicBezTo>
                  <a:pt x="59" y="234"/>
                  <a:pt x="6" y="185"/>
                  <a:pt x="3" y="122"/>
                </a:cubicBezTo>
                <a:cubicBezTo>
                  <a:pt x="0" y="59"/>
                  <a:pt x="49" y="6"/>
                  <a:pt x="112" y="3"/>
                </a:cubicBezTo>
                <a:cubicBezTo>
                  <a:pt x="176" y="0"/>
                  <a:pt x="229" y="49"/>
                  <a:pt x="232" y="112"/>
                </a:cubicBezTo>
                <a:close/>
              </a:path>
            </a:pathLst>
          </a:custGeom>
          <a:solidFill>
            <a:schemeClr val="accent2">
              <a:lumMod val="90000"/>
            </a:schemeClr>
          </a:solidFill>
          <a:ln cap="flat" cmpd="sng">
            <a:noFill/>
            <a:prstDash val="solid"/>
          </a:ln>
          <a:effectLst/>
        </p:spPr>
        <p:txBody>
          <a:bodyPr vert="horz" wrap="none" lIns="0" tIns="0" rIns="0" bIns="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人工智能的组成部分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916943" y="4408676"/>
            <a:ext cx="6840611" cy="584775"/>
          </a:xfrm>
        </p:spPr>
        <p:txBody>
          <a:bodyPr vert="horz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人工智能的技术分类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1214" y="3210498"/>
            <a:ext cx="1363168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7200" b="0" i="0" u="none" spc="100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强人工智能与弱人工智能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38311" y="1457409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0000" rIns="91440" bIns="9000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强人工智能的定义</a:t>
            </a:r>
          </a:p>
        </p:txBody>
      </p:sp>
      <p:sp>
        <p:nvSpPr>
          <p:cNvPr id="4" name="AutoShape 4"/>
          <p:cNvSpPr/>
          <p:nvPr/>
        </p:nvSpPr>
        <p:spPr>
          <a:xfrm>
            <a:off x="738312" y="1941785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强人工智能（AGI）指的是一种具有人类水平认知能力的AI，能够理解、学习和应用各种知识，完成任何精神任务。当前还未实现。</a:t>
            </a:r>
          </a:p>
        </p:txBody>
      </p:sp>
      <p:cxnSp>
        <p:nvCxnSpPr>
          <p:cNvPr id="5" name="Connector 5"/>
          <p:cNvCxnSpPr/>
          <p:nvPr/>
        </p:nvCxnSpPr>
        <p:spPr>
          <a:xfrm flipH="1">
            <a:off x="4375765" y="1657611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id="6" name="AutoShape 6"/>
          <p:cNvSpPr/>
          <p:nvPr/>
        </p:nvSpPr>
        <p:spPr>
          <a:xfrm>
            <a:off x="8469634" y="2881279"/>
            <a:ext cx="3127177" cy="4279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0000" rIns="91440" bIns="900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未来发展趋势</a:t>
            </a:r>
          </a:p>
        </p:txBody>
      </p:sp>
      <p:sp>
        <p:nvSpPr>
          <p:cNvPr id="7" name="AutoShape 7"/>
          <p:cNvSpPr/>
          <p:nvPr/>
        </p:nvSpPr>
        <p:spPr>
          <a:xfrm>
            <a:off x="8469635" y="3365655"/>
            <a:ext cx="3127177" cy="179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未来，强人工智能的研发将面临更多伦理和技术挑战，但其潜在应用范围包括更智能的个人助手、自动化行业决策等。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6868589" y="3063274"/>
            <a:ext cx="14260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  <p:sp>
        <p:nvSpPr>
          <p:cNvPr id="9" name="Freeform 9"/>
          <p:cNvSpPr/>
          <p:nvPr/>
        </p:nvSpPr>
        <p:spPr>
          <a:xfrm>
            <a:off x="4375765" y="4867345"/>
            <a:ext cx="3917577" cy="1300634"/>
          </a:xfrm>
          <a:custGeom>
            <a:avLst/>
            <a:gdLst/>
            <a:ahLst/>
            <a:cxnLst/>
            <a:rect l="l" t="t" r="r" b="b"/>
            <a:pathLst>
              <a:path w="3917577" h="1300634">
                <a:moveTo>
                  <a:pt x="828926" y="0"/>
                </a:moveTo>
                <a:lnTo>
                  <a:pt x="3105726" y="0"/>
                </a:lnTo>
                <a:lnTo>
                  <a:pt x="3178250" y="138207"/>
                </a:lnTo>
                <a:cubicBezTo>
                  <a:pt x="3376266" y="503376"/>
                  <a:pt x="3619401" y="892116"/>
                  <a:pt x="3917577" y="1300634"/>
                </a:cubicBezTo>
                <a:lnTo>
                  <a:pt x="34675" y="1300634"/>
                </a:lnTo>
                <a:lnTo>
                  <a:pt x="0" y="1300634"/>
                </a:lnTo>
                <a:lnTo>
                  <a:pt x="0" y="1299061"/>
                </a:lnTo>
                <a:lnTo>
                  <a:pt x="3876" y="1294271"/>
                </a:lnTo>
                <a:cubicBezTo>
                  <a:pt x="47982" y="1239414"/>
                  <a:pt x="368888" y="833652"/>
                  <a:pt x="709309" y="224137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5589616" y="962095"/>
            <a:ext cx="1480320" cy="1301750"/>
            <a:chOff x="5586768" y="1651000"/>
            <a:chExt cx="1480320" cy="1301750"/>
          </a:xfrm>
        </p:grpSpPr>
        <p:sp>
          <p:nvSpPr>
            <p:cNvPr id="11" name="Freeform 11"/>
            <p:cNvSpPr/>
            <p:nvPr/>
          </p:nvSpPr>
          <p:spPr>
            <a:xfrm>
              <a:off x="5586768" y="1651000"/>
              <a:ext cx="1480320" cy="1301750"/>
            </a:xfrm>
            <a:custGeom>
              <a:avLst/>
              <a:gdLst/>
              <a:ahLst/>
              <a:cxnLst/>
              <a:rect l="l" t="t" r="r" b="b"/>
              <a:pathLst>
                <a:path w="1480320" h="1301750">
                  <a:moveTo>
                    <a:pt x="742815" y="0"/>
                  </a:moveTo>
                  <a:lnTo>
                    <a:pt x="744874" y="0"/>
                  </a:lnTo>
                  <a:lnTo>
                    <a:pt x="1480320" y="786943"/>
                  </a:lnTo>
                  <a:lnTo>
                    <a:pt x="1141531" y="786943"/>
                  </a:lnTo>
                  <a:cubicBezTo>
                    <a:pt x="1141531" y="786943"/>
                    <a:pt x="1107729" y="963157"/>
                    <a:pt x="1119490" y="1285240"/>
                  </a:cubicBezTo>
                  <a:lnTo>
                    <a:pt x="1120522" y="1301750"/>
                  </a:lnTo>
                  <a:lnTo>
                    <a:pt x="359642" y="1301750"/>
                  </a:lnTo>
                  <a:lnTo>
                    <a:pt x="361413" y="1227292"/>
                  </a:lnTo>
                  <a:cubicBezTo>
                    <a:pt x="361217" y="1090654"/>
                    <a:pt x="353988" y="953480"/>
                    <a:pt x="338790" y="816305"/>
                  </a:cubicBezTo>
                  <a:lnTo>
                    <a:pt x="0" y="816305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6053847" y="2196708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90000" rIns="91440" bIns="90000" anchor="b">
              <a:spAutoFit/>
            </a:bodyPr>
            <a:lstStyle/>
            <a:p>
              <a:pPr marL="0" algn="ctr"/>
              <a:r>
                <a:rPr lang="en-US" sz="2400" b="1" i="0" u="none" baseline="0">
                  <a:solidFill>
                    <a:schemeClr val="lt1"/>
                  </a:solidFill>
                  <a:latin typeface="Arial"/>
                  <a:ea typeface="Arial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36138" y="2263845"/>
            <a:ext cx="1208676" cy="1301750"/>
            <a:chOff x="5733290" y="2952750"/>
            <a:chExt cx="1208676" cy="1301750"/>
          </a:xfrm>
        </p:grpSpPr>
        <p:sp>
          <p:nvSpPr>
            <p:cNvPr id="14" name="Freeform 14"/>
            <p:cNvSpPr/>
            <p:nvPr/>
          </p:nvSpPr>
          <p:spPr>
            <a:xfrm>
              <a:off x="5733290" y="2952750"/>
              <a:ext cx="1208676" cy="1301750"/>
            </a:xfrm>
            <a:custGeom>
              <a:avLst/>
              <a:gdLst/>
              <a:ahLst/>
              <a:cxnLst/>
              <a:rect l="l" t="t" r="r" b="b"/>
              <a:pathLst>
                <a:path w="1208676" h="1301750">
                  <a:moveTo>
                    <a:pt x="213120" y="0"/>
                  </a:moveTo>
                  <a:lnTo>
                    <a:pt x="974000" y="0"/>
                  </a:lnTo>
                  <a:lnTo>
                    <a:pt x="986126" y="194001"/>
                  </a:lnTo>
                  <a:cubicBezTo>
                    <a:pt x="1006021" y="421530"/>
                    <a:pt x="1048033" y="699388"/>
                    <a:pt x="1129304" y="1021019"/>
                  </a:cubicBezTo>
                  <a:lnTo>
                    <a:pt x="1208676" y="1301750"/>
                  </a:lnTo>
                  <a:lnTo>
                    <a:pt x="0" y="1301750"/>
                  </a:lnTo>
                  <a:lnTo>
                    <a:pt x="52059" y="1126354"/>
                  </a:lnTo>
                  <a:cubicBezTo>
                    <a:pt x="135984" y="804851"/>
                    <a:pt x="193519" y="469953"/>
                    <a:pt x="210027" y="130031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6053847" y="3439476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90000" rIns="91440" bIns="90000" anchor="b">
              <a:spAutoFit/>
            </a:bodyPr>
            <a:lstStyle/>
            <a:p>
              <a:pPr marL="0" algn="ctr"/>
              <a:r>
                <a:rPr lang="en-US" sz="2400" b="1" i="0" u="none" baseline="0">
                  <a:solidFill>
                    <a:schemeClr val="lt1"/>
                  </a:solidFill>
                  <a:latin typeface="Arial"/>
                  <a:ea typeface="Arial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204691" y="3565595"/>
            <a:ext cx="2276800" cy="1301750"/>
            <a:chOff x="5201843" y="4254500"/>
            <a:chExt cx="2276800" cy="1301750"/>
          </a:xfrm>
        </p:grpSpPr>
        <p:sp>
          <p:nvSpPr>
            <p:cNvPr id="17" name="Freeform 17"/>
            <p:cNvSpPr/>
            <p:nvPr/>
          </p:nvSpPr>
          <p:spPr>
            <a:xfrm>
              <a:off x="5201843" y="4254500"/>
              <a:ext cx="2276800" cy="1301750"/>
            </a:xfrm>
            <a:custGeom>
              <a:avLst/>
              <a:gdLst/>
              <a:ahLst/>
              <a:cxnLst/>
              <a:rect l="l" t="t" r="r" b="b"/>
              <a:pathLst>
                <a:path w="2276800" h="1301750">
                  <a:moveTo>
                    <a:pt x="531447" y="0"/>
                  </a:moveTo>
                  <a:lnTo>
                    <a:pt x="1740123" y="0"/>
                  </a:lnTo>
                  <a:lnTo>
                    <a:pt x="1755743" y="55248"/>
                  </a:lnTo>
                  <a:cubicBezTo>
                    <a:pt x="1865092" y="405333"/>
                    <a:pt x="2019413" y="797007"/>
                    <a:pt x="2235850" y="1223714"/>
                  </a:cubicBezTo>
                  <a:lnTo>
                    <a:pt x="2276800" y="1301750"/>
                  </a:lnTo>
                  <a:lnTo>
                    <a:pt x="0" y="1301750"/>
                  </a:lnTo>
                  <a:lnTo>
                    <a:pt x="37949" y="1230641"/>
                  </a:lnTo>
                  <a:cubicBezTo>
                    <a:pt x="195027" y="921999"/>
                    <a:pt x="347831" y="574776"/>
                    <a:pt x="471065" y="203441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 cap="flat">
              <a:noFill/>
              <a:prstDash val="solid"/>
              <a:miter lim="800000"/>
            </a:ln>
          </p:spPr>
          <p:txBody>
            <a:bodyPr vert="horz" wrap="square" lIns="91440" tIns="45720" rIns="91440" bIns="45720" anchor="ctr">
              <a:noAutofit/>
            </a:bodyPr>
            <a:lstStyle/>
            <a:p>
              <a:pPr marL="0" algn="l"/>
              <a:endParaRPr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053847" y="4682243"/>
              <a:ext cx="556986" cy="55109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1440" tIns="90000" rIns="91440" bIns="90000" anchor="b">
              <a:spAutoFit/>
            </a:bodyPr>
            <a:lstStyle/>
            <a:p>
              <a:pPr marL="0" algn="ctr"/>
              <a:r>
                <a:rPr lang="en-US" sz="2400" b="1" i="0" u="none" baseline="0">
                  <a:solidFill>
                    <a:schemeClr val="lt1"/>
                  </a:solidFill>
                  <a:latin typeface="Arial"/>
                  <a:ea typeface="Arial"/>
                </a:rPr>
                <a:t>03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38311" y="3955860"/>
            <a:ext cx="3377074" cy="4279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0000" rIns="91440" bIns="90000" anchor="t">
            <a:spAutoFit/>
          </a:bodyPr>
          <a:lstStyle/>
          <a:p>
            <a:pPr marL="0" algn="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弱人工智能的实际应用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38312" y="4440236"/>
            <a:ext cx="3377074" cy="1795464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r">
              <a:lnSpc>
                <a:spcPct val="150000"/>
              </a:lnSpc>
            </a:pPr>
            <a:r>
              <a:rPr lang="zh-CN" altLang="en-US" sz="1400" b="0" i="0" u="none" baseline="0">
                <a:solidFill>
                  <a:srgbClr val="FFFFFF">
                    <a:alpha val="60000"/>
                  </a:srgbClr>
                </a:solidFill>
                <a:effectLst/>
                <a:latin typeface="微软雅黑"/>
                <a:ea typeface="微软雅黑"/>
              </a:rPr>
              <a:t>弱人工智能（Narrow AI）专注于特定任务，如语音助手、推荐系统和影像识别等，已经在医疗、金融和娱乐等多个领域得到了实用。</a:t>
            </a:r>
          </a:p>
        </p:txBody>
      </p:sp>
      <p:cxnSp>
        <p:nvCxnSpPr>
          <p:cNvPr id="21" name="Connector 21"/>
          <p:cNvCxnSpPr/>
          <p:nvPr/>
        </p:nvCxnSpPr>
        <p:spPr>
          <a:xfrm flipH="1">
            <a:off x="4375765" y="4156062"/>
            <a:ext cx="1121223" cy="0"/>
          </a:xfrm>
          <a:prstGeom prst="line">
            <a:avLst/>
          </a:prstGeom>
          <a:ln w="19050">
            <a:gradFill>
              <a:gsLst>
                <a:gs pos="0">
                  <a:srgbClr val="F0F0F0">
                    <a:alpha val="0"/>
                  </a:srgbClr>
                </a:gs>
                <a:gs pos="100000">
                  <a:srgbClr val="778495"/>
                </a:gs>
              </a:gsLst>
              <a:lin ang="2700000"/>
            </a:gradFill>
            <a:tailEnd type="oval"/>
          </a:ln>
        </p:spPr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机器学习与深度学习</a:t>
            </a:r>
          </a:p>
        </p:txBody>
      </p:sp>
      <p:sp>
        <p:nvSpPr>
          <p:cNvPr id="3" name="AutoShape 3"/>
          <p:cNvSpPr/>
          <p:nvPr/>
        </p:nvSpPr>
        <p:spPr>
          <a:xfrm>
            <a:off x="1512041" y="4611702"/>
            <a:ext cx="1497888" cy="1497888"/>
          </a:xfrm>
          <a:prstGeom prst="ellipse">
            <a:avLst/>
          </a:prstGeom>
          <a:blipFill>
            <a:blip r:embed="rId3"/>
            <a:srcRect/>
            <a:stretch>
              <a:fillRect l="-39164" r="-39164"/>
            </a:stretch>
          </a:blipFill>
          <a:ln w="38100">
            <a:solidFill>
              <a:srgbClr val="2F2F2F"/>
            </a:solidFill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525497" y="1140225"/>
            <a:ext cx="1497888" cy="1497888"/>
          </a:xfrm>
          <a:prstGeom prst="ellipse">
            <a:avLst/>
          </a:prstGeom>
          <a:blipFill>
            <a:blip r:embed="rId4"/>
            <a:srcRect/>
            <a:stretch>
              <a:fillRect l="-25000" r="-25000"/>
            </a:stretch>
          </a:blipFill>
          <a:ln w="38100">
            <a:solidFill>
              <a:srgbClr val="2F2F2F"/>
            </a:solidFill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080997" y="4652952"/>
            <a:ext cx="1497888" cy="1497888"/>
          </a:xfrm>
          <a:prstGeom prst="ellipse">
            <a:avLst/>
          </a:prstGeom>
          <a:blipFill>
            <a:blip r:embed="rId5"/>
            <a:srcRect/>
            <a:stretch>
              <a:fillRect l="-25000" r="-25000"/>
            </a:stretch>
          </a:blipFill>
          <a:ln w="38100">
            <a:solidFill>
              <a:srgbClr val="2F2F2F"/>
            </a:solidFill>
          </a:ln>
          <a:effectLst/>
        </p:spPr>
        <p:txBody>
          <a:bodyPr rot="0" vert="horz" wrap="square" lIns="91440" tIns="45720" rIns="91440" bIns="45720" anchor="ctr">
            <a:prstTxWarp prst="textNoShape">
              <a:avLst/>
            </a:prstTxWarp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82054" y="3392396"/>
            <a:ext cx="3510545" cy="9601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机器学习是人工智能的核心，依靠算法从数据中提取规律，常见方法包括监督学习、非监督学习和强化学习等，广泛应用于分类和预测等任务。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82055" y="2749639"/>
            <a:ext cx="3510545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机器学习的概念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19168" y="3392506"/>
            <a:ext cx="3510545" cy="9601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深度学习是机器学习的一个分支，基于神经网络模型，利用多个隐层进行特征提取和模式识别。其在图像处理和自然语言处理等领域取得了显著成果。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19169" y="2749749"/>
            <a:ext cx="3510545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深度学习的原理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11508" y="3392396"/>
            <a:ext cx="3510545" cy="6705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在医疗领域，深度学习被用作疾病诊断工具、图像分析和药物发现等。在自动驾驶技术中，深度学习用于环境感知和导航决策。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311508" y="2749639"/>
            <a:ext cx="3510545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ctr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应用案例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916943" y="4408676"/>
            <a:ext cx="6840611" cy="584775"/>
          </a:xfrm>
        </p:spPr>
        <p:txBody>
          <a:bodyPr vert="horz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自然语言处理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1214" y="3210498"/>
            <a:ext cx="1363168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7200" b="0" i="0" u="none" spc="100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自然语言处理概述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flipH="1">
            <a:off x="1750469" y="3936018"/>
            <a:ext cx="10438357" cy="0"/>
          </a:xfrm>
          <a:prstGeom prst="line">
            <a:avLst/>
          </a:prstGeom>
          <a:ln w="19050">
            <a:solidFill>
              <a:srgbClr val="F0F0F0">
                <a:alpha val="50000"/>
              </a:srgbClr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1447782" y="3562210"/>
            <a:ext cx="725312" cy="725312"/>
          </a:xfrm>
          <a:prstGeom prst="ellipse">
            <a:avLst/>
          </a:prstGeom>
          <a:solidFill>
            <a:srgbClr val="778495"/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60400" y="2005182"/>
            <a:ext cx="4114800" cy="65710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自然语言处理（NLP）旨在使计算机能够理解、生成和处理人类语言。通过语法分析和语义理解，推动自动翻译和信息提取等技术的发展。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60400" y="1402507"/>
            <a:ext cx="4114800" cy="338554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vert="horz" wrap="square" lIns="91440" tIns="45720" rIns="91440" bIns="45720" rtlCol="0" anchor="t">
            <a:spAutoFit/>
            <a:sp3d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语言理解与生成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1596365" y="3710793"/>
            <a:ext cx="428145" cy="428145"/>
          </a:xfrm>
          <a:custGeom>
            <a:avLst/>
            <a:gdLst/>
            <a:ahLst/>
            <a:cxnLst/>
            <a:rect l="l" t="t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3340101" y="5049328"/>
            <a:ext cx="5410200" cy="3810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机器翻译技术已经从规则基础设计发展到数据驱动的模型，应用如谷歌翻译，利用大规模双语数据进行模型训练，实现流畅的文本翻译。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3340101" y="4446653"/>
            <a:ext cx="5410200" cy="338554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vert="horz" wrap="square" lIns="91440" tIns="45720" rIns="91440" bIns="45720" rtlCol="0" anchor="t">
            <a:spAutoFit/>
            <a:sp3d/>
          </a:bodyPr>
          <a:lstStyle/>
          <a:p>
            <a:pPr marL="0" algn="ct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机器翻译技术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749373" y="3562210"/>
            <a:ext cx="725312" cy="7253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897957" y="3710792"/>
            <a:ext cx="428145" cy="428145"/>
          </a:xfrm>
          <a:custGeom>
            <a:avLst/>
            <a:gdLst/>
            <a:ahLst/>
            <a:cxnLst/>
            <a:rect l="l" t="t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018905" y="3562210"/>
            <a:ext cx="725312" cy="725312"/>
          </a:xfrm>
          <a:prstGeom prst="ellipse">
            <a:avLst/>
          </a:prstGeom>
          <a:solidFill>
            <a:srgbClr val="778495"/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7227993" y="2005182"/>
            <a:ext cx="4303607" cy="65710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pPr marL="0" indent="0" algn="r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聊天机器人利用自然语言理解技术与用户进行互动，广泛应用于客户服务、在线咨询以及社交平台，为用户提供即时帮助。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227993" y="1402507"/>
            <a:ext cx="4303607" cy="338554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vert="horz" wrap="square" lIns="91440" tIns="45720" rIns="91440" bIns="45720" rtlCol="0" anchor="t">
            <a:spAutoFit/>
            <a:sp3d/>
          </a:bodyPr>
          <a:lstStyle/>
          <a:p>
            <a:pPr marL="0" algn="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聊天机器人技术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10149034" y="3692339"/>
            <a:ext cx="465054" cy="465054"/>
          </a:xfrm>
          <a:custGeom>
            <a:avLst/>
            <a:gdLst/>
            <a:ahLst/>
            <a:cxnLst/>
            <a:rect l="l" t="t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4" y="56"/>
                </a:moveTo>
                <a:cubicBezTo>
                  <a:pt x="129" y="50"/>
                  <a:pt x="137" y="46"/>
                  <a:pt x="144" y="46"/>
                </a:cubicBezTo>
                <a:cubicBezTo>
                  <a:pt x="144" y="54"/>
                  <a:pt x="141" y="62"/>
                  <a:pt x="137" y="67"/>
                </a:cubicBezTo>
                <a:cubicBezTo>
                  <a:pt x="132" y="73"/>
                  <a:pt x="124" y="78"/>
                  <a:pt x="117" y="77"/>
                </a:cubicBezTo>
                <a:cubicBezTo>
                  <a:pt x="115" y="69"/>
                  <a:pt x="119" y="61"/>
                  <a:pt x="124" y="56"/>
                </a:cubicBezTo>
                <a:close/>
                <a:moveTo>
                  <a:pt x="162" y="164"/>
                </a:moveTo>
                <a:cubicBezTo>
                  <a:pt x="157" y="172"/>
                  <a:pt x="151" y="180"/>
                  <a:pt x="142" y="181"/>
                </a:cubicBezTo>
                <a:cubicBezTo>
                  <a:pt x="133" y="181"/>
                  <a:pt x="130" y="175"/>
                  <a:pt x="119" y="175"/>
                </a:cubicBezTo>
                <a:cubicBezTo>
                  <a:pt x="109" y="175"/>
                  <a:pt x="106" y="180"/>
                  <a:pt x="97" y="181"/>
                </a:cubicBezTo>
                <a:cubicBezTo>
                  <a:pt x="88" y="181"/>
                  <a:pt x="82" y="172"/>
                  <a:pt x="76" y="164"/>
                </a:cubicBezTo>
                <a:cubicBezTo>
                  <a:pt x="64" y="147"/>
                  <a:pt x="55" y="116"/>
                  <a:pt x="67" y="96"/>
                </a:cubicBezTo>
                <a:cubicBezTo>
                  <a:pt x="73" y="85"/>
                  <a:pt x="84" y="79"/>
                  <a:pt x="95" y="79"/>
                </a:cubicBezTo>
                <a:cubicBezTo>
                  <a:pt x="104" y="79"/>
                  <a:pt x="112" y="85"/>
                  <a:pt x="118" y="85"/>
                </a:cubicBezTo>
                <a:cubicBezTo>
                  <a:pt x="123" y="85"/>
                  <a:pt x="133" y="77"/>
                  <a:pt x="143" y="79"/>
                </a:cubicBezTo>
                <a:cubicBezTo>
                  <a:pt x="148" y="79"/>
                  <a:pt x="160" y="80"/>
                  <a:pt x="168" y="92"/>
                </a:cubicBezTo>
                <a:cubicBezTo>
                  <a:pt x="167" y="92"/>
                  <a:pt x="153" y="100"/>
                  <a:pt x="154" y="118"/>
                </a:cubicBezTo>
                <a:cubicBezTo>
                  <a:pt x="154" y="138"/>
                  <a:pt x="171" y="145"/>
                  <a:pt x="172" y="145"/>
                </a:cubicBezTo>
                <a:cubicBezTo>
                  <a:pt x="171" y="145"/>
                  <a:pt x="169" y="155"/>
                  <a:pt x="162" y="164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9998" y="3173051"/>
            <a:ext cx="3072220" cy="9601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客服助手利用NLP技术自动处理用户查询和反馈，减少人工干预，提高服务效率和用户满意度，广泛用于电商、金融等行业。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69998" y="2530294"/>
            <a:ext cx="3072219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客服助手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05166" y="1761253"/>
            <a:ext cx="496435" cy="496435"/>
            <a:chOff x="1631504" y="4324694"/>
            <a:chExt cx="432048" cy="432048"/>
          </a:xfrm>
        </p:grpSpPr>
        <p:sp>
          <p:nvSpPr>
            <p:cNvPr id="5" name="AutoShape 5"/>
            <p:cNvSpPr/>
            <p:nvPr/>
          </p:nvSpPr>
          <p:spPr>
            <a:xfrm>
              <a:off x="1631504" y="4324694"/>
              <a:ext cx="432048" cy="432048"/>
            </a:xfrm>
            <a:prstGeom prst="roundRect">
              <a:avLst>
                <a:gd name="adj" fmla="val 1413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730527" y="4423717"/>
              <a:ext cx="234003" cy="234003"/>
            </a:xfrm>
            <a:custGeom>
              <a:avLst/>
              <a:gdLst/>
              <a:ahLst/>
              <a:cxnLst/>
              <a:rect l="l" t="t" r="r" b="b"/>
              <a:pathLst>
                <a:path w="338138" h="338138">
                  <a:moveTo>
                    <a:pt x="221853" y="169862"/>
                  </a:moveTo>
                  <a:cubicBezTo>
                    <a:pt x="221853" y="169862"/>
                    <a:pt x="221853" y="169862"/>
                    <a:pt x="243284" y="169862"/>
                  </a:cubicBezTo>
                  <a:cubicBezTo>
                    <a:pt x="248642" y="169862"/>
                    <a:pt x="254000" y="175121"/>
                    <a:pt x="254000" y="180379"/>
                  </a:cubicBezTo>
                  <a:cubicBezTo>
                    <a:pt x="254000" y="180379"/>
                    <a:pt x="254000" y="180379"/>
                    <a:pt x="254000" y="243483"/>
                  </a:cubicBezTo>
                  <a:cubicBezTo>
                    <a:pt x="254000" y="248742"/>
                    <a:pt x="248642" y="254000"/>
                    <a:pt x="243284" y="254000"/>
                  </a:cubicBezTo>
                  <a:cubicBezTo>
                    <a:pt x="243284" y="254000"/>
                    <a:pt x="243284" y="254000"/>
                    <a:pt x="221853" y="254000"/>
                  </a:cubicBezTo>
                  <a:cubicBezTo>
                    <a:pt x="216495" y="254000"/>
                    <a:pt x="211137" y="248742"/>
                    <a:pt x="211137" y="243483"/>
                  </a:cubicBezTo>
                  <a:cubicBezTo>
                    <a:pt x="211137" y="243483"/>
                    <a:pt x="211137" y="243483"/>
                    <a:pt x="211137" y="180379"/>
                  </a:cubicBezTo>
                  <a:cubicBezTo>
                    <a:pt x="211137" y="175121"/>
                    <a:pt x="216495" y="169862"/>
                    <a:pt x="221853" y="169862"/>
                  </a:cubicBezTo>
                  <a:close/>
                  <a:moveTo>
                    <a:pt x="94853" y="127000"/>
                  </a:moveTo>
                  <a:cubicBezTo>
                    <a:pt x="94853" y="127000"/>
                    <a:pt x="94853" y="127000"/>
                    <a:pt x="116284" y="127000"/>
                  </a:cubicBezTo>
                  <a:cubicBezTo>
                    <a:pt x="121642" y="127000"/>
                    <a:pt x="127000" y="132292"/>
                    <a:pt x="127000" y="137583"/>
                  </a:cubicBezTo>
                  <a:cubicBezTo>
                    <a:pt x="127000" y="137583"/>
                    <a:pt x="127000" y="137583"/>
                    <a:pt x="127000" y="243417"/>
                  </a:cubicBezTo>
                  <a:cubicBezTo>
                    <a:pt x="127000" y="248708"/>
                    <a:pt x="121642" y="254000"/>
                    <a:pt x="116284" y="254000"/>
                  </a:cubicBezTo>
                  <a:cubicBezTo>
                    <a:pt x="116284" y="254000"/>
                    <a:pt x="116284" y="254000"/>
                    <a:pt x="94853" y="254000"/>
                  </a:cubicBezTo>
                  <a:cubicBezTo>
                    <a:pt x="89495" y="254000"/>
                    <a:pt x="84137" y="248708"/>
                    <a:pt x="84137" y="243417"/>
                  </a:cubicBezTo>
                  <a:cubicBezTo>
                    <a:pt x="84137" y="243417"/>
                    <a:pt x="84137" y="243417"/>
                    <a:pt x="84137" y="137583"/>
                  </a:cubicBezTo>
                  <a:cubicBezTo>
                    <a:pt x="84137" y="132292"/>
                    <a:pt x="89495" y="127000"/>
                    <a:pt x="94853" y="127000"/>
                  </a:cubicBezTo>
                  <a:close/>
                  <a:moveTo>
                    <a:pt x="285353" y="85725"/>
                  </a:moveTo>
                  <a:cubicBezTo>
                    <a:pt x="285353" y="85725"/>
                    <a:pt x="285353" y="85725"/>
                    <a:pt x="306784" y="85725"/>
                  </a:cubicBezTo>
                  <a:cubicBezTo>
                    <a:pt x="312142" y="85725"/>
                    <a:pt x="317500" y="90984"/>
                    <a:pt x="317500" y="96242"/>
                  </a:cubicBezTo>
                  <a:cubicBezTo>
                    <a:pt x="317500" y="96242"/>
                    <a:pt x="317500" y="96242"/>
                    <a:pt x="317500" y="243483"/>
                  </a:cubicBezTo>
                  <a:cubicBezTo>
                    <a:pt x="317500" y="248742"/>
                    <a:pt x="312142" y="254000"/>
                    <a:pt x="306784" y="254000"/>
                  </a:cubicBezTo>
                  <a:cubicBezTo>
                    <a:pt x="306784" y="254000"/>
                    <a:pt x="306784" y="254000"/>
                    <a:pt x="285353" y="254000"/>
                  </a:cubicBezTo>
                  <a:cubicBezTo>
                    <a:pt x="279995" y="254000"/>
                    <a:pt x="274637" y="248742"/>
                    <a:pt x="274637" y="243483"/>
                  </a:cubicBezTo>
                  <a:cubicBezTo>
                    <a:pt x="274637" y="243483"/>
                    <a:pt x="274637" y="243483"/>
                    <a:pt x="274637" y="96242"/>
                  </a:cubicBezTo>
                  <a:cubicBezTo>
                    <a:pt x="274637" y="90984"/>
                    <a:pt x="279995" y="85725"/>
                    <a:pt x="285353" y="85725"/>
                  </a:cubicBezTo>
                  <a:close/>
                  <a:moveTo>
                    <a:pt x="158353" y="42862"/>
                  </a:moveTo>
                  <a:cubicBezTo>
                    <a:pt x="158353" y="42862"/>
                    <a:pt x="158353" y="42862"/>
                    <a:pt x="179784" y="42862"/>
                  </a:cubicBezTo>
                  <a:cubicBezTo>
                    <a:pt x="185142" y="42862"/>
                    <a:pt x="190500" y="48140"/>
                    <a:pt x="190500" y="53419"/>
                  </a:cubicBezTo>
                  <a:cubicBezTo>
                    <a:pt x="190500" y="53419"/>
                    <a:pt x="190500" y="53419"/>
                    <a:pt x="190500" y="243443"/>
                  </a:cubicBezTo>
                  <a:cubicBezTo>
                    <a:pt x="190500" y="248722"/>
                    <a:pt x="185142" y="254000"/>
                    <a:pt x="179784" y="254000"/>
                  </a:cubicBezTo>
                  <a:cubicBezTo>
                    <a:pt x="179784" y="254000"/>
                    <a:pt x="179784" y="254000"/>
                    <a:pt x="158353" y="254000"/>
                  </a:cubicBezTo>
                  <a:cubicBezTo>
                    <a:pt x="152995" y="254000"/>
                    <a:pt x="147637" y="248722"/>
                    <a:pt x="147637" y="243443"/>
                  </a:cubicBezTo>
                  <a:cubicBezTo>
                    <a:pt x="147637" y="243443"/>
                    <a:pt x="147637" y="243443"/>
                    <a:pt x="147637" y="53419"/>
                  </a:cubicBezTo>
                  <a:cubicBezTo>
                    <a:pt x="147637" y="48140"/>
                    <a:pt x="152995" y="42862"/>
                    <a:pt x="158353" y="42862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42267" y="0"/>
                  </a:cubicBezTo>
                  <a:cubicBezTo>
                    <a:pt x="42267" y="0"/>
                    <a:pt x="42267" y="0"/>
                    <a:pt x="42267" y="295871"/>
                  </a:cubicBezTo>
                  <a:lnTo>
                    <a:pt x="338138" y="295871"/>
                  </a:lnTo>
                  <a:cubicBezTo>
                    <a:pt x="338138" y="295871"/>
                    <a:pt x="338138" y="295871"/>
                    <a:pt x="338138" y="338138"/>
                  </a:cubicBezTo>
                  <a:cubicBezTo>
                    <a:pt x="338138" y="338138"/>
                    <a:pt x="338138" y="338138"/>
                    <a:pt x="21133" y="338138"/>
                  </a:cubicBezTo>
                  <a:cubicBezTo>
                    <a:pt x="9246" y="338138"/>
                    <a:pt x="0" y="328892"/>
                    <a:pt x="0" y="317005"/>
                  </a:cubicBezTo>
                  <a:cubicBezTo>
                    <a:pt x="0" y="317005"/>
                    <a:pt x="0" y="31700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715381" y="1785120"/>
            <a:ext cx="524800" cy="469232"/>
          </a:xfrm>
          <a:prstGeom prst="rect">
            <a:avLst/>
          </a:prstGeom>
        </p:spPr>
        <p:txBody>
          <a:bodyPr vert="horz" wrap="none" lIns="90000" tIns="46800" rIns="90000" bIns="46800" anchor="t">
            <a:spAutoFit/>
          </a:bodyPr>
          <a:lstStyle/>
          <a:p>
            <a:pPr marL="0" algn="l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481401" y="1761253"/>
            <a:ext cx="496435" cy="496435"/>
            <a:chOff x="2581164" y="3432222"/>
            <a:chExt cx="371561" cy="371561"/>
          </a:xfrm>
        </p:grpSpPr>
        <p:sp>
          <p:nvSpPr>
            <p:cNvPr id="9" name="AutoShape 9"/>
            <p:cNvSpPr/>
            <p:nvPr/>
          </p:nvSpPr>
          <p:spPr>
            <a:xfrm>
              <a:off x="2581164" y="3432222"/>
              <a:ext cx="371561" cy="371561"/>
            </a:xfrm>
            <a:prstGeom prst="roundRect">
              <a:avLst>
                <a:gd name="adj" fmla="val 1413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666324" y="3522041"/>
              <a:ext cx="201242" cy="191923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90570" y="1761253"/>
            <a:ext cx="496435" cy="496435"/>
            <a:chOff x="8290570" y="1912862"/>
            <a:chExt cx="496435" cy="496435"/>
          </a:xfrm>
        </p:grpSpPr>
        <p:sp>
          <p:nvSpPr>
            <p:cNvPr id="12" name="AutoShape 12"/>
            <p:cNvSpPr/>
            <p:nvPr/>
          </p:nvSpPr>
          <p:spPr>
            <a:xfrm>
              <a:off x="8290570" y="1912862"/>
              <a:ext cx="496435" cy="496435"/>
            </a:xfrm>
            <a:prstGeom prst="roundRect">
              <a:avLst>
                <a:gd name="adj" fmla="val 1413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8462449" y="2026643"/>
              <a:ext cx="152679" cy="268875"/>
            </a:xfrm>
            <a:custGeom>
              <a:avLst/>
              <a:gdLst/>
              <a:ahLst/>
              <a:cxnLst/>
              <a:rect l="l" t="t" r="r" b="b"/>
              <a:pathLst>
                <a:path w="123" h="216">
                  <a:moveTo>
                    <a:pt x="36" y="18"/>
                  </a:moveTo>
                  <a:lnTo>
                    <a:pt x="56" y="18"/>
                  </a:lnTo>
                  <a:lnTo>
                    <a:pt x="56" y="33"/>
                  </a:lnTo>
                  <a:lnTo>
                    <a:pt x="36" y="33"/>
                  </a:lnTo>
                  <a:lnTo>
                    <a:pt x="36" y="18"/>
                  </a:lnTo>
                  <a:close/>
                  <a:moveTo>
                    <a:pt x="66" y="33"/>
                  </a:moveTo>
                  <a:lnTo>
                    <a:pt x="86" y="33"/>
                  </a:lnTo>
                  <a:lnTo>
                    <a:pt x="86" y="18"/>
                  </a:lnTo>
                  <a:lnTo>
                    <a:pt x="66" y="18"/>
                  </a:lnTo>
                  <a:lnTo>
                    <a:pt x="66" y="33"/>
                  </a:lnTo>
                  <a:close/>
                  <a:moveTo>
                    <a:pt x="103" y="62"/>
                  </a:moveTo>
                  <a:lnTo>
                    <a:pt x="123" y="62"/>
                  </a:lnTo>
                  <a:lnTo>
                    <a:pt x="123" y="149"/>
                  </a:lnTo>
                  <a:lnTo>
                    <a:pt x="123" y="149"/>
                  </a:lnTo>
                  <a:cubicBezTo>
                    <a:pt x="123" y="151"/>
                    <a:pt x="123" y="152"/>
                    <a:pt x="123" y="154"/>
                  </a:cubicBezTo>
                  <a:cubicBezTo>
                    <a:pt x="123" y="194"/>
                    <a:pt x="96" y="217"/>
                    <a:pt x="62" y="217"/>
                  </a:cubicBezTo>
                  <a:cubicBezTo>
                    <a:pt x="28" y="217"/>
                    <a:pt x="0" y="194"/>
                    <a:pt x="0" y="154"/>
                  </a:cubicBezTo>
                  <a:cubicBezTo>
                    <a:pt x="0" y="152"/>
                    <a:pt x="0" y="151"/>
                    <a:pt x="0" y="149"/>
                  </a:cubicBezTo>
                  <a:lnTo>
                    <a:pt x="0" y="149"/>
                  </a:lnTo>
                  <a:lnTo>
                    <a:pt x="0" y="62"/>
                  </a:lnTo>
                  <a:lnTo>
                    <a:pt x="20" y="62"/>
                  </a:lnTo>
                  <a:lnTo>
                    <a:pt x="20" y="0"/>
                  </a:lnTo>
                  <a:lnTo>
                    <a:pt x="103" y="0"/>
                  </a:lnTo>
                  <a:lnTo>
                    <a:pt x="103" y="62"/>
                  </a:lnTo>
                  <a:close/>
                  <a:moveTo>
                    <a:pt x="30" y="62"/>
                  </a:moveTo>
                  <a:lnTo>
                    <a:pt x="93" y="62"/>
                  </a:lnTo>
                  <a:lnTo>
                    <a:pt x="93" y="10"/>
                  </a:lnTo>
                  <a:lnTo>
                    <a:pt x="30" y="10"/>
                  </a:lnTo>
                  <a:lnTo>
                    <a:pt x="30" y="62"/>
                  </a:lnTo>
                  <a:close/>
                  <a:moveTo>
                    <a:pt x="76" y="137"/>
                  </a:moveTo>
                  <a:lnTo>
                    <a:pt x="98" y="115"/>
                  </a:lnTo>
                  <a:cubicBezTo>
                    <a:pt x="100" y="113"/>
                    <a:pt x="100" y="111"/>
                    <a:pt x="98" y="109"/>
                  </a:cubicBezTo>
                  <a:lnTo>
                    <a:pt x="91" y="102"/>
                  </a:lnTo>
                  <a:cubicBezTo>
                    <a:pt x="89" y="100"/>
                    <a:pt x="87" y="100"/>
                    <a:pt x="85" y="102"/>
                  </a:cubicBezTo>
                  <a:lnTo>
                    <a:pt x="63" y="124"/>
                  </a:lnTo>
                  <a:lnTo>
                    <a:pt x="42" y="102"/>
                  </a:lnTo>
                  <a:cubicBezTo>
                    <a:pt x="40" y="100"/>
                    <a:pt x="38" y="100"/>
                    <a:pt x="36" y="102"/>
                  </a:cubicBezTo>
                  <a:lnTo>
                    <a:pt x="29" y="109"/>
                  </a:lnTo>
                  <a:cubicBezTo>
                    <a:pt x="27" y="111"/>
                    <a:pt x="27" y="113"/>
                    <a:pt x="29" y="115"/>
                  </a:cubicBezTo>
                  <a:lnTo>
                    <a:pt x="50" y="137"/>
                  </a:lnTo>
                  <a:lnTo>
                    <a:pt x="29" y="158"/>
                  </a:lnTo>
                  <a:cubicBezTo>
                    <a:pt x="27" y="160"/>
                    <a:pt x="27" y="162"/>
                    <a:pt x="29" y="164"/>
                  </a:cubicBezTo>
                  <a:lnTo>
                    <a:pt x="36" y="171"/>
                  </a:lnTo>
                  <a:cubicBezTo>
                    <a:pt x="38" y="173"/>
                    <a:pt x="40" y="173"/>
                    <a:pt x="42" y="171"/>
                  </a:cubicBezTo>
                  <a:lnTo>
                    <a:pt x="63" y="150"/>
                  </a:lnTo>
                  <a:lnTo>
                    <a:pt x="85" y="171"/>
                  </a:lnTo>
                  <a:cubicBezTo>
                    <a:pt x="87" y="173"/>
                    <a:pt x="89" y="173"/>
                    <a:pt x="91" y="171"/>
                  </a:cubicBezTo>
                  <a:lnTo>
                    <a:pt x="98" y="164"/>
                  </a:lnTo>
                  <a:cubicBezTo>
                    <a:pt x="100" y="162"/>
                    <a:pt x="100" y="160"/>
                    <a:pt x="98" y="158"/>
                  </a:cubicBezTo>
                  <a:lnTo>
                    <a:pt x="76" y="1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cxnSp>
        <p:nvCxnSpPr>
          <p:cNvPr id="14" name="Connector 14"/>
          <p:cNvCxnSpPr/>
          <p:nvPr/>
        </p:nvCxnSpPr>
        <p:spPr>
          <a:xfrm>
            <a:off x="7857636" y="1788105"/>
            <a:ext cx="0" cy="2966775"/>
          </a:xfrm>
          <a:prstGeom prst="line">
            <a:avLst/>
          </a:prstGeom>
          <a:ln w="9525" cap="rnd">
            <a:solidFill>
              <a:srgbClr val="FFFFFF"/>
            </a:solidFill>
          </a:ln>
        </p:spPr>
      </p:cxnSp>
      <p:cxnSp>
        <p:nvCxnSpPr>
          <p:cNvPr id="15" name="Connector 15"/>
          <p:cNvCxnSpPr/>
          <p:nvPr/>
        </p:nvCxnSpPr>
        <p:spPr>
          <a:xfrm>
            <a:off x="4220343" y="1788105"/>
            <a:ext cx="0" cy="2974726"/>
          </a:xfrm>
          <a:prstGeom prst="line">
            <a:avLst/>
          </a:prstGeom>
          <a:ln w="9525" cap="rnd">
            <a:solidFill>
              <a:srgbClr val="FFFFFF"/>
            </a:solidFill>
          </a:ln>
        </p:spPr>
      </p:cxnSp>
      <p:sp>
        <p:nvSpPr>
          <p:cNvPr id="16" name="AutoShape 16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自然语言处理应用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238893" y="1785120"/>
            <a:ext cx="524800" cy="469232"/>
          </a:xfrm>
          <a:prstGeom prst="rect">
            <a:avLst/>
          </a:prstGeom>
        </p:spPr>
        <p:txBody>
          <a:bodyPr vert="horz" wrap="none" lIns="90000" tIns="46800" rIns="90000" bIns="46800" anchor="t">
            <a:spAutoFit/>
          </a:bodyPr>
          <a:lstStyle/>
          <a:p>
            <a:pPr marL="0" algn="l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876185" y="1785120"/>
            <a:ext cx="524800" cy="469232"/>
          </a:xfrm>
          <a:prstGeom prst="rect">
            <a:avLst/>
          </a:prstGeom>
        </p:spPr>
        <p:txBody>
          <a:bodyPr vert="horz" wrap="none" lIns="90000" tIns="46800" rIns="90000" bIns="46800" anchor="t">
            <a:spAutoFit/>
          </a:bodyPr>
          <a:lstStyle/>
          <a:p>
            <a:pPr marL="0" algn="l">
              <a:lnSpc>
                <a:spcPct val="110000"/>
              </a:lnSpc>
            </a:pPr>
            <a:r>
              <a:rPr lang="en-US" sz="2400" b="1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24753" y="3205844"/>
            <a:ext cx="3072220" cy="9601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涉及NLP的信息检索系统能够从大量数据中提取相关信息，提升用户搜索结果的精准度，使得用户获取信息的过程更加高效。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24753" y="2563087"/>
            <a:ext cx="3072219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信息检索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7289" y="3205844"/>
            <a:ext cx="3072220" cy="6705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lnSpc>
                <a:spcPct val="12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情感分析技术帮助企业理解消费者情绪，通过分析评论和社交媒体数据，为产品改善和市场策略提供数据支持。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47289" y="2563087"/>
            <a:ext cx="3072219" cy="340735"/>
          </a:xfrm>
          <a:prstGeom prst="rect">
            <a:avLst/>
          </a:prstGeom>
        </p:spPr>
        <p:txBody>
          <a:bodyPr vert="horz" wrap="square" lIns="90000" tIns="46800" rIns="90000" bIns="46800" anchor="t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情感分析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916943" y="4408676"/>
            <a:ext cx="6840611" cy="584775"/>
          </a:xfrm>
        </p:spPr>
        <p:txBody>
          <a:bodyPr vert="horz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计算机视觉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1214" y="3210498"/>
            <a:ext cx="1363168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7200" b="0" i="0" u="none" spc="100" baseline="0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51206" y="4758291"/>
            <a:ext cx="1067982" cy="1066841"/>
          </a:xfrm>
          <a:custGeom>
            <a:avLst/>
            <a:gdLst/>
            <a:ahLst/>
            <a:cxnLst/>
            <a:rect l="l" t="t" r="r" b="b"/>
            <a:pathLst>
              <a:path w="394" h="394">
                <a:moveTo>
                  <a:pt x="0" y="394"/>
                </a:moveTo>
                <a:cubicBezTo>
                  <a:pt x="0" y="176"/>
                  <a:pt x="177" y="0"/>
                  <a:pt x="394" y="0"/>
                </a:cubicBezTo>
                <a:cubicBezTo>
                  <a:pt x="394" y="394"/>
                  <a:pt x="394" y="394"/>
                  <a:pt x="394" y="394"/>
                </a:cubicBezTo>
                <a:lnTo>
                  <a:pt x="0" y="3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8935571" y="4758291"/>
            <a:ext cx="1067982" cy="1066841"/>
          </a:xfrm>
          <a:custGeom>
            <a:avLst/>
            <a:gdLst/>
            <a:ahLst/>
            <a:cxnLst/>
            <a:rect l="l" t="t" r="r" b="b"/>
            <a:pathLst>
              <a:path w="394" h="394">
                <a:moveTo>
                  <a:pt x="394" y="0"/>
                </a:moveTo>
                <a:cubicBezTo>
                  <a:pt x="394" y="218"/>
                  <a:pt x="218" y="394"/>
                  <a:pt x="0" y="394"/>
                </a:cubicBezTo>
                <a:cubicBezTo>
                  <a:pt x="0" y="0"/>
                  <a:pt x="0" y="0"/>
                  <a:pt x="0" y="0"/>
                </a:cubicBezTo>
                <a:lnTo>
                  <a:pt x="394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8935571" y="3343445"/>
            <a:ext cx="1067982" cy="1067982"/>
          </a:xfrm>
          <a:custGeom>
            <a:avLst/>
            <a:gdLst/>
            <a:ahLst/>
            <a:cxnLst/>
            <a:rect l="l" t="t" r="r" b="b"/>
            <a:pathLst>
              <a:path w="394" h="394">
                <a:moveTo>
                  <a:pt x="0" y="394"/>
                </a:moveTo>
                <a:cubicBezTo>
                  <a:pt x="0" y="176"/>
                  <a:pt x="177" y="0"/>
                  <a:pt x="394" y="0"/>
                </a:cubicBezTo>
                <a:cubicBezTo>
                  <a:pt x="394" y="394"/>
                  <a:pt x="394" y="394"/>
                  <a:pt x="394" y="394"/>
                </a:cubicBezTo>
                <a:lnTo>
                  <a:pt x="0" y="39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0121077" y="3343445"/>
            <a:ext cx="1070264" cy="1067982"/>
          </a:xfrm>
          <a:custGeom>
            <a:avLst/>
            <a:gdLst/>
            <a:ahLst/>
            <a:cxnLst/>
            <a:rect l="l" t="t" r="r" b="b"/>
            <a:pathLst>
              <a:path w="395" h="394">
                <a:moveTo>
                  <a:pt x="395" y="0"/>
                </a:moveTo>
                <a:cubicBezTo>
                  <a:pt x="395" y="218"/>
                  <a:pt x="218" y="394"/>
                  <a:pt x="0" y="394"/>
                </a:cubicBezTo>
                <a:cubicBezTo>
                  <a:pt x="0" y="0"/>
                  <a:pt x="0" y="0"/>
                  <a:pt x="0" y="0"/>
                </a:cubicBezTo>
                <a:lnTo>
                  <a:pt x="39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9939086" y="1440043"/>
            <a:ext cx="1434245" cy="1454784"/>
          </a:xfrm>
          <a:custGeom>
            <a:avLst/>
            <a:gdLst/>
            <a:ahLst/>
            <a:cxnLst/>
            <a:rect l="l" t="t" r="r" b="b"/>
            <a:pathLst>
              <a:path w="1257" h="1275">
                <a:moveTo>
                  <a:pt x="628" y="0"/>
                </a:moveTo>
                <a:lnTo>
                  <a:pt x="0" y="712"/>
                </a:lnTo>
                <a:lnTo>
                  <a:pt x="160" y="712"/>
                </a:lnTo>
                <a:lnTo>
                  <a:pt x="160" y="1275"/>
                </a:lnTo>
                <a:lnTo>
                  <a:pt x="1098" y="1275"/>
                </a:lnTo>
                <a:lnTo>
                  <a:pt x="1098" y="712"/>
                </a:lnTo>
                <a:lnTo>
                  <a:pt x="1257" y="712"/>
                </a:lnTo>
                <a:lnTo>
                  <a:pt x="628" y="0"/>
                </a:lnTo>
                <a:close/>
              </a:path>
            </a:pathLst>
          </a:custGeom>
          <a:solidFill>
            <a:schemeClr val="accent4">
              <a:alpha val="20000"/>
            </a:schemeClr>
          </a:solidFill>
          <a:ln>
            <a:noFill/>
          </a:ln>
        </p:spPr>
        <p:txBody>
          <a:bodyPr vert="horz" wrap="square" lIns="91440" tIns="45720" rIns="91440" bIns="45720" anchor="t">
            <a:prstTxWarp prst="textNoShape">
              <a:avLst/>
            </a:prstTxWarp>
            <a:normAutofit/>
          </a:bodyPr>
          <a:lstStyle/>
          <a:p>
            <a:pPr marL="0" algn="l"/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7745197" y="1927605"/>
            <a:ext cx="540000" cy="540000"/>
            <a:chOff x="2832175" y="5599496"/>
            <a:chExt cx="540000" cy="540000"/>
          </a:xfrm>
        </p:grpSpPr>
        <p:sp>
          <p:nvSpPr>
            <p:cNvPr id="8" name="TextBox 8"/>
            <p:cNvSpPr txBox="1"/>
            <p:nvPr/>
          </p:nvSpPr>
          <p:spPr>
            <a:xfrm>
              <a:off x="2832175" y="5599496"/>
              <a:ext cx="540000" cy="540000"/>
            </a:xfrm>
            <a:prstGeom prst="rect">
              <a:avLst/>
            </a:prstGeom>
            <a:solidFill>
              <a:schemeClr val="accent1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2989061" y="5731793"/>
              <a:ext cx="226228" cy="275406"/>
            </a:xfrm>
            <a:custGeom>
              <a:avLst/>
              <a:gdLst/>
              <a:ahLst/>
              <a:cxnLst/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48245" y="1819457"/>
            <a:ext cx="5743125" cy="10237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图像识别是计算机视觉的核心任务之一，通过算法分析图像内容，实现物体、场景的自动识别，广泛应用于安防和社交网络等领域。</a:t>
            </a:r>
            <a:endParaRPr lang="en-US" sz="1100"/>
          </a:p>
        </p:txBody>
      </p:sp>
      <p:grpSp>
        <p:nvGrpSpPr>
          <p:cNvPr id="11" name="Group 11"/>
          <p:cNvGrpSpPr/>
          <p:nvPr/>
        </p:nvGrpSpPr>
        <p:grpSpPr>
          <a:xfrm>
            <a:off x="7315309" y="3609341"/>
            <a:ext cx="540000" cy="540000"/>
            <a:chOff x="4584079" y="5599496"/>
            <a:chExt cx="540000" cy="540000"/>
          </a:xfrm>
        </p:grpSpPr>
        <p:sp>
          <p:nvSpPr>
            <p:cNvPr id="12" name="TextBox 12"/>
            <p:cNvSpPr txBox="1"/>
            <p:nvPr/>
          </p:nvSpPr>
          <p:spPr>
            <a:xfrm>
              <a:off x="4584079" y="5599496"/>
              <a:ext cx="540000" cy="540000"/>
            </a:xfrm>
            <a:prstGeom prst="rect">
              <a:avLst/>
            </a:prstGeom>
            <a:solidFill>
              <a:schemeClr val="accent4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716376" y="5766219"/>
              <a:ext cx="275406" cy="206554"/>
            </a:xfrm>
            <a:custGeom>
              <a:avLst/>
              <a:gdLst/>
              <a:ahLst/>
              <a:cxnLst/>
              <a:rect l="l" t="t" r="r" b="b"/>
              <a:pathLst>
                <a:path w="533400" h="400050">
                  <a:moveTo>
                    <a:pt x="505433" y="621"/>
                  </a:moveTo>
                  <a:cubicBezTo>
                    <a:pt x="521626" y="621"/>
                    <a:pt x="534008" y="13004"/>
                    <a:pt x="534008" y="29196"/>
                  </a:cubicBezTo>
                  <a:lnTo>
                    <a:pt x="534008" y="372096"/>
                  </a:lnTo>
                  <a:cubicBezTo>
                    <a:pt x="534008" y="388289"/>
                    <a:pt x="521626" y="400671"/>
                    <a:pt x="505433" y="400671"/>
                  </a:cubicBezTo>
                  <a:lnTo>
                    <a:pt x="29183" y="400671"/>
                  </a:lnTo>
                  <a:cubicBezTo>
                    <a:pt x="12990" y="400671"/>
                    <a:pt x="608" y="388289"/>
                    <a:pt x="608" y="372096"/>
                  </a:cubicBezTo>
                  <a:lnTo>
                    <a:pt x="608" y="29196"/>
                  </a:lnTo>
                  <a:cubicBezTo>
                    <a:pt x="608" y="13004"/>
                    <a:pt x="12990" y="621"/>
                    <a:pt x="29183" y="621"/>
                  </a:cubicBezTo>
                  <a:lnTo>
                    <a:pt x="505433" y="621"/>
                  </a:lnTo>
                  <a:close/>
                  <a:moveTo>
                    <a:pt x="391133" y="198741"/>
                  </a:moveTo>
                  <a:cubicBezTo>
                    <a:pt x="378751" y="189216"/>
                    <a:pt x="360653" y="192074"/>
                    <a:pt x="351128" y="204456"/>
                  </a:cubicBezTo>
                  <a:lnTo>
                    <a:pt x="351128" y="204456"/>
                  </a:lnTo>
                  <a:lnTo>
                    <a:pt x="267308" y="315899"/>
                  </a:lnTo>
                  <a:cubicBezTo>
                    <a:pt x="266355" y="316851"/>
                    <a:pt x="265403" y="317804"/>
                    <a:pt x="264451" y="318756"/>
                  </a:cubicBezTo>
                  <a:cubicBezTo>
                    <a:pt x="253021" y="330186"/>
                    <a:pt x="234923" y="330186"/>
                    <a:pt x="224446" y="318756"/>
                  </a:cubicBezTo>
                  <a:lnTo>
                    <a:pt x="224446" y="318756"/>
                  </a:lnTo>
                  <a:lnTo>
                    <a:pt x="162533" y="257796"/>
                  </a:lnTo>
                  <a:cubicBezTo>
                    <a:pt x="161580" y="256844"/>
                    <a:pt x="161580" y="256844"/>
                    <a:pt x="160628" y="255891"/>
                  </a:cubicBezTo>
                  <a:cubicBezTo>
                    <a:pt x="148246" y="245414"/>
                    <a:pt x="130148" y="247319"/>
                    <a:pt x="120623" y="259701"/>
                  </a:cubicBezTo>
                  <a:lnTo>
                    <a:pt x="120623" y="259701"/>
                  </a:lnTo>
                  <a:lnTo>
                    <a:pt x="32993" y="366381"/>
                  </a:lnTo>
                  <a:cubicBezTo>
                    <a:pt x="32040" y="368286"/>
                    <a:pt x="31088" y="370191"/>
                    <a:pt x="31088" y="372096"/>
                  </a:cubicBezTo>
                  <a:cubicBezTo>
                    <a:pt x="31088" y="377811"/>
                    <a:pt x="34898" y="381621"/>
                    <a:pt x="40613" y="381621"/>
                  </a:cubicBezTo>
                  <a:lnTo>
                    <a:pt x="40613" y="381621"/>
                  </a:lnTo>
                  <a:lnTo>
                    <a:pt x="497813" y="381621"/>
                  </a:lnTo>
                  <a:cubicBezTo>
                    <a:pt x="499718" y="381621"/>
                    <a:pt x="501623" y="380669"/>
                    <a:pt x="503528" y="379716"/>
                  </a:cubicBezTo>
                  <a:cubicBezTo>
                    <a:pt x="508290" y="376859"/>
                    <a:pt x="509243" y="371144"/>
                    <a:pt x="506386" y="366381"/>
                  </a:cubicBezTo>
                  <a:lnTo>
                    <a:pt x="506386" y="366381"/>
                  </a:lnTo>
                  <a:lnTo>
                    <a:pt x="398753" y="205409"/>
                  </a:lnTo>
                  <a:cubicBezTo>
                    <a:pt x="395896" y="202551"/>
                    <a:pt x="393990" y="200646"/>
                    <a:pt x="391133" y="198741"/>
                  </a:cubicBezTo>
                  <a:close/>
                  <a:moveTo>
                    <a:pt x="95858" y="57771"/>
                  </a:moveTo>
                  <a:cubicBezTo>
                    <a:pt x="74903" y="57771"/>
                    <a:pt x="57758" y="74916"/>
                    <a:pt x="57758" y="95871"/>
                  </a:cubicBezTo>
                  <a:cubicBezTo>
                    <a:pt x="57758" y="116826"/>
                    <a:pt x="74903" y="133971"/>
                    <a:pt x="95858" y="133971"/>
                  </a:cubicBezTo>
                  <a:cubicBezTo>
                    <a:pt x="116813" y="133971"/>
                    <a:pt x="133958" y="116826"/>
                    <a:pt x="133958" y="95871"/>
                  </a:cubicBezTo>
                  <a:cubicBezTo>
                    <a:pt x="133958" y="74916"/>
                    <a:pt x="116813" y="57771"/>
                    <a:pt x="95858" y="577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39468" y="3531609"/>
            <a:ext cx="5743125" cy="10237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目标检测结合了图像识别和计算机视觉技术，能够在图像中定位并识别特定对象，广泛应用于无人驾驶和机器人导航。</a:t>
            </a:r>
            <a:endParaRPr lang="en-US" sz="1100"/>
          </a:p>
        </p:txBody>
      </p:sp>
      <p:grpSp>
        <p:nvGrpSpPr>
          <p:cNvPr id="15" name="Group 15"/>
          <p:cNvGrpSpPr/>
          <p:nvPr/>
        </p:nvGrpSpPr>
        <p:grpSpPr>
          <a:xfrm>
            <a:off x="6665197" y="5152676"/>
            <a:ext cx="540000" cy="540000"/>
            <a:chOff x="3708127" y="5599496"/>
            <a:chExt cx="540000" cy="540000"/>
          </a:xfrm>
        </p:grpSpPr>
        <p:sp>
          <p:nvSpPr>
            <p:cNvPr id="16" name="TextBox 16"/>
            <p:cNvSpPr txBox="1"/>
            <p:nvPr/>
          </p:nvSpPr>
          <p:spPr>
            <a:xfrm>
              <a:off x="3708127" y="5599496"/>
              <a:ext cx="540000" cy="540000"/>
            </a:xfrm>
            <a:prstGeom prst="rect">
              <a:avLst/>
            </a:prstGeom>
            <a:solidFill>
              <a:schemeClr val="accent3"/>
            </a:solidFill>
          </p:spPr>
          <p:txBody>
            <a:bodyPr vert="horz" wrap="none" lIns="108000" tIns="108000" rIns="108000" bIns="108000" rtlCol="0" anchor="ctr">
              <a:noAutofit/>
            </a:bodyPr>
            <a:lstStyle/>
            <a:p>
              <a:pPr marL="0" algn="ctr">
                <a:defRPr/>
              </a:pPr>
              <a:endParaRPr lang="en-US" sz="110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3850260" y="5734252"/>
              <a:ext cx="255734" cy="270488"/>
            </a:xfrm>
            <a:custGeom>
              <a:avLst/>
              <a:gdLst/>
              <a:ahLst/>
              <a:cxnLst/>
              <a:rect l="l" t="t" r="r" b="b"/>
              <a:pathLst>
                <a:path w="495300" h="523875">
                  <a:moveTo>
                    <a:pt x="371955" y="621"/>
                  </a:moveTo>
                  <a:cubicBezTo>
                    <a:pt x="388148" y="621"/>
                    <a:pt x="400530" y="13004"/>
                    <a:pt x="400530" y="29196"/>
                  </a:cubicBezTo>
                  <a:lnTo>
                    <a:pt x="400530" y="133971"/>
                  </a:lnTo>
                  <a:cubicBezTo>
                    <a:pt x="400530" y="150164"/>
                    <a:pt x="388148" y="162546"/>
                    <a:pt x="371955" y="162546"/>
                  </a:cubicBezTo>
                  <a:lnTo>
                    <a:pt x="257655" y="162546"/>
                  </a:lnTo>
                  <a:lnTo>
                    <a:pt x="257655" y="286371"/>
                  </a:lnTo>
                  <a:lnTo>
                    <a:pt x="419580" y="286371"/>
                  </a:lnTo>
                  <a:cubicBezTo>
                    <a:pt x="439583" y="286371"/>
                    <a:pt x="456727" y="302564"/>
                    <a:pt x="457680" y="322566"/>
                  </a:cubicBezTo>
                  <a:lnTo>
                    <a:pt x="457680" y="324471"/>
                  </a:lnTo>
                  <a:lnTo>
                    <a:pt x="457680" y="429246"/>
                  </a:lnTo>
                  <a:lnTo>
                    <a:pt x="476730" y="429246"/>
                  </a:lnTo>
                  <a:cubicBezTo>
                    <a:pt x="487208" y="429246"/>
                    <a:pt x="495780" y="437819"/>
                    <a:pt x="495780" y="448296"/>
                  </a:cubicBezTo>
                  <a:lnTo>
                    <a:pt x="495780" y="505446"/>
                  </a:lnTo>
                  <a:cubicBezTo>
                    <a:pt x="495780" y="515924"/>
                    <a:pt x="487208" y="524496"/>
                    <a:pt x="476730" y="524496"/>
                  </a:cubicBezTo>
                  <a:lnTo>
                    <a:pt x="419580" y="524496"/>
                  </a:lnTo>
                  <a:cubicBezTo>
                    <a:pt x="409102" y="524496"/>
                    <a:pt x="400530" y="515924"/>
                    <a:pt x="400530" y="505446"/>
                  </a:cubicBezTo>
                  <a:lnTo>
                    <a:pt x="400530" y="448296"/>
                  </a:lnTo>
                  <a:cubicBezTo>
                    <a:pt x="400530" y="437819"/>
                    <a:pt x="409102" y="429246"/>
                    <a:pt x="419580" y="429246"/>
                  </a:cubicBezTo>
                  <a:lnTo>
                    <a:pt x="438630" y="429246"/>
                  </a:lnTo>
                  <a:lnTo>
                    <a:pt x="438630" y="324471"/>
                  </a:lnTo>
                  <a:cubicBezTo>
                    <a:pt x="438630" y="313994"/>
                    <a:pt x="431010" y="306374"/>
                    <a:pt x="420533" y="305421"/>
                  </a:cubicBezTo>
                  <a:lnTo>
                    <a:pt x="419580" y="305421"/>
                  </a:lnTo>
                  <a:lnTo>
                    <a:pt x="257655" y="305421"/>
                  </a:lnTo>
                  <a:lnTo>
                    <a:pt x="257655" y="429246"/>
                  </a:lnTo>
                  <a:lnTo>
                    <a:pt x="276705" y="429246"/>
                  </a:lnTo>
                  <a:cubicBezTo>
                    <a:pt x="287183" y="429246"/>
                    <a:pt x="295755" y="437819"/>
                    <a:pt x="295755" y="448296"/>
                  </a:cubicBezTo>
                  <a:lnTo>
                    <a:pt x="295755" y="505446"/>
                  </a:lnTo>
                  <a:cubicBezTo>
                    <a:pt x="295755" y="515924"/>
                    <a:pt x="287183" y="524496"/>
                    <a:pt x="276705" y="524496"/>
                  </a:cubicBezTo>
                  <a:lnTo>
                    <a:pt x="219555" y="524496"/>
                  </a:lnTo>
                  <a:cubicBezTo>
                    <a:pt x="209077" y="524496"/>
                    <a:pt x="200505" y="515924"/>
                    <a:pt x="200505" y="505446"/>
                  </a:cubicBezTo>
                  <a:lnTo>
                    <a:pt x="200505" y="448296"/>
                  </a:lnTo>
                  <a:cubicBezTo>
                    <a:pt x="200505" y="437819"/>
                    <a:pt x="209077" y="429246"/>
                    <a:pt x="219555" y="429246"/>
                  </a:cubicBezTo>
                  <a:lnTo>
                    <a:pt x="238605" y="429246"/>
                  </a:lnTo>
                  <a:lnTo>
                    <a:pt x="238605" y="305421"/>
                  </a:lnTo>
                  <a:lnTo>
                    <a:pt x="76680" y="305421"/>
                  </a:lnTo>
                  <a:cubicBezTo>
                    <a:pt x="66202" y="305421"/>
                    <a:pt x="58583" y="313041"/>
                    <a:pt x="57630" y="323519"/>
                  </a:cubicBezTo>
                  <a:lnTo>
                    <a:pt x="57630" y="324471"/>
                  </a:lnTo>
                  <a:lnTo>
                    <a:pt x="57630" y="429246"/>
                  </a:lnTo>
                  <a:lnTo>
                    <a:pt x="76680" y="429246"/>
                  </a:lnTo>
                  <a:cubicBezTo>
                    <a:pt x="87158" y="429246"/>
                    <a:pt x="95730" y="437819"/>
                    <a:pt x="95730" y="448296"/>
                  </a:cubicBezTo>
                  <a:lnTo>
                    <a:pt x="95730" y="505446"/>
                  </a:lnTo>
                  <a:cubicBezTo>
                    <a:pt x="95730" y="515924"/>
                    <a:pt x="87158" y="524496"/>
                    <a:pt x="76680" y="524496"/>
                  </a:cubicBezTo>
                  <a:lnTo>
                    <a:pt x="19530" y="524496"/>
                  </a:lnTo>
                  <a:cubicBezTo>
                    <a:pt x="9052" y="524496"/>
                    <a:pt x="480" y="515924"/>
                    <a:pt x="480" y="505446"/>
                  </a:cubicBezTo>
                  <a:lnTo>
                    <a:pt x="480" y="448296"/>
                  </a:lnTo>
                  <a:cubicBezTo>
                    <a:pt x="480" y="437819"/>
                    <a:pt x="9052" y="429246"/>
                    <a:pt x="19530" y="429246"/>
                  </a:cubicBezTo>
                  <a:lnTo>
                    <a:pt x="38580" y="429246"/>
                  </a:lnTo>
                  <a:lnTo>
                    <a:pt x="38580" y="324471"/>
                  </a:lnTo>
                  <a:cubicBezTo>
                    <a:pt x="38580" y="304469"/>
                    <a:pt x="54773" y="287324"/>
                    <a:pt x="74775" y="286371"/>
                  </a:cubicBezTo>
                  <a:lnTo>
                    <a:pt x="76680" y="286371"/>
                  </a:lnTo>
                  <a:lnTo>
                    <a:pt x="238605" y="286371"/>
                  </a:lnTo>
                  <a:lnTo>
                    <a:pt x="238605" y="162546"/>
                  </a:lnTo>
                  <a:lnTo>
                    <a:pt x="124305" y="162546"/>
                  </a:lnTo>
                  <a:cubicBezTo>
                    <a:pt x="108112" y="162546"/>
                    <a:pt x="95730" y="150164"/>
                    <a:pt x="95730" y="133971"/>
                  </a:cubicBezTo>
                  <a:lnTo>
                    <a:pt x="95730" y="29196"/>
                  </a:lnTo>
                  <a:cubicBezTo>
                    <a:pt x="95730" y="13004"/>
                    <a:pt x="108112" y="621"/>
                    <a:pt x="124305" y="621"/>
                  </a:cubicBezTo>
                  <a:lnTo>
                    <a:pt x="371955" y="621"/>
                  </a:lnTo>
                  <a:close/>
                  <a:moveTo>
                    <a:pt x="148118" y="95871"/>
                  </a:moveTo>
                  <a:cubicBezTo>
                    <a:pt x="140498" y="95871"/>
                    <a:pt x="133830" y="102539"/>
                    <a:pt x="133830" y="110159"/>
                  </a:cubicBezTo>
                  <a:cubicBezTo>
                    <a:pt x="133830" y="117779"/>
                    <a:pt x="140498" y="124446"/>
                    <a:pt x="148118" y="124446"/>
                  </a:cubicBezTo>
                  <a:cubicBezTo>
                    <a:pt x="155737" y="124446"/>
                    <a:pt x="162405" y="117779"/>
                    <a:pt x="162405" y="110159"/>
                  </a:cubicBezTo>
                  <a:cubicBezTo>
                    <a:pt x="162405" y="102539"/>
                    <a:pt x="155737" y="95871"/>
                    <a:pt x="148118" y="95871"/>
                  </a:cubicBez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  <a:miter lim="800000"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l"/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74422" y="5211958"/>
            <a:ext cx="5743125" cy="10237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r">
              <a:lnSpc>
                <a:spcPct val="150000"/>
              </a:lnSpc>
              <a:defRPr/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视频分析技术通过对视频数据的处理，提取动态信息，常用于安全监控、交通管理和行为识别等，通过实时监控提升管理效率。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848246" y="1476749"/>
            <a:ext cx="5743124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图像识别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439468" y="3195023"/>
            <a:ext cx="5743124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目标检测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74422" y="4847097"/>
            <a:ext cx="5743124" cy="340735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b">
            <a:spAutoFit/>
          </a:bodyPr>
          <a:lstStyle/>
          <a:p>
            <a:pPr marL="0" algn="r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+mn-ea"/>
                <a:ea typeface="+mn-ea"/>
              </a:rPr>
              <a:t>视频分析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计算机视觉的定义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计算机视觉应用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5429250"/>
            <a:ext cx="12191998" cy="714375"/>
          </a:xfrm>
          <a:prstGeom prst="rect">
            <a:avLst/>
          </a:prstGeom>
          <a:solidFill>
            <a:srgbClr val="F0F0F0">
              <a:alpha val="15000"/>
            </a:srgbClr>
          </a:solidFill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452508" y="3429002"/>
            <a:ext cx="1070738" cy="2000248"/>
          </a:xfrm>
          <a:custGeom>
            <a:avLst/>
            <a:gdLst/>
            <a:ahLst/>
            <a:cxnLst/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660400" y="5493518"/>
            <a:ext cx="2759450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安全监控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69925" y="1607452"/>
            <a:ext cx="3055280" cy="670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计算机视觉技术使安全监控系统能够自动识别异常行为、识别人物特征，并进行警报，提升公共安全管理效率。</a:t>
            </a:r>
          </a:p>
        </p:txBody>
      </p:sp>
      <p:sp>
        <p:nvSpPr>
          <p:cNvPr id="7" name="Freeform 7"/>
          <p:cNvSpPr/>
          <p:nvPr/>
        </p:nvSpPr>
        <p:spPr>
          <a:xfrm>
            <a:off x="5561552" y="3429001"/>
            <a:ext cx="1021566" cy="2000249"/>
          </a:xfrm>
          <a:custGeom>
            <a:avLst/>
            <a:gdLst/>
            <a:ahLst/>
            <a:cxnLst/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531143" y="5493518"/>
            <a:ext cx="3259157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医疗影像分析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18128" y="1607452"/>
            <a:ext cx="3272173" cy="670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在医疗影像分析中，计算机视觉技术帮助医生自动识别病变特征，精确诊断疾病，提高医疗服务质量和效率。</a:t>
            </a:r>
          </a:p>
        </p:txBody>
      </p:sp>
      <p:sp>
        <p:nvSpPr>
          <p:cNvPr id="10" name="Freeform 10"/>
          <p:cNvSpPr/>
          <p:nvPr/>
        </p:nvSpPr>
        <p:spPr>
          <a:xfrm>
            <a:off x="9430691" y="3429000"/>
            <a:ext cx="964074" cy="2000250"/>
          </a:xfrm>
          <a:custGeom>
            <a:avLst/>
            <a:gdLst/>
            <a:ahLst/>
            <a:cxnLst/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8293256" y="5493518"/>
            <a:ext cx="3238343" cy="3385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ctr">
              <a:spcBef>
                <a:spcPct val="0"/>
              </a:spcBef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自动驾驶技术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93256" y="1607452"/>
            <a:ext cx="3272173" cy="670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ctr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计算机视觉是自动驾驶技术的基石，通过图像分析识别道路、障碍物和交通标志，提高车辆的安全驾驶能力。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916943" y="4408676"/>
            <a:ext cx="6840611" cy="584775"/>
          </a:xfrm>
        </p:spPr>
        <p:txBody>
          <a:bodyPr vert="horz" lIns="91440" tIns="45720" rIns="91440" b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2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人工智能的伦理与挑战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31214" y="3210498"/>
            <a:ext cx="1363168" cy="12003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7200" b="0" i="0" u="none" spc="100" baseline="0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人工智能的伦理问题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>
            <a:off x="0" y="4082445"/>
            <a:ext cx="12192000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</p:cxnSp>
      <p:grpSp>
        <p:nvGrpSpPr>
          <p:cNvPr id="4" name="Group 4"/>
          <p:cNvGrpSpPr/>
          <p:nvPr/>
        </p:nvGrpSpPr>
        <p:grpSpPr>
          <a:xfrm>
            <a:off x="1165572" y="2049100"/>
            <a:ext cx="526373" cy="1862689"/>
            <a:chOff x="567211" y="1412091"/>
            <a:chExt cx="591015" cy="1971534"/>
          </a:xfrm>
        </p:grpSpPr>
        <p:sp>
          <p:nvSpPr>
            <p:cNvPr id="5" name="AutoShape 5"/>
            <p:cNvSpPr/>
            <p:nvPr/>
          </p:nvSpPr>
          <p:spPr>
            <a:xfrm>
              <a:off x="567211" y="1412091"/>
              <a:ext cx="591015" cy="1971534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  <a:lumMod val="95000"/>
              </a:srgbClr>
            </a:solidFill>
            <a:ln>
              <a:noFill/>
            </a:ln>
          </p:spPr>
          <p:txBody>
            <a:bodyPr vert="horz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cxnSp>
          <p:nvCxnSpPr>
            <p:cNvPr id="6" name="Connector 6"/>
            <p:cNvCxnSpPr/>
            <p:nvPr/>
          </p:nvCxnSpPr>
          <p:spPr>
            <a:xfrm>
              <a:off x="739961" y="1625433"/>
              <a:ext cx="222172" cy="0"/>
            </a:xfrm>
            <a:prstGeom prst="line">
              <a:avLst/>
            </a:prstGeom>
            <a:ln w="9525">
              <a:solidFill>
                <a:srgbClr val="FFFFFF">
                  <a:alpha val="50000"/>
                </a:srgbClr>
              </a:solidFill>
            </a:ln>
          </p:spPr>
        </p:cxnSp>
        <p:cxnSp>
          <p:nvCxnSpPr>
            <p:cNvPr id="7" name="Connector 7"/>
            <p:cNvCxnSpPr/>
            <p:nvPr/>
          </p:nvCxnSpPr>
          <p:spPr>
            <a:xfrm>
              <a:off x="739961" y="1707494"/>
              <a:ext cx="222172" cy="0"/>
            </a:xfrm>
            <a:prstGeom prst="line">
              <a:avLst/>
            </a:prstGeom>
            <a:ln w="9525">
              <a:solidFill>
                <a:srgbClr val="FFFFFF">
                  <a:alpha val="50000"/>
                </a:srgbClr>
              </a:solidFill>
            </a:ln>
          </p:spPr>
        </p:cxnSp>
        <p:sp>
          <p:nvSpPr>
            <p:cNvPr id="8" name="AutoShape 8"/>
            <p:cNvSpPr/>
            <p:nvPr/>
          </p:nvSpPr>
          <p:spPr>
            <a:xfrm>
              <a:off x="804128" y="2379384"/>
              <a:ext cx="89209" cy="89209"/>
            </a:xfrm>
            <a:prstGeom prst="ellipse">
              <a:avLst/>
            </a:prstGeom>
            <a:gradFill>
              <a:gsLst>
                <a:gs pos="0">
                  <a:srgbClr val="BF9762">
                    <a:lumMod val="60000"/>
                    <a:lumOff val="40000"/>
                  </a:srgbClr>
                </a:gs>
                <a:gs pos="60000">
                  <a:srgbClr val="BF9762"/>
                </a:gs>
              </a:gsLst>
              <a:lin ang="2700000"/>
            </a:gradFill>
            <a:ln cap="rnd">
              <a:noFill/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804128" y="2713920"/>
              <a:ext cx="89209" cy="89209"/>
            </a:xfrm>
            <a:prstGeom prst="ellipse">
              <a:avLst/>
            </a:prstGeom>
            <a:gradFill>
              <a:gsLst>
                <a:gs pos="0">
                  <a:srgbClr val="BF9762">
                    <a:alpha val="50000"/>
                    <a:lumMod val="60000"/>
                    <a:lumOff val="40000"/>
                  </a:srgbClr>
                </a:gs>
                <a:gs pos="60000">
                  <a:srgbClr val="BF9762">
                    <a:alpha val="50000"/>
                  </a:srgbClr>
                </a:gs>
              </a:gsLst>
              <a:lin ang="2700000"/>
            </a:gradFill>
            <a:ln cap="rnd">
              <a:noFill/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 flipH="1">
            <a:off x="1845800" y="1940153"/>
            <a:ext cx="314944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数据隐私问题</a:t>
            </a:r>
            <a:endParaRPr lang="en-US" sz="1100"/>
          </a:p>
        </p:txBody>
      </p:sp>
      <p:grpSp>
        <p:nvGrpSpPr>
          <p:cNvPr id="11" name="Group 11"/>
          <p:cNvGrpSpPr/>
          <p:nvPr/>
        </p:nvGrpSpPr>
        <p:grpSpPr>
          <a:xfrm>
            <a:off x="3597650" y="4210284"/>
            <a:ext cx="526373" cy="1862689"/>
            <a:chOff x="2383490" y="3764261"/>
            <a:chExt cx="591015" cy="1971534"/>
          </a:xfrm>
        </p:grpSpPr>
        <p:sp>
          <p:nvSpPr>
            <p:cNvPr id="12" name="AutoShape 12"/>
            <p:cNvSpPr/>
            <p:nvPr/>
          </p:nvSpPr>
          <p:spPr>
            <a:xfrm>
              <a:off x="2383490" y="3764261"/>
              <a:ext cx="591015" cy="1971534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BF9762">
                    <a:lumMod val="60000"/>
                    <a:lumOff val="40000"/>
                  </a:srgbClr>
                </a:gs>
                <a:gs pos="60000">
                  <a:srgbClr val="BF9762"/>
                </a:gs>
              </a:gsLst>
              <a:lin ang="2700000"/>
            </a:gradFill>
            <a:ln cap="rnd">
              <a:noFill/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cxnSp>
          <p:nvCxnSpPr>
            <p:cNvPr id="13" name="Connector 13"/>
            <p:cNvCxnSpPr/>
            <p:nvPr/>
          </p:nvCxnSpPr>
          <p:spPr>
            <a:xfrm>
              <a:off x="2556240" y="3977603"/>
              <a:ext cx="222172" cy="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</p:cxnSp>
        <p:cxnSp>
          <p:nvCxnSpPr>
            <p:cNvPr id="14" name="Connector 14"/>
            <p:cNvCxnSpPr/>
            <p:nvPr/>
          </p:nvCxnSpPr>
          <p:spPr>
            <a:xfrm>
              <a:off x="2556240" y="4059664"/>
              <a:ext cx="222172" cy="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</p:cxnSp>
        <p:sp>
          <p:nvSpPr>
            <p:cNvPr id="15" name="AutoShape 15"/>
            <p:cNvSpPr/>
            <p:nvPr/>
          </p:nvSpPr>
          <p:spPr>
            <a:xfrm>
              <a:off x="2620407" y="4731554"/>
              <a:ext cx="89209" cy="89209"/>
            </a:xfrm>
            <a:prstGeom prst="ellipse">
              <a:avLst/>
            </a:prstGeom>
            <a:solidFill>
              <a:srgbClr val="FFFFFF"/>
            </a:solidFill>
            <a:ln cap="rnd">
              <a:noFill/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2620407" y="5066090"/>
              <a:ext cx="89209" cy="89209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cap="rnd">
              <a:noFill/>
              <a:prstDash val="solid"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txBody>
            <a:bodyPr rot="0" vert="horz" wrap="square" lIns="91440" tIns="45720" rIns="91440" bIns="4572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 flipH="1">
            <a:off x="4277879" y="4390341"/>
            <a:ext cx="3414274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决策透明度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 flipH="1">
            <a:off x="4277875" y="4820408"/>
            <a:ext cx="3414278" cy="67056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人工智能的决策过程常常缺乏透明度，用户和开发者难以理解模型决策的依据，导致信任缺失和对结果的质疑。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824729" y="2049100"/>
            <a:ext cx="526373" cy="1862689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  <a:lumMod val="95000"/>
            </a:srgbClr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20" name="Connector 20"/>
          <p:cNvCxnSpPr/>
          <p:nvPr/>
        </p:nvCxnSpPr>
        <p:spPr>
          <a:xfrm>
            <a:off x="7978585" y="2250664"/>
            <a:ext cx="197872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</p:cxnSp>
      <p:cxnSp>
        <p:nvCxnSpPr>
          <p:cNvPr id="21" name="Connector 21"/>
          <p:cNvCxnSpPr/>
          <p:nvPr/>
        </p:nvCxnSpPr>
        <p:spPr>
          <a:xfrm>
            <a:off x="7978585" y="2328194"/>
            <a:ext cx="197872" cy="0"/>
          </a:xfrm>
          <a:prstGeom prst="line">
            <a:avLst/>
          </a:prstGeom>
          <a:ln w="9525">
            <a:solidFill>
              <a:srgbClr val="FFFFFF">
                <a:alpha val="50000"/>
              </a:srgbClr>
            </a:solidFill>
          </a:ln>
        </p:spPr>
      </p:cxnSp>
      <p:sp>
        <p:nvSpPr>
          <p:cNvPr id="22" name="AutoShape 22"/>
          <p:cNvSpPr/>
          <p:nvPr/>
        </p:nvSpPr>
        <p:spPr>
          <a:xfrm>
            <a:off x="8035733" y="2962990"/>
            <a:ext cx="79452" cy="84284"/>
          </a:xfrm>
          <a:prstGeom prst="ellipse">
            <a:avLst/>
          </a:prstGeom>
          <a:gradFill>
            <a:gsLst>
              <a:gs pos="0">
                <a:srgbClr val="BF9762">
                  <a:lumMod val="60000"/>
                  <a:lumOff val="40000"/>
                </a:srgbClr>
              </a:gs>
              <a:gs pos="60000">
                <a:srgbClr val="BF9762"/>
              </a:gs>
            </a:gsLst>
            <a:lin ang="2700000"/>
          </a:gradFill>
          <a:ln cap="rnd">
            <a:noFill/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035733" y="3279057"/>
            <a:ext cx="79452" cy="84284"/>
          </a:xfrm>
          <a:prstGeom prst="ellipse">
            <a:avLst/>
          </a:prstGeom>
          <a:gradFill>
            <a:gsLst>
              <a:gs pos="0">
                <a:srgbClr val="BF9762">
                  <a:alpha val="50000"/>
                  <a:lumMod val="60000"/>
                  <a:lumOff val="40000"/>
                </a:srgbClr>
              </a:gs>
              <a:gs pos="60000">
                <a:srgbClr val="BF9762">
                  <a:alpha val="50000"/>
                </a:srgbClr>
              </a:gs>
            </a:gsLst>
            <a:lin ang="2700000"/>
          </a:gradFill>
          <a:ln cap="rnd">
            <a:noFill/>
            <a:prstDash val="solid"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rot="0" vert="horz" wrap="square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24" name="TextBox 24"/>
          <p:cNvSpPr txBox="1"/>
          <p:nvPr/>
        </p:nvSpPr>
        <p:spPr>
          <a:xfrm flipH="1">
            <a:off x="8504958" y="1940153"/>
            <a:ext cx="3013942" cy="33855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/>
          <a:p>
            <a:pPr marL="0" algn="l">
              <a:defRPr/>
            </a:pPr>
            <a:r>
              <a:rPr lang="zh-CN" altLang="en-US" sz="16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偏见与公平性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 flipH="1">
            <a:off x="8504954" y="2370220"/>
            <a:ext cx="3013945" cy="67056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AI系统可能会出现训练数据偏见，从而影响决策的公平性。通过算法审计和数据多样性来缓解这类问题至关重要。</a:t>
            </a:r>
          </a:p>
        </p:txBody>
      </p:sp>
      <p:sp>
        <p:nvSpPr>
          <p:cNvPr id="26" name="AutoShape 26"/>
          <p:cNvSpPr/>
          <p:nvPr/>
        </p:nvSpPr>
        <p:spPr>
          <a:xfrm flipH="1">
            <a:off x="1845797" y="2397898"/>
            <a:ext cx="3149445" cy="670560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>
              <a:lnSpc>
                <a:spcPct val="120000"/>
              </a:lnSpc>
            </a:pPr>
            <a:r>
              <a:rPr lang="zh-CN" altLang="en-US" sz="1400" b="0" i="0" u="none" baseline="0">
                <a:solidFill>
                  <a:srgbClr val="FFFFFF">
                    <a:lumMod val="85000"/>
                    <a:lumOff val="15000"/>
                  </a:srgbClr>
                </a:solidFill>
                <a:latin typeface="微软雅黑"/>
                <a:ea typeface="微软雅黑"/>
              </a:rPr>
              <a:t>数据隐私问题在人工智能应用中日益突出，大量用户数据被收集和分析，如何保护个人隐私成为重要的伦理挑战。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lumMod val="75000"/>
              </a:srgbClr>
            </a:gs>
            <a:gs pos="72000">
              <a:srgbClr val="3C6790">
                <a:lumMod val="5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2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持续发展的挑战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832269" y="2248021"/>
            <a:ext cx="3468030" cy="346803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522453" y="1321229"/>
            <a:ext cx="2211658" cy="2211658"/>
          </a:xfrm>
          <a:prstGeom prst="donut">
            <a:avLst>
              <a:gd name="adj" fmla="val 19662"/>
            </a:avLst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735922" y="3115769"/>
            <a:ext cx="6782978" cy="1632048"/>
          </a:xfrm>
          <a:prstGeom prst="roundRect">
            <a:avLst>
              <a:gd name="adj" fmla="val 10000"/>
            </a:avLst>
          </a:prstGeom>
          <a:solidFill>
            <a:srgbClr val="F0F0F0">
              <a:alpha val="15000"/>
            </a:srgbClr>
          </a:solidFill>
          <a:ln cap="flat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535250" y="3228644"/>
            <a:ext cx="5765095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effectLst/>
                <a:latin typeface="微软雅黑"/>
                <a:ea typeface="微软雅黑"/>
              </a:rPr>
              <a:t>社会适应性问题</a:t>
            </a:r>
          </a:p>
        </p:txBody>
      </p:sp>
      <p:sp>
        <p:nvSpPr>
          <p:cNvPr id="7" name="AutoShape 7"/>
          <p:cNvSpPr/>
          <p:nvPr/>
        </p:nvSpPr>
        <p:spPr>
          <a:xfrm>
            <a:off x="5535250" y="3653677"/>
            <a:ext cx="5765095" cy="1030640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随着人工智能的普及，社会结构、劳动市场等将面临重大变革，推进社会适应性和终身学习体系的建设显得尤为重要。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51922" y="3489806"/>
            <a:ext cx="540000" cy="540000"/>
          </a:xfrm>
          <a:prstGeom prst="ellipse">
            <a:avLst/>
          </a:prstGeom>
          <a:solidFill>
            <a:srgbClr val="F0F0F0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735922" y="1130300"/>
            <a:ext cx="6782978" cy="1712137"/>
          </a:xfrm>
          <a:prstGeom prst="roundRect">
            <a:avLst>
              <a:gd name="adj" fmla="val 10000"/>
            </a:avLst>
          </a:prstGeom>
          <a:solidFill>
            <a:srgbClr val="F0F0F0">
              <a:alpha val="15000"/>
            </a:srgbClr>
          </a:solidFill>
          <a:ln cap="flat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535250" y="1243175"/>
            <a:ext cx="5765095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effectLst/>
                <a:latin typeface="微软雅黑"/>
                <a:ea typeface="微软雅黑"/>
              </a:rPr>
              <a:t>技术限制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535250" y="1668212"/>
            <a:ext cx="5765095" cy="1030640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当前人工智能技术仍面临多项限制，如对特定任务的适应性不足、处理复杂情境的难度等，限制了其广泛应用。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51922" y="1504337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735922" y="4909647"/>
            <a:ext cx="6782978" cy="1632047"/>
          </a:xfrm>
          <a:prstGeom prst="roundRect">
            <a:avLst>
              <a:gd name="adj" fmla="val 10000"/>
            </a:avLst>
          </a:prstGeom>
          <a:solidFill>
            <a:srgbClr val="F0F0F0">
              <a:alpha val="15000"/>
            </a:srgbClr>
          </a:solidFill>
          <a:ln cap="flat">
            <a:noFill/>
            <a:prstDash val="solid"/>
            <a:miter lim="800000"/>
          </a:ln>
          <a:effectLst/>
        </p:spPr>
        <p:txBody>
          <a:bodyPr vert="horz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535250" y="5022522"/>
            <a:ext cx="5765095" cy="464331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b">
            <a:spAutoFit/>
          </a:bodyPr>
          <a:lstStyle/>
          <a:p>
            <a:pPr marL="0" algn="l"/>
            <a:r>
              <a:rPr lang="zh-CN" altLang="en-US" sz="1600" b="1" i="0" u="none" baseline="0">
                <a:solidFill>
                  <a:srgbClr val="FFFFFF"/>
                </a:solidFill>
                <a:effectLst/>
                <a:latin typeface="微软雅黑"/>
                <a:ea typeface="微软雅黑"/>
              </a:rPr>
              <a:t>职业影响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535250" y="5447554"/>
            <a:ext cx="5765095" cy="1030640"/>
          </a:xfrm>
          <a:prstGeom prst="rect">
            <a:avLst/>
          </a:prstGeom>
          <a:noFill/>
          <a:ln>
            <a:noFill/>
          </a:ln>
        </p:spPr>
        <p:txBody>
          <a:bodyPr vert="horz" wrap="square" lIns="108000" tIns="108000" rIns="108000" bIns="108000" anchor="t">
            <a:spAutoFit/>
          </a:bodyPr>
          <a:lstStyle/>
          <a:p>
            <a:pPr marL="0" algn="l">
              <a:lnSpc>
                <a:spcPct val="130000"/>
              </a:lnSpc>
            </a:pPr>
            <a:r>
              <a:rPr lang="zh-CN" altLang="en-US" sz="14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自动化和人工智能可能取代传统职业，导致失业风险上升。为此，必须制定相应教育和培训策略，帮助劳动者适应新环境。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51922" y="5283684"/>
            <a:ext cx="540000" cy="5400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108000" tIns="108000" rIns="108000" bIns="108000" rtlCol="0" anchor="ctr">
            <a:noAutofit/>
          </a:bodyPr>
          <a:lstStyle/>
          <a:p>
            <a:pPr marL="0" algn="l">
              <a:defRPr/>
            </a:pPr>
            <a:r>
              <a:rPr lang="en-US" sz="1800" b="0" i="0" u="none" baseline="0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6790">
                <a:alpha val="80000"/>
              </a:srgbClr>
            </a:gs>
            <a:gs pos="66000">
              <a:srgbClr val="3C6790"/>
            </a:gs>
          </a:gsLst>
          <a:lin ang="5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title"/>
          </p:nvPr>
        </p:nvSpPr>
        <p:spPr>
          <a:xfrm>
            <a:off x="1997418" y="2573111"/>
            <a:ext cx="9457871" cy="1711778"/>
          </a:xfrm>
        </p:spPr>
        <p:txBody>
          <a:bodyPr vert="horz" lIns="91440" tIns="45720" rIns="91440" bIns="45720" anchor="b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4800" b="1" i="0" u="none" baseline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97418" y="4611009"/>
            <a:ext cx="9801678" cy="7439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zh-CN" altLang="en-US" sz="1800" b="0" i="0" u="none" baseline="0">
                <a:solidFill>
                  <a:srgbClr val="FFFFFF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C6790"/>
      </a:accent1>
      <a:accent2>
        <a:srgbClr val="BF9762"/>
      </a:accent2>
      <a:accent3>
        <a:srgbClr val="C1A47E"/>
      </a:accent3>
      <a:accent4>
        <a:srgbClr val="C6B657"/>
      </a:accent4>
      <a:accent5>
        <a:srgbClr val="D2AA6E"/>
      </a:accent5>
      <a:accent6>
        <a:srgbClr val="CD8A70"/>
      </a:accent6>
      <a:hlink>
        <a:srgbClr val="F84D4D"/>
      </a:hlink>
      <a:folHlink>
        <a:srgbClr val="97979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1152</Words>
  <Application>Microsoft Office PowerPoint</Application>
  <PresentationFormat>宽屏</PresentationFormat>
  <Paragraphs>109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微软雅黑</vt:lpstr>
      <vt:lpstr>Arial</vt:lpstr>
      <vt:lpstr>Calibri</vt:lpstr>
      <vt:lpstr>Office Theme</vt:lpstr>
      <vt:lpstr>第一讲认识人工智能</vt:lpstr>
      <vt:lpstr>PowerPoint 演示文稿</vt:lpstr>
      <vt:lpstr>人工智能的定义</vt:lpstr>
      <vt:lpstr>PowerPoint 演示文稿</vt:lpstr>
      <vt:lpstr>PowerPoint 演示文稿</vt:lpstr>
      <vt:lpstr>人工智能的技术分类</vt:lpstr>
      <vt:lpstr>PowerPoint 演示文稿</vt:lpstr>
      <vt:lpstr>机器学习与深度学习</vt:lpstr>
      <vt:lpstr>自然语言处理</vt:lpstr>
      <vt:lpstr>PowerPoint 演示文稿</vt:lpstr>
      <vt:lpstr>自然语言处理应用</vt:lpstr>
      <vt:lpstr>计算机视觉</vt:lpstr>
      <vt:lpstr>PowerPoint 演示文稿</vt:lpstr>
      <vt:lpstr>PowerPoint 演示文稿</vt:lpstr>
      <vt:lpstr>人工智能的伦理与挑战</vt:lpstr>
      <vt:lpstr>PowerPoint 演示文稿</vt:lpstr>
      <vt:lpstr>PowerPoint 演示文稿</vt:lpstr>
      <vt:lpstr>谢谢观看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充 刘</cp:lastModifiedBy>
  <cp:revision>2</cp:revision>
  <dcterms:created xsi:type="dcterms:W3CDTF">2025-07-13T12:05:55Z</dcterms:created>
  <dcterms:modified xsi:type="dcterms:W3CDTF">2025-07-13T12:25:55Z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</Properties>
</file>