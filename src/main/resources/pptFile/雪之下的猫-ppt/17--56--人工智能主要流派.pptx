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comments/modernComment_100_0.xml" ContentType="application/vnd.ms-powerpoint.comments+xml"/>
  <Override PartName="/ppt/comments/modernComment_101_0.xml" ContentType="application/vnd.ms-powerpoint.comments+xml"/>
  <Override PartName="/ppt/comments/modernComment_102_0.xml" ContentType="application/vnd.ms-powerpoint.comments+xml"/>
  <Override PartName="/ppt/comments/modernComment_103_0.xml" ContentType="application/vnd.ms-powerpoint.comments+xml"/>
  <Override PartName="/ppt/comments/modernComment_104_0.xml" ContentType="application/vnd.ms-powerpoint.comments+xml"/>
  <Override PartName="/ppt/comments/modernComment_105_0.xml" ContentType="application/vnd.ms-powerpoint.comments+xml"/>
  <Override PartName="/ppt/comments/modernComment_106_0.xml" ContentType="application/vnd.ms-powerpoint.comments+xml"/>
  <Override PartName="/ppt/comments/modernComment_107_0.xml" ContentType="application/vnd.ms-powerpoint.comments+xml"/>
  <Override PartName="/ppt/comments/modernComment_108_0.xml" ContentType="application/vnd.ms-powerpoint.comments+xml"/>
  <Override PartName="/ppt/comments/modernComment_109_0.xml" ContentType="application/vnd.ms-powerpoint.comments+xml"/>
  <Override PartName="/ppt/comments/modernComment_10A_0.xml" ContentType="application/vnd.ms-powerpoint.comments+xml"/>
  <Override PartName="/ppt/comments/modernComment_10B_0.xml" ContentType="application/vnd.ms-powerpoint.comments+xml"/>
  <Override PartName="/ppt/comments/modernComment_10C_0.xml" ContentType="application/vnd.ms-powerpoint.comments+xml"/>
  <Override PartName="/ppt/comments/modernComment_10D_0.xml" ContentType="application/vnd.ms-powerpoint.comments+xml"/>
  <Override PartName="/ppt/comments/modernComment_10E_0.xml" ContentType="application/vnd.ms-powerpoint.comments+xml"/>
  <Override PartName="/ppt/comments/modernComment_10F_0.xml" ContentType="application/vnd.ms-powerpoint.comments+xml"/>
  <Override PartName="/ppt/comments/modernComment_110_0.xml" ContentType="application/vnd.ms-powerpoint.comments+xml"/>
  <Override PartName="/ppt/comments/modernComment_111_0.xml" ContentType="application/vnd.ms-powerpoint.comments+xml"/>
  <Override PartName="/ppt/comments/modernComment_112_0.xml" ContentType="application/vnd.ms-powerpoint.comments+xml"/>
  <Override PartName="/ppt/comments/modernComment_113_0.xml" ContentType="application/vnd.ms-powerpoint.comments+xml"/>
  <Override PartName="/ppt/comments/modernComment_114_0.xml" ContentType="application/vnd.ms-powerpoint.comment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4EDB4E6F-FBD6-FF5D-3947-84D9301DD603}" name="充 刘" initials="充刘" userId="807eb20ee4d2c000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96" d="100"/>
          <a:sy n="96" d="100"/>
        </p:scale>
        <p:origin x="102" y="27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microsoft.com/office/2018/10/relationships/authors" Target="authors.xml"/></Relationships>
</file>

<file path=ppt/comments/modernComment_10A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CC1EC2C0-6781-4570-AE71-87A99B7FCCFA}" authorId="{4EDB4E6F-FBD6-FF5D-3947-84D9301DD603}" created="2025-07-16T09:40:56.844">
    <pc:sldMkLst xmlns:pc="http://schemas.microsoft.com/office/powerpoint/2013/main/command">
      <pc:docMk/>
      <pc:sldMk cId="0" sldId="266"/>
    </pc:sldMkLst>
    <p188:txBody>
      <a:bodyPr/>
      <a:lstStyle/>
      <a:p>
        <a:r>
          <a:rPr lang="zh-CN" altLang="en-US"/>
          <a:t>规则基础方法有一下几点</a:t>
        </a:r>
      </a:p>
    </p188:txBody>
  </p188:cm>
</p188:cmLst>
</file>

<file path=ppt/comments/modernComment_10B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7977D972-8F90-4F13-9209-423E3853BF61}" authorId="{4EDB4E6F-FBD6-FF5D-3947-84D9301DD603}" created="2025-07-16T09:41:23.162">
    <pc:sldMkLst xmlns:pc="http://schemas.microsoft.com/office/powerpoint/2013/main/command">
      <pc:docMk/>
      <pc:sldMk cId="0" sldId="267"/>
    </pc:sldMkLst>
    <p188:txBody>
      <a:bodyPr/>
      <a:lstStyle/>
      <a:p>
        <a:r>
          <a:rPr lang="zh-CN" altLang="en-US"/>
          <a:t>连接主义的思维模式</a:t>
        </a:r>
      </a:p>
    </p188:txBody>
  </p188:cm>
</p188:cmLst>
</file>

<file path=ppt/comments/modernComment_10C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5FA1F96B-3E14-4644-AADF-A60838A703E8}" authorId="{4EDB4E6F-FBD6-FF5D-3947-84D9301DD603}" created="2025-07-16T09:41:38.753">
    <pc:sldMkLst xmlns:pc="http://schemas.microsoft.com/office/powerpoint/2013/main/command">
      <pc:docMk/>
      <pc:sldMk cId="0" sldId="268"/>
    </pc:sldMkLst>
    <p188:txBody>
      <a:bodyPr/>
      <a:lstStyle/>
      <a:p>
        <a:r>
          <a:rPr lang="zh-CN" altLang="en-US"/>
          <a:t>神经网络的基础如下</a:t>
        </a:r>
      </a:p>
    </p188:txBody>
  </p188:cm>
</p188:cmLst>
</file>

<file path=ppt/comments/modernComment_10D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A0006FC5-671B-4DBD-BD01-5F8AC4D0E528}" authorId="{4EDB4E6F-FBD6-FF5D-3947-84D9301DD603}" created="2025-07-16T09:41:52.120">
    <pc:sldMkLst xmlns:pc="http://schemas.microsoft.com/office/powerpoint/2013/main/command">
      <pc:docMk/>
      <pc:sldMk cId="0" sldId="269"/>
    </pc:sldMkLst>
    <p188:txBody>
      <a:bodyPr/>
      <a:lstStyle/>
      <a:p>
        <a:r>
          <a:rPr lang="zh-CN" altLang="en-US"/>
          <a:t>然后是深度学习的应用</a:t>
        </a:r>
      </a:p>
    </p188:txBody>
  </p188:cm>
</p188:cmLst>
</file>

<file path=ppt/comments/modernComment_10E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5433C168-F4F9-46A3-BDDF-334A7369B97F}" authorId="{4EDB4E6F-FBD6-FF5D-3947-84D9301DD603}" created="2025-07-16T09:42:14.954">
    <pc:sldMkLst xmlns:pc="http://schemas.microsoft.com/office/powerpoint/2013/main/command">
      <pc:docMk/>
      <pc:sldMk cId="0" sldId="270"/>
    </pc:sldMkLst>
    <p188:txBody>
      <a:bodyPr/>
      <a:lstStyle/>
      <a:p>
        <a:r>
          <a:rPr lang="zh-CN" altLang="en-US"/>
          <a:t>演化计算与智能代理</a:t>
        </a:r>
      </a:p>
    </p188:txBody>
  </p188:cm>
</p188:cmLst>
</file>

<file path=ppt/comments/modernComment_10F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B352EA83-3DB8-40AC-9725-CB9AE49EFBF8}" authorId="{4EDB4E6F-FBD6-FF5D-3947-84D9301DD603}" created="2025-07-16T09:42:28.078">
    <pc:sldMkLst xmlns:pc="http://schemas.microsoft.com/office/powerpoint/2013/main/command">
      <pc:docMk/>
      <pc:sldMk cId="0" sldId="271"/>
    </pc:sldMkLst>
    <p188:txBody>
      <a:bodyPr/>
      <a:lstStyle/>
      <a:p>
        <a:r>
          <a:rPr lang="zh-CN" altLang="en-US"/>
          <a:t>下面是演化计算的简介</a:t>
        </a:r>
      </a:p>
    </p188:txBody>
  </p188:cm>
</p188:cmLst>
</file>

<file path=ppt/comments/modernComment_100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DAF22788-D8B7-4B2D-8570-E4AD431B4384}" authorId="{4EDB4E6F-FBD6-FF5D-3947-84D9301DD603}" created="2025-07-16T09:37:50.666">
    <pc:sldMkLst xmlns:pc="http://schemas.microsoft.com/office/powerpoint/2013/main/command">
      <pc:docMk/>
      <pc:sldMk cId="0" sldId="256"/>
    </pc:sldMkLst>
    <p188:txBody>
      <a:bodyPr/>
      <a:lstStyle/>
      <a:p>
        <a:r>
          <a:rPr lang="zh-CN" altLang="en-US"/>
          <a:t>这堂课我们将学习人工智能主要流派</a:t>
        </a:r>
      </a:p>
    </p188:txBody>
  </p188:cm>
</p188:cmLst>
</file>

<file path=ppt/comments/modernComment_101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BA3E8932-7C1B-448F-9147-E25057E6380E}" authorId="{4EDB4E6F-FBD6-FF5D-3947-84D9301DD603}" created="2025-07-16T09:38:09.350">
    <pc:sldMkLst xmlns:pc="http://schemas.microsoft.com/office/powerpoint/2013/main/command">
      <pc:docMk/>
      <pc:sldMk cId="0" sldId="257"/>
    </pc:sldMkLst>
    <p188:txBody>
      <a:bodyPr/>
      <a:lstStyle/>
      <a:p>
        <a:r>
          <a:rPr lang="zh-CN" altLang="en-US"/>
          <a:t>我们的课程分为以下六点</a:t>
        </a:r>
      </a:p>
    </p188:txBody>
  </p188:cm>
</p188:cmLst>
</file>

<file path=ppt/comments/modernComment_102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3AE9B410-706A-4C3F-A9F4-7A2855358569}" authorId="{4EDB4E6F-FBD6-FF5D-3947-84D9301DD603}" created="2025-07-16T09:38:34.002">
    <pc:sldMkLst xmlns:pc="http://schemas.microsoft.com/office/powerpoint/2013/main/command">
      <pc:docMk/>
      <pc:sldMk cId="0" sldId="258"/>
    </pc:sldMkLst>
    <p188:txBody>
      <a:bodyPr/>
      <a:lstStyle/>
      <a:p>
        <a:r>
          <a:rPr lang="zh-CN" altLang="en-US"/>
          <a:t>首先让我们来看看人工智能的概述</a:t>
        </a:r>
      </a:p>
    </p188:txBody>
  </p188:cm>
</p188:cmLst>
</file>

<file path=ppt/comments/modernComment_103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8A91E4D3-DA27-42D5-801E-61EBD3B926C8}" authorId="{4EDB4E6F-FBD6-FF5D-3947-84D9301DD603}" created="2025-07-16T09:38:50.443">
    <pc:sldMkLst xmlns:pc="http://schemas.microsoft.com/office/powerpoint/2013/main/command">
      <pc:docMk/>
      <pc:sldMk cId="0" sldId="259"/>
    </pc:sldMkLst>
    <p188:txBody>
      <a:bodyPr/>
      <a:lstStyle/>
      <a:p>
        <a:r>
          <a:rPr lang="zh-CN" altLang="en-US"/>
          <a:t>人工智能的定义</a:t>
        </a:r>
      </a:p>
    </p188:txBody>
  </p188:cm>
</p188:cmLst>
</file>

<file path=ppt/comments/modernComment_104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CA42C315-4111-4C0D-8DE7-DA18A6522F38}" authorId="{4EDB4E6F-FBD6-FF5D-3947-84D9301DD603}" created="2025-07-16T09:39:07.566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60"/>
      <ac:spMk id="23" creationId="{00000000-0000-0000-0000-000000000000}"/>
      <ac:txMk cp="0" len="9">
        <ac:context len="10" hash="4212044392"/>
      </ac:txMk>
    </ac:txMkLst>
    <p188:pos x="3424584" y="785191"/>
    <p188:txBody>
      <a:bodyPr/>
      <a:lstStyle/>
      <a:p>
        <a:r>
          <a:rPr lang="zh-CN" altLang="en-US"/>
          <a:t>人工智能的应用领域有以下四点</a:t>
        </a:r>
      </a:p>
    </p188:txBody>
  </p188:cm>
</p188:cmLst>
</file>

<file path=ppt/comments/modernComment_105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FAE8C295-2F16-4C97-93CA-76C77B6F1B05}" authorId="{4EDB4E6F-FBD6-FF5D-3947-84D9301DD603}" created="2025-07-16T09:39:29.633">
    <pc:sldMkLst xmlns:pc="http://schemas.microsoft.com/office/powerpoint/2013/main/command">
      <pc:docMk/>
      <pc:sldMk cId="0" sldId="261"/>
    </pc:sldMkLst>
    <p188:txBody>
      <a:bodyPr/>
      <a:lstStyle/>
      <a:p>
        <a:r>
          <a:rPr lang="zh-CN" altLang="en-US"/>
          <a:t>接下来看看人工智能流派的概述</a:t>
        </a:r>
      </a:p>
    </p188:txBody>
  </p188:cm>
</p188:cmLst>
</file>

<file path=ppt/comments/modernComment_106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06396C68-8A22-4CAB-91F3-884F7BD9450F}" authorId="{4EDB4E6F-FBD6-FF5D-3947-84D9301DD603}" created="2025-07-16T09:39:55.696">
    <pc:sldMkLst xmlns:pc="http://schemas.microsoft.com/office/powerpoint/2013/main/command">
      <pc:docMk/>
      <pc:sldMk cId="0" sldId="262"/>
    </pc:sldMkLst>
    <p188:txBody>
      <a:bodyPr/>
      <a:lstStyle/>
      <a:p>
        <a:r>
          <a:rPr lang="zh-CN" altLang="en-US"/>
          <a:t>人工智能流派主要分为以下两类</a:t>
        </a:r>
      </a:p>
    </p188:txBody>
  </p188:cm>
</p188:cmLst>
</file>

<file path=ppt/comments/modernComment_107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5BFF7BA3-B326-4FB5-A1FE-81604A8866DA}" authorId="{4EDB4E6F-FBD6-FF5D-3947-84D9301DD603}" created="2025-07-16T09:40:12.251">
    <pc:sldMkLst xmlns:pc="http://schemas.microsoft.com/office/powerpoint/2013/main/command">
      <pc:docMk/>
      <pc:sldMk cId="0" sldId="263"/>
    </pc:sldMkLst>
    <p188:txBody>
      <a:bodyPr/>
      <a:lstStyle/>
      <a:p>
        <a:r>
          <a:rPr lang="zh-CN" altLang="en-US"/>
          <a:t>人工智能流派的影响有如下三点</a:t>
        </a:r>
      </a:p>
    </p188:txBody>
  </p188:cm>
</p188:cmLst>
</file>

<file path=ppt/comments/modernComment_108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25D487E0-67D1-488C-9435-6DC5333160AB}" authorId="{4EDB4E6F-FBD6-FF5D-3947-84D9301DD603}" created="2025-07-16T09:40:27.572">
    <pc:sldMkLst xmlns:pc="http://schemas.microsoft.com/office/powerpoint/2013/main/command">
      <pc:docMk/>
      <pc:sldMk cId="0" sldId="264"/>
    </pc:sldMkLst>
    <p188:txBody>
      <a:bodyPr/>
      <a:lstStyle/>
      <a:p>
        <a:r>
          <a:rPr lang="zh-CN" altLang="en-US"/>
          <a:t>符号主义与规则基础</a:t>
        </a:r>
      </a:p>
    </p188:txBody>
  </p188:cm>
</p188:cmLst>
</file>

<file path=ppt/comments/modernComment_109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E27A535D-AA83-4C6C-80A3-F49CFC498CCD}" authorId="{4EDB4E6F-FBD6-FF5D-3947-84D9301DD603}" created="2025-07-16T09:40:40.728">
    <pc:sldMkLst xmlns:pc="http://schemas.microsoft.com/office/powerpoint/2013/main/command">
      <pc:docMk/>
      <pc:sldMk cId="0" sldId="265"/>
    </pc:sldMkLst>
    <p188:txBody>
      <a:bodyPr/>
      <a:lstStyle/>
      <a:p>
        <a:r>
          <a:rPr lang="zh-CN" altLang="en-US"/>
          <a:t>符号主义的定义与特点</a:t>
        </a:r>
      </a:p>
    </p188:txBody>
  </p188:cm>
</p188:cmLst>
</file>

<file path=ppt/comments/modernComment_110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74CA4A8D-8841-46CB-8D52-0CC14415B3E2}" authorId="{4EDB4E6F-FBD6-FF5D-3947-84D9301DD603}" created="2025-07-16T09:42:44.759">
    <pc:sldMkLst xmlns:pc="http://schemas.microsoft.com/office/powerpoint/2013/main/command">
      <pc:docMk/>
      <pc:sldMk cId="0" sldId="272"/>
    </pc:sldMkLst>
    <p188:txBody>
      <a:bodyPr/>
      <a:lstStyle/>
      <a:p>
        <a:r>
          <a:rPr lang="zh-CN" altLang="en-US"/>
          <a:t>智能代理的角色</a:t>
        </a:r>
      </a:p>
    </p188:txBody>
  </p188:cm>
</p188:cmLst>
</file>

<file path=ppt/comments/modernComment_111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9B2133CA-1B34-4113-AEED-F511908F6EEF}" authorId="{4EDB4E6F-FBD6-FF5D-3947-84D9301DD603}" created="2025-07-16T09:42:59.546">
    <pc:sldMkLst xmlns:pc="http://schemas.microsoft.com/office/powerpoint/2013/main/command">
      <pc:docMk/>
      <pc:sldMk cId="0" sldId="273"/>
    </pc:sldMkLst>
    <p188:txBody>
      <a:bodyPr/>
      <a:lstStyle/>
      <a:p>
        <a:r>
          <a:rPr lang="zh-CN" altLang="en-US"/>
          <a:t>人工智能的伦理与未来展望</a:t>
        </a:r>
      </a:p>
    </p188:txBody>
  </p188:cm>
</p188:cmLst>
</file>

<file path=ppt/comments/modernComment_112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8C9C69DE-22C8-410A-8D81-671935F15878}" authorId="{4EDB4E6F-FBD6-FF5D-3947-84D9301DD603}" created="2025-07-16T09:43:14.581">
    <pc:sldMkLst xmlns:pc="http://schemas.microsoft.com/office/powerpoint/2013/main/command">
      <pc:docMk/>
      <pc:sldMk cId="0" sldId="274"/>
    </pc:sldMkLst>
    <p188:txBody>
      <a:bodyPr/>
      <a:lstStyle/>
      <a:p>
        <a:r>
          <a:rPr lang="zh-CN" altLang="en-US"/>
          <a:t>人工智能的伦理问题有一下几种</a:t>
        </a:r>
      </a:p>
    </p188:txBody>
  </p188:cm>
</p188:cmLst>
</file>

<file path=ppt/comments/modernComment_113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2E5681AC-116C-4CD6-8E36-DCAC824E0853}" authorId="{4EDB4E6F-FBD6-FF5D-3947-84D9301DD603}" created="2025-07-16T09:43:26.548">
    <pc:sldMkLst xmlns:pc="http://schemas.microsoft.com/office/powerpoint/2013/main/command">
      <pc:docMk/>
      <pc:sldMk cId="0" sldId="275"/>
    </pc:sldMkLst>
    <p188:txBody>
      <a:bodyPr/>
      <a:lstStyle/>
      <a:p>
        <a:r>
          <a:rPr lang="zh-CN" altLang="en-US"/>
          <a:t>人工智能的未来发展</a:t>
        </a:r>
      </a:p>
    </p188:txBody>
  </p188:cm>
</p188:cmLst>
</file>

<file path=ppt/comments/modernComment_114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C47BE8B0-B806-40E4-B56D-3CFEDC6B6E42}" authorId="{4EDB4E6F-FBD6-FF5D-3947-84D9301DD603}" created="2025-07-16T09:43:40.450">
    <pc:sldMkLst xmlns:pc="http://schemas.microsoft.com/office/powerpoint/2013/main/command">
      <pc:docMk/>
      <pc:sldMk cId="0" sldId="276"/>
    </pc:sldMkLst>
    <p188:txBody>
      <a:bodyPr/>
      <a:lstStyle/>
      <a:p>
        <a:r>
          <a:rPr lang="zh-CN" altLang="en-US"/>
          <a:t>本节课结束，感谢收看</a:t>
        </a:r>
      </a:p>
    </p188:txBody>
  </p188:cm>
</p188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dt" sz="half" idx="10"/>
          </p:nvPr>
        </p:nvSpPr>
        <p:spPr>
          <a:xfrm>
            <a:off x="4718050" y="6409690"/>
            <a:ext cx="2743200" cy="274320"/>
          </a:xfrm>
          <a:prstGeom prst="rect">
            <a:avLst/>
          </a:prstGeom>
        </p:spPr>
        <p:txBody>
          <a:bodyPr vert="horz" lIns="91440" tIns="45720" rIns="91440" bIns="45720" anchor="t">
            <a:normAutofit/>
          </a:bodyPr>
          <a:lstStyle/>
          <a:p>
            <a:pPr marL="0" algn="l"/>
            <a:r>
              <a:rPr lang="zh-CN" altLang="en-US" sz="1800" b="0" i="0" u="none" baseline="0">
                <a:solidFill>
                  <a:srgbClr val="000000"/>
                </a:solidFill>
                <a:latin typeface="Arial"/>
                <a:ea typeface="Arial"/>
              </a:rPr>
              <a:t>2024/7/24</a:t>
            </a:r>
          </a:p>
        </p:txBody>
      </p:sp>
      <p:sp>
        <p:nvSpPr>
          <p:cNvPr id="3" name="AutoShape 3"/>
          <p:cNvSpPr>
            <a:spLocks noGrp="1"/>
          </p:cNvSpPr>
          <p:nvPr>
            <p:ph type="sldNum" sz="quarter" idx="12"/>
          </p:nvPr>
        </p:nvSpPr>
        <p:spPr>
          <a:xfrm>
            <a:off x="7861300" y="6409690"/>
            <a:ext cx="3657600" cy="274320"/>
          </a:xfrm>
          <a:prstGeom prst="rect">
            <a:avLst/>
          </a:prstGeom>
        </p:spPr>
        <p:txBody>
          <a:bodyPr vert="horz" lIns="91440" tIns="45720" rIns="91440" bIns="45720" anchor="t">
            <a:normAutofit/>
          </a:bodyPr>
          <a:lstStyle/>
          <a:p>
            <a:pPr marL="0" algn="l"/>
            <a:fld id="{3386411A-70EE-422D-B97C-F56BEE3FF077}" type="slidenum">
              <a:rPr lang="en-US" sz="1800" b="0" i="0" u="none" baseline="0">
                <a:solidFill>
                  <a:srgbClr val="000000"/>
                </a:solidFill>
                <a:latin typeface="Arial"/>
                <a:ea typeface="Arial"/>
              </a:rPr>
              <a:t>‹#›</a:t>
            </a:fld>
            <a:endParaRPr lang="en-US" sz="1800" b="0" i="0" u="none" baseline="0">
              <a:solidFill>
                <a:srgbClr val="000000"/>
              </a:solidFill>
              <a:latin typeface="Arial"/>
              <a:ea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1.jpg"/>
          <p:cNvPicPr>
            <a:picLocks noChangeAspect="1"/>
          </p:cNvPicPr>
          <p:nvPr/>
        </p:nvPicPr>
        <p:blipFill>
          <a:blip r:embed="rId2"/>
          <a:srcRect l="160" r="16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048B4">
                  <a:alpha val="90000"/>
                  <a:lumMod val="75000"/>
                </a:srgbClr>
              </a:gs>
              <a:gs pos="70000">
                <a:srgbClr val="0048B4">
                  <a:alpha val="0"/>
                  <a:lumMod val="75000"/>
                </a:srgbClr>
              </a:gs>
            </a:gsLst>
            <a:lin ang="2700000"/>
          </a:gradFill>
          <a:ln cap="flat" cmpd="sng">
            <a:prstDash val="solid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4" name="AutoShape 4"/>
          <p:cNvSpPr>
            <a:spLocks noGrp="1"/>
          </p:cNvSpPr>
          <p:nvPr>
            <p:ph type="title"/>
          </p:nvPr>
        </p:nvSpPr>
        <p:spPr>
          <a:xfrm>
            <a:off x="1047750" y="857250"/>
            <a:ext cx="5810250" cy="1809750"/>
          </a:xfrm>
          <a:prstGeom prst="rect">
            <a:avLst/>
          </a:prstGeom>
        </p:spPr>
        <p:txBody>
          <a:bodyPr vert="horz" lIns="91440" tIns="45720" rIns="91440" bIns="45720" anchor="b">
            <a:norm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6000" b="1" i="0" u="none" baseline="0">
                <a:solidFill>
                  <a:srgbClr val="F0F0F0"/>
                </a:solidFill>
                <a:latin typeface="Arial"/>
                <a:ea typeface="Arial"/>
              </a:rPr>
              <a:t>Presentation Title Goes Here</a:t>
            </a:r>
          </a:p>
        </p:txBody>
      </p:sp>
      <p:sp>
        <p:nvSpPr>
          <p:cNvPr id="5" name="AutoShape 5"/>
          <p:cNvSpPr/>
          <p:nvPr/>
        </p:nvSpPr>
        <p:spPr>
          <a:xfrm>
            <a:off x="1047750" y="3028950"/>
            <a:ext cx="590550" cy="590550"/>
          </a:xfrm>
          <a:prstGeom prst="ellipse">
            <a:avLst/>
          </a:prstGeom>
          <a:noFill/>
          <a:ln w="12700" cap="flat" cmpd="sng">
            <a:solidFill>
              <a:schemeClr val="accent3"/>
            </a:solidFill>
            <a:prstDash val="solid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6" name="AutoShape 6"/>
          <p:cNvSpPr>
            <a:spLocks noGrp="1"/>
          </p:cNvSpPr>
          <p:nvPr>
            <p:ph type="subTitle" idx="1"/>
          </p:nvPr>
        </p:nvSpPr>
        <p:spPr>
          <a:xfrm>
            <a:off x="1924050" y="3028950"/>
            <a:ext cx="3648075" cy="59055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pPr marL="0" indent="0" algn="l">
              <a:lnSpc>
                <a:spcPct val="120000"/>
              </a:lnSpc>
              <a:spcBef>
                <a:spcPts val="1000"/>
              </a:spcBef>
            </a:pPr>
            <a:r>
              <a:rPr lang="en-US" sz="2000" b="0" i="0" u="none" baseline="0">
                <a:solidFill>
                  <a:srgbClr val="FFFFFF"/>
                </a:solidFill>
                <a:latin typeface="Arial"/>
                <a:ea typeface="Arial"/>
              </a:rPr>
              <a:t>Click to add subtitle</a:t>
            </a:r>
          </a:p>
        </p:txBody>
      </p:sp>
      <p:sp>
        <p:nvSpPr>
          <p:cNvPr id="7" name="AutoShape 7"/>
          <p:cNvSpPr>
            <a:spLocks noGrp="1"/>
          </p:cNvSpPr>
          <p:nvPr>
            <p:ph type="body" sz="quarter" idx="13"/>
          </p:nvPr>
        </p:nvSpPr>
        <p:spPr>
          <a:xfrm>
            <a:off x="676275" y="5781674"/>
            <a:ext cx="1666875" cy="34290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1000"/>
              </a:spcBef>
            </a:pPr>
            <a:r>
              <a:rPr lang="en-US" sz="1200" b="0" i="0" u="none" baseline="0">
                <a:solidFill>
                  <a:srgbClr val="FFFFFF"/>
                </a:solidFill>
                <a:latin typeface="Arial"/>
                <a:ea typeface="Arial"/>
              </a:rPr>
              <a:t>Presenter name</a:t>
            </a:r>
          </a:p>
        </p:txBody>
      </p:sp>
      <p:sp>
        <p:nvSpPr>
          <p:cNvPr id="8" name="AutoShape 8"/>
          <p:cNvSpPr/>
          <p:nvPr/>
        </p:nvSpPr>
        <p:spPr>
          <a:xfrm rot="5400000">
            <a:off x="1295400" y="3276600"/>
            <a:ext cx="95250" cy="95250"/>
          </a:xfrm>
          <a:prstGeom prst="triangle">
            <a:avLst/>
          </a:prstGeom>
          <a:solidFill>
            <a:schemeClr val="accent3"/>
          </a:solidFill>
          <a:ln cap="flat" cmpd="sng">
            <a:prstDash val="solid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" name="AutoShap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/>
              <a:srcRect/>
              <a:stretch>
                <a:fillRect l="-360"/>
              </a:stretch>
            </a:blipFill>
            <a:ln cap="flat">
              <a:prstDash val="solid"/>
            </a:ln>
          </p:spPr>
          <p:txBody>
            <a:bodyPr vert="horz" wrap="square" lIns="91440" tIns="45720" rIns="91440" bIns="45720" anchor="ctr">
              <a:normAutofit/>
            </a:bodyPr>
            <a:lstStyle/>
            <a:p>
              <a:pPr marL="0" algn="ctr"/>
              <a:endParaRPr/>
            </a:p>
          </p:txBody>
        </p:sp>
        <p:sp>
          <p:nvSpPr>
            <p:cNvPr id="4" name="AutoShape 4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FFF">
                <a:alpha val="90000"/>
              </a:srgbClr>
            </a:solidFill>
            <a:ln cap="flat" cmpd="sng">
              <a:prstDash val="solid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ctr"/>
              <a:endParaRPr/>
            </a:p>
          </p:txBody>
        </p:sp>
      </p:grpSp>
      <p:sp>
        <p:nvSpPr>
          <p:cNvPr id="5" name="AutoShape 5"/>
          <p:cNvSpPr>
            <a:spLocks noGrp="1"/>
          </p:cNvSpPr>
          <p:nvPr>
            <p:ph type="title"/>
          </p:nvPr>
        </p:nvSpPr>
        <p:spPr>
          <a:xfrm>
            <a:off x="660400" y="0"/>
            <a:ext cx="10858500" cy="1028700"/>
          </a:xfrm>
          <a:prstGeom prst="rect">
            <a:avLst/>
          </a:prstGeom>
        </p:spPr>
        <p:txBody>
          <a:bodyPr vert="horz" lIns="91440" tIns="45720" rIns="91440" bIns="45720" anchor="b">
            <a:norm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800" b="1" i="0" u="none" baseline="0">
                <a:solidFill>
                  <a:srgbClr val="000000"/>
                </a:solidFill>
                <a:latin typeface="Arial"/>
                <a:ea typeface="Arial"/>
              </a:rPr>
              <a:t>Click to add title</a:t>
            </a:r>
          </a:p>
        </p:txBody>
      </p:sp>
      <p:sp>
        <p:nvSpPr>
          <p:cNvPr id="6" name="AutoShape 6"/>
          <p:cNvSpPr>
            <a:spLocks noGrp="1"/>
          </p:cNvSpPr>
          <p:nvPr>
            <p:ph idx="1"/>
          </p:nvPr>
        </p:nvSpPr>
        <p:spPr>
          <a:xfrm>
            <a:off x="660400" y="1092200"/>
            <a:ext cx="10858500" cy="5041900"/>
          </a:xfrm>
          <a:prstGeom prst="rect">
            <a:avLst/>
          </a:prstGeom>
        </p:spPr>
        <p:txBody>
          <a:bodyPr vert="horz" lIns="91440" tIns="45720" rIns="91440" bIns="45720" anchor="t">
            <a:normAutofit/>
          </a:bodyPr>
          <a:lstStyle/>
          <a:p>
            <a:pPr marL="285750" indent="-285750" algn="l">
              <a:lnSpc>
                <a:spcPct val="120000"/>
              </a:lnSpc>
              <a:spcBef>
                <a:spcPts val="1000"/>
              </a:spcBef>
            </a:pPr>
            <a:r>
              <a:rPr lang="en-US" sz="1800" b="0" i="0" u="none" baseline="0">
                <a:solidFill>
                  <a:srgbClr val="000000"/>
                </a:solidFill>
                <a:latin typeface="Arial"/>
                <a:ea typeface="Arial"/>
              </a:rPr>
              <a:t>Click to add text</a:t>
            </a:r>
          </a:p>
          <a:p>
            <a:pPr marL="742950" lvl="1" indent="-285750" algn="l">
              <a:lnSpc>
                <a:spcPct val="120000"/>
              </a:lnSpc>
              <a:spcBef>
                <a:spcPts val="500"/>
              </a:spcBef>
            </a:pPr>
            <a:r>
              <a:rPr lang="en-US" sz="1600" b="0" i="0" u="none" baseline="0">
                <a:solidFill>
                  <a:srgbClr val="000000"/>
                </a:solidFill>
                <a:latin typeface="Arial"/>
                <a:ea typeface="Arial"/>
              </a:rPr>
              <a:t>Second level</a:t>
            </a:r>
          </a:p>
          <a:p>
            <a:pPr marL="1200150" lvl="2" indent="-285750" algn="l">
              <a:lnSpc>
                <a:spcPct val="120000"/>
              </a:lnSpc>
              <a:spcBef>
                <a:spcPts val="500"/>
              </a:spcBef>
            </a:pPr>
            <a:r>
              <a:rPr lang="en-US" sz="1400" b="0" i="0" u="none" baseline="0">
                <a:solidFill>
                  <a:srgbClr val="000000"/>
                </a:solidFill>
                <a:latin typeface="Arial"/>
                <a:ea typeface="Arial"/>
              </a:rPr>
              <a:t>Third level</a:t>
            </a:r>
          </a:p>
          <a:p>
            <a:pPr marL="1657350" lvl="3" indent="-285750" algn="l">
              <a:lnSpc>
                <a:spcPct val="120000"/>
              </a:lnSpc>
              <a:spcBef>
                <a:spcPts val="500"/>
              </a:spcBef>
            </a:pPr>
            <a:r>
              <a:rPr lang="en-US" sz="1200" b="0" i="0" u="none" baseline="0">
                <a:solidFill>
                  <a:srgbClr val="000000"/>
                </a:solidFill>
                <a:latin typeface="Arial"/>
                <a:ea typeface="Arial"/>
              </a:rPr>
              <a:t>Fourth level</a:t>
            </a:r>
          </a:p>
          <a:p>
            <a:pPr marL="2114550" lvl="4" indent="-285750" algn="l">
              <a:lnSpc>
                <a:spcPct val="120000"/>
              </a:lnSpc>
              <a:spcBef>
                <a:spcPts val="500"/>
              </a:spcBef>
            </a:pPr>
            <a:r>
              <a:rPr lang="en-US" sz="1200" b="0" i="0" u="none" baseline="0">
                <a:solidFill>
                  <a:srgbClr val="000000"/>
                </a:solidFill>
                <a:latin typeface="Arial"/>
                <a:ea typeface="Arial"/>
              </a:rPr>
              <a:t>Fifth level</a:t>
            </a:r>
          </a:p>
        </p:txBody>
      </p:sp>
      <p:sp>
        <p:nvSpPr>
          <p:cNvPr id="7" name="AutoShape 7"/>
          <p:cNvSpPr>
            <a:spLocks noGrp="1"/>
          </p:cNvSpPr>
          <p:nvPr>
            <p:ph type="dt" sz="half" idx="10"/>
          </p:nvPr>
        </p:nvSpPr>
        <p:spPr>
          <a:xfrm>
            <a:off x="4718050" y="6409690"/>
            <a:ext cx="2743200" cy="274320"/>
          </a:xfrm>
          <a:prstGeom prst="rect">
            <a:avLst/>
          </a:prstGeom>
        </p:spPr>
        <p:txBody>
          <a:bodyPr vert="horz" lIns="91440" tIns="45720" rIns="91440" bIns="45720" anchor="t">
            <a:normAutofit/>
          </a:bodyPr>
          <a:lstStyle/>
          <a:p>
            <a:pPr marL="0" algn="l"/>
            <a:r>
              <a:rPr lang="zh-CN" altLang="en-US" sz="1800" b="0" i="0" u="none" baseline="0">
                <a:solidFill>
                  <a:srgbClr val="000000"/>
                </a:solidFill>
                <a:latin typeface="Arial"/>
                <a:ea typeface="Arial"/>
              </a:rPr>
              <a:t>2024/7/24</a:t>
            </a:r>
          </a:p>
        </p:txBody>
      </p:sp>
      <p:sp>
        <p:nvSpPr>
          <p:cNvPr id="8" name="AutoShape 8"/>
          <p:cNvSpPr>
            <a:spLocks noGrp="1"/>
          </p:cNvSpPr>
          <p:nvPr>
            <p:ph type="sldNum" sz="quarter" idx="12"/>
          </p:nvPr>
        </p:nvSpPr>
        <p:spPr>
          <a:xfrm>
            <a:off x="7861300" y="6409690"/>
            <a:ext cx="3657600" cy="274320"/>
          </a:xfrm>
          <a:prstGeom prst="rect">
            <a:avLst/>
          </a:prstGeom>
        </p:spPr>
        <p:txBody>
          <a:bodyPr vert="horz" lIns="91440" tIns="45720" rIns="91440" bIns="45720" anchor="t">
            <a:normAutofit/>
          </a:bodyPr>
          <a:lstStyle/>
          <a:p>
            <a:pPr marL="0" algn="l"/>
            <a:fld id="{3386411A-70EE-422D-B97C-F56BEE3FF077}" type="slidenum">
              <a:rPr lang="zh-CN" altLang="en-US" sz="1800" b="0" i="0" u="none" baseline="0">
                <a:solidFill>
                  <a:srgbClr val="000000"/>
                </a:solidFill>
                <a:latin typeface="Arial"/>
                <a:ea typeface="Arial"/>
              </a:rPr>
              <a:t>‹#›</a:t>
            </a:fld>
            <a:endParaRPr lang="zh-CN" altLang="en-US" sz="1800" b="0" i="0" u="none" baseline="0">
              <a:solidFill>
                <a:srgbClr val="000000"/>
              </a:solidFill>
              <a:latin typeface="Arial"/>
              <a:ea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title"/>
          </p:nvPr>
        </p:nvSpPr>
        <p:spPr>
          <a:xfrm>
            <a:off x="660400" y="1500188"/>
            <a:ext cx="2836800" cy="914400"/>
          </a:xfrm>
          <a:prstGeom prst="rect">
            <a:avLst/>
          </a:prstGeom>
        </p:spPr>
        <p:txBody>
          <a:bodyPr vert="horz" wrap="none" lIns="91440" tIns="45720" rIns="91440" bIns="45720" anchor="t">
            <a:normAutofit/>
          </a:bodyPr>
          <a:lstStyle/>
          <a:p>
            <a:pPr algn="r">
              <a:lnSpc>
                <a:spcPct val="100000"/>
              </a:lnSpc>
              <a:spcBef>
                <a:spcPct val="0"/>
              </a:spcBef>
            </a:pPr>
            <a:r>
              <a:rPr lang="en-US" sz="2800" b="1" i="0" u="none" baseline="0">
                <a:solidFill>
                  <a:srgbClr val="FFFFFF"/>
                </a:solidFill>
                <a:latin typeface="Arial"/>
                <a:ea typeface="Arial"/>
              </a:rPr>
              <a:t>Agenda</a:t>
            </a:r>
          </a:p>
        </p:txBody>
      </p:sp>
      <p:sp>
        <p:nvSpPr>
          <p:cNvPr id="3" name="AutoShape 3"/>
          <p:cNvSpPr>
            <a:spLocks noGrp="1"/>
          </p:cNvSpPr>
          <p:nvPr>
            <p:ph sz="quarter" idx="1"/>
          </p:nvPr>
        </p:nvSpPr>
        <p:spPr>
          <a:xfrm>
            <a:off x="3746500" y="1500187"/>
            <a:ext cx="7772400" cy="4633200"/>
          </a:xfrm>
          <a:prstGeom prst="rect">
            <a:avLst/>
          </a:prstGeom>
        </p:spPr>
        <p:txBody>
          <a:bodyPr vert="horz" wrap="square" lIns="91440" tIns="45720" rIns="91440" bIns="45720" anchor="t">
            <a:normAutofit/>
          </a:bodyPr>
          <a:lstStyle/>
          <a:p>
            <a:pPr marL="457200" indent="-457200" algn="l">
              <a:lnSpc>
                <a:spcPct val="130000"/>
              </a:lnSpc>
              <a:spcBef>
                <a:spcPts val="1000"/>
              </a:spcBef>
            </a:pPr>
            <a:r>
              <a:rPr lang="en-US" sz="2400" b="0" i="0" u="none" baseline="0">
                <a:solidFill>
                  <a:srgbClr val="FFFFFF"/>
                </a:solidFill>
                <a:latin typeface="Arial"/>
                <a:ea typeface="Arial"/>
              </a:rPr>
              <a:t>Click to add text</a:t>
            </a:r>
          </a:p>
          <a:p>
            <a:pPr marL="685800" lvl="1" indent="-228600" algn="l">
              <a:lnSpc>
                <a:spcPct val="120000"/>
              </a:lnSpc>
              <a:spcBef>
                <a:spcPts val="500"/>
              </a:spcBef>
            </a:pPr>
            <a:r>
              <a:rPr lang="en-US" sz="1600" b="0" i="0" u="none" baseline="0">
                <a:solidFill>
                  <a:srgbClr val="FFFFFF"/>
                </a:solidFill>
                <a:latin typeface="Arial"/>
                <a:ea typeface="Arial"/>
              </a:rPr>
              <a:t>Second level</a:t>
            </a:r>
          </a:p>
          <a:p>
            <a:pPr marL="1143000" lvl="2" indent="-228600" algn="l">
              <a:lnSpc>
                <a:spcPct val="120000"/>
              </a:lnSpc>
              <a:spcBef>
                <a:spcPts val="500"/>
              </a:spcBef>
            </a:pPr>
            <a:r>
              <a:rPr lang="en-US" sz="1400" b="0" i="0" u="none" baseline="0">
                <a:solidFill>
                  <a:srgbClr val="FFFFFF"/>
                </a:solidFill>
                <a:latin typeface="Arial"/>
                <a:ea typeface="Arial"/>
              </a:rPr>
              <a:t>Third level</a:t>
            </a:r>
          </a:p>
          <a:p>
            <a:pPr marL="1600200" lvl="3" indent="-228600" algn="l">
              <a:lnSpc>
                <a:spcPct val="120000"/>
              </a:lnSpc>
              <a:spcBef>
                <a:spcPts val="500"/>
              </a:spcBef>
            </a:pPr>
            <a:r>
              <a:rPr lang="en-US" sz="1200" b="0" i="0" u="none" baseline="0">
                <a:solidFill>
                  <a:srgbClr val="FFFFFF"/>
                </a:solidFill>
                <a:latin typeface="Arial"/>
                <a:ea typeface="Arial"/>
              </a:rPr>
              <a:t>Fourth level</a:t>
            </a:r>
          </a:p>
          <a:p>
            <a:pPr marL="2057400" lvl="4" indent="-228600" algn="l">
              <a:lnSpc>
                <a:spcPct val="120000"/>
              </a:lnSpc>
              <a:spcBef>
                <a:spcPts val="500"/>
              </a:spcBef>
            </a:pPr>
            <a:r>
              <a:rPr lang="en-US" sz="1200" b="0" i="0" u="none" baseline="0">
                <a:solidFill>
                  <a:srgbClr val="FFFFFF"/>
                </a:solidFill>
                <a:latin typeface="Arial"/>
                <a:ea typeface="Arial"/>
              </a:rPr>
              <a:t>Fifth level</a:t>
            </a:r>
          </a:p>
        </p:txBody>
      </p:sp>
      <p:sp>
        <p:nvSpPr>
          <p:cNvPr id="4" name="AutoShape 4"/>
          <p:cNvSpPr>
            <a:spLocks noGrp="1"/>
          </p:cNvSpPr>
          <p:nvPr>
            <p:ph type="dt" sz="half" idx="10"/>
          </p:nvPr>
        </p:nvSpPr>
        <p:spPr>
          <a:xfrm>
            <a:off x="4718050" y="6409690"/>
            <a:ext cx="2743200" cy="274320"/>
          </a:xfrm>
          <a:prstGeom prst="rect">
            <a:avLst/>
          </a:prstGeom>
        </p:spPr>
        <p:txBody>
          <a:bodyPr vert="horz" lIns="91440" tIns="45720" rIns="91440" bIns="45720" anchor="t">
            <a:normAutofit/>
          </a:bodyPr>
          <a:lstStyle/>
          <a:p>
            <a:pPr marL="0" algn="l"/>
            <a:r>
              <a:rPr lang="zh-CN" altLang="en-US" sz="1800" b="0" i="0" u="none" baseline="0">
                <a:solidFill>
                  <a:srgbClr val="FFFFFF"/>
                </a:solidFill>
                <a:latin typeface="Arial"/>
                <a:ea typeface="Arial"/>
              </a:rPr>
              <a:t>2024/7/24</a:t>
            </a:r>
          </a:p>
        </p:txBody>
      </p:sp>
      <p:sp>
        <p:nvSpPr>
          <p:cNvPr id="5" name="AutoShape 5"/>
          <p:cNvSpPr>
            <a:spLocks noGrp="1"/>
          </p:cNvSpPr>
          <p:nvPr>
            <p:ph type="sldNum" sz="quarter" idx="12"/>
          </p:nvPr>
        </p:nvSpPr>
        <p:spPr>
          <a:xfrm>
            <a:off x="7861300" y="6409690"/>
            <a:ext cx="3657600" cy="274320"/>
          </a:xfrm>
          <a:prstGeom prst="rect">
            <a:avLst/>
          </a:prstGeom>
        </p:spPr>
        <p:txBody>
          <a:bodyPr vert="horz" lIns="91440" tIns="45720" rIns="91440" bIns="45720" anchor="t">
            <a:normAutofit/>
          </a:bodyPr>
          <a:lstStyle/>
          <a:p>
            <a:pPr marL="0" algn="l"/>
            <a:fld id="{3386411A-70EE-422D-B97C-F56BEE3FF077}" type="slidenum">
              <a:rPr lang="en-US" sz="1800" b="0" i="0" u="none" baseline="0">
                <a:solidFill>
                  <a:srgbClr val="FFFFFF"/>
                </a:solidFill>
                <a:latin typeface="Arial"/>
                <a:ea typeface="Arial"/>
              </a:rPr>
              <a:t>‹#›</a:t>
            </a:fld>
            <a:endParaRPr lang="en-US" sz="1800" b="0" i="0" u="none" baseline="0">
              <a:solidFill>
                <a:srgbClr val="FFFFFF"/>
              </a:solidFill>
              <a:latin typeface="Arial"/>
              <a:ea typeface="Arial"/>
            </a:endParaRPr>
          </a:p>
        </p:txBody>
      </p:sp>
      <p:grpSp>
        <p:nvGrpSpPr>
          <p:cNvPr id="6" name="Group 6"/>
          <p:cNvGrpSpPr/>
          <p:nvPr/>
        </p:nvGrpSpPr>
        <p:grpSpPr>
          <a:xfrm>
            <a:off x="2626456" y="1500188"/>
            <a:ext cx="994563" cy="4634686"/>
            <a:chOff x="2626456" y="1500188"/>
            <a:chExt cx="994563" cy="4634686"/>
          </a:xfrm>
        </p:grpSpPr>
        <p:cxnSp>
          <p:nvCxnSpPr>
            <p:cNvPr id="7" name="Connector 7"/>
            <p:cNvCxnSpPr/>
            <p:nvPr/>
          </p:nvCxnSpPr>
          <p:spPr>
            <a:xfrm>
              <a:off x="3621019" y="1500188"/>
              <a:ext cx="0" cy="4633913"/>
            </a:xfrm>
            <a:prstGeom prst="line">
              <a:avLst/>
            </a:prstGeom>
            <a:solidFill>
              <a:srgbClr val="FFCC00"/>
            </a:solidFill>
            <a:ln w="3175" cap="flat">
              <a:solidFill>
                <a:srgbClr val="FFFFFF">
                  <a:alpha val="50000"/>
                </a:srgbClr>
              </a:solidFill>
              <a:prstDash val="solid"/>
            </a:ln>
          </p:spPr>
        </p:cxnSp>
        <p:sp>
          <p:nvSpPr>
            <p:cNvPr id="8" name="Freeform 8"/>
            <p:cNvSpPr/>
            <p:nvPr/>
          </p:nvSpPr>
          <p:spPr>
            <a:xfrm>
              <a:off x="2626456" y="5219207"/>
              <a:ext cx="870506" cy="915667"/>
            </a:xfrm>
            <a:custGeom>
              <a:avLst/>
              <a:gdLst/>
              <a:ahLst/>
              <a:cxnLst/>
              <a:rect l="l" t="t" r="r" b="b"/>
              <a:pathLst>
                <a:path w="5127" h="5401">
                  <a:moveTo>
                    <a:pt x="3473" y="1608"/>
                  </a:moveTo>
                  <a:cubicBezTo>
                    <a:pt x="3473" y="1674"/>
                    <a:pt x="3419" y="1728"/>
                    <a:pt x="3353" y="1728"/>
                  </a:cubicBezTo>
                  <a:lnTo>
                    <a:pt x="2303" y="1728"/>
                  </a:lnTo>
                  <a:cubicBezTo>
                    <a:pt x="2236" y="1728"/>
                    <a:pt x="2183" y="1674"/>
                    <a:pt x="2183" y="1608"/>
                  </a:cubicBezTo>
                  <a:cubicBezTo>
                    <a:pt x="2183" y="1542"/>
                    <a:pt x="2236" y="1488"/>
                    <a:pt x="2303" y="1488"/>
                  </a:cubicBezTo>
                  <a:lnTo>
                    <a:pt x="3353" y="1488"/>
                  </a:lnTo>
                  <a:cubicBezTo>
                    <a:pt x="3419" y="1488"/>
                    <a:pt x="3473" y="1542"/>
                    <a:pt x="3473" y="1608"/>
                  </a:cubicBezTo>
                  <a:close/>
                  <a:moveTo>
                    <a:pt x="3103" y="2231"/>
                  </a:moveTo>
                  <a:cubicBezTo>
                    <a:pt x="3170" y="2231"/>
                    <a:pt x="3223" y="2178"/>
                    <a:pt x="3223" y="2111"/>
                  </a:cubicBezTo>
                  <a:cubicBezTo>
                    <a:pt x="3223" y="2045"/>
                    <a:pt x="3170" y="1991"/>
                    <a:pt x="3103" y="1991"/>
                  </a:cubicBezTo>
                  <a:lnTo>
                    <a:pt x="2552" y="1991"/>
                  </a:lnTo>
                  <a:cubicBezTo>
                    <a:pt x="2486" y="1991"/>
                    <a:pt x="2432" y="2045"/>
                    <a:pt x="2432" y="2111"/>
                  </a:cubicBezTo>
                  <a:cubicBezTo>
                    <a:pt x="2432" y="2178"/>
                    <a:pt x="2486" y="2231"/>
                    <a:pt x="2552" y="2231"/>
                  </a:cubicBezTo>
                  <a:lnTo>
                    <a:pt x="3103" y="2231"/>
                  </a:lnTo>
                  <a:close/>
                  <a:moveTo>
                    <a:pt x="3473" y="2768"/>
                  </a:moveTo>
                  <a:cubicBezTo>
                    <a:pt x="3473" y="2701"/>
                    <a:pt x="3419" y="2648"/>
                    <a:pt x="3353" y="2648"/>
                  </a:cubicBezTo>
                  <a:lnTo>
                    <a:pt x="2303" y="2648"/>
                  </a:lnTo>
                  <a:cubicBezTo>
                    <a:pt x="2236" y="2648"/>
                    <a:pt x="2183" y="2701"/>
                    <a:pt x="2183" y="2768"/>
                  </a:cubicBezTo>
                  <a:cubicBezTo>
                    <a:pt x="2183" y="2834"/>
                    <a:pt x="2236" y="2888"/>
                    <a:pt x="2303" y="2888"/>
                  </a:cubicBezTo>
                  <a:lnTo>
                    <a:pt x="3353" y="2888"/>
                  </a:lnTo>
                  <a:cubicBezTo>
                    <a:pt x="3419" y="2888"/>
                    <a:pt x="3473" y="2834"/>
                    <a:pt x="3473" y="2768"/>
                  </a:cubicBezTo>
                  <a:close/>
                  <a:moveTo>
                    <a:pt x="2552" y="3151"/>
                  </a:moveTo>
                  <a:cubicBezTo>
                    <a:pt x="2486" y="3151"/>
                    <a:pt x="2432" y="3205"/>
                    <a:pt x="2432" y="3271"/>
                  </a:cubicBezTo>
                  <a:cubicBezTo>
                    <a:pt x="2432" y="3338"/>
                    <a:pt x="2486" y="3391"/>
                    <a:pt x="2552" y="3391"/>
                  </a:cubicBezTo>
                  <a:lnTo>
                    <a:pt x="3103" y="3391"/>
                  </a:lnTo>
                  <a:cubicBezTo>
                    <a:pt x="3170" y="3391"/>
                    <a:pt x="3223" y="3338"/>
                    <a:pt x="3223" y="3271"/>
                  </a:cubicBezTo>
                  <a:cubicBezTo>
                    <a:pt x="3223" y="3205"/>
                    <a:pt x="3170" y="3151"/>
                    <a:pt x="3103" y="3151"/>
                  </a:cubicBezTo>
                  <a:lnTo>
                    <a:pt x="2552" y="3151"/>
                  </a:lnTo>
                  <a:close/>
                  <a:moveTo>
                    <a:pt x="4448" y="700"/>
                  </a:moveTo>
                  <a:lnTo>
                    <a:pt x="4448" y="1442"/>
                  </a:lnTo>
                  <a:cubicBezTo>
                    <a:pt x="4448" y="1509"/>
                    <a:pt x="4501" y="1562"/>
                    <a:pt x="4568" y="1562"/>
                  </a:cubicBezTo>
                  <a:cubicBezTo>
                    <a:pt x="4634" y="1562"/>
                    <a:pt x="4688" y="1509"/>
                    <a:pt x="4688" y="1442"/>
                  </a:cubicBezTo>
                  <a:lnTo>
                    <a:pt x="4688" y="700"/>
                  </a:lnTo>
                  <a:cubicBezTo>
                    <a:pt x="4688" y="314"/>
                    <a:pt x="4374" y="0"/>
                    <a:pt x="3988" y="0"/>
                  </a:cubicBezTo>
                  <a:lnTo>
                    <a:pt x="604" y="0"/>
                  </a:lnTo>
                  <a:cubicBezTo>
                    <a:pt x="271" y="0"/>
                    <a:pt x="0" y="271"/>
                    <a:pt x="0" y="604"/>
                  </a:cubicBezTo>
                  <a:lnTo>
                    <a:pt x="0" y="1672"/>
                  </a:lnTo>
                  <a:cubicBezTo>
                    <a:pt x="0" y="1738"/>
                    <a:pt x="53" y="1792"/>
                    <a:pt x="120" y="1792"/>
                  </a:cubicBezTo>
                  <a:lnTo>
                    <a:pt x="566" y="1792"/>
                  </a:lnTo>
                  <a:cubicBezTo>
                    <a:pt x="632" y="1792"/>
                    <a:pt x="686" y="1738"/>
                    <a:pt x="686" y="1672"/>
                  </a:cubicBezTo>
                  <a:cubicBezTo>
                    <a:pt x="686" y="1606"/>
                    <a:pt x="632" y="1552"/>
                    <a:pt x="566" y="1552"/>
                  </a:cubicBezTo>
                  <a:lnTo>
                    <a:pt x="240" y="1552"/>
                  </a:lnTo>
                  <a:lnTo>
                    <a:pt x="240" y="604"/>
                  </a:lnTo>
                  <a:cubicBezTo>
                    <a:pt x="240" y="403"/>
                    <a:pt x="403" y="240"/>
                    <a:pt x="604" y="240"/>
                  </a:cubicBezTo>
                  <a:cubicBezTo>
                    <a:pt x="805" y="240"/>
                    <a:pt x="968" y="403"/>
                    <a:pt x="968" y="604"/>
                  </a:cubicBezTo>
                  <a:lnTo>
                    <a:pt x="968" y="4179"/>
                  </a:lnTo>
                  <a:cubicBezTo>
                    <a:pt x="968" y="4565"/>
                    <a:pt x="1282" y="4879"/>
                    <a:pt x="1668" y="4879"/>
                  </a:cubicBezTo>
                  <a:lnTo>
                    <a:pt x="3904" y="4879"/>
                  </a:lnTo>
                  <a:cubicBezTo>
                    <a:pt x="3970" y="4879"/>
                    <a:pt x="4024" y="4825"/>
                    <a:pt x="4024" y="4759"/>
                  </a:cubicBezTo>
                  <a:cubicBezTo>
                    <a:pt x="4024" y="4693"/>
                    <a:pt x="3970" y="4639"/>
                    <a:pt x="3904" y="4639"/>
                  </a:cubicBezTo>
                  <a:lnTo>
                    <a:pt x="1668" y="4639"/>
                  </a:lnTo>
                  <a:cubicBezTo>
                    <a:pt x="1415" y="4639"/>
                    <a:pt x="1208" y="4433"/>
                    <a:pt x="1208" y="4179"/>
                  </a:cubicBezTo>
                  <a:lnTo>
                    <a:pt x="1208" y="604"/>
                  </a:lnTo>
                  <a:cubicBezTo>
                    <a:pt x="1208" y="468"/>
                    <a:pt x="1163" y="341"/>
                    <a:pt x="1086" y="240"/>
                  </a:cubicBezTo>
                  <a:lnTo>
                    <a:pt x="3988" y="240"/>
                  </a:lnTo>
                  <a:cubicBezTo>
                    <a:pt x="4241" y="240"/>
                    <a:pt x="4448" y="446"/>
                    <a:pt x="4448" y="700"/>
                  </a:cubicBezTo>
                  <a:close/>
                  <a:moveTo>
                    <a:pt x="4787" y="2000"/>
                  </a:moveTo>
                  <a:lnTo>
                    <a:pt x="4568" y="2000"/>
                  </a:lnTo>
                  <a:cubicBezTo>
                    <a:pt x="4501" y="2000"/>
                    <a:pt x="4448" y="2054"/>
                    <a:pt x="4448" y="2120"/>
                  </a:cubicBezTo>
                  <a:cubicBezTo>
                    <a:pt x="4448" y="2187"/>
                    <a:pt x="4501" y="2240"/>
                    <a:pt x="4568" y="2240"/>
                  </a:cubicBezTo>
                  <a:lnTo>
                    <a:pt x="4787" y="2240"/>
                  </a:lnTo>
                  <a:cubicBezTo>
                    <a:pt x="4842" y="2240"/>
                    <a:pt x="4887" y="2285"/>
                    <a:pt x="4887" y="2340"/>
                  </a:cubicBezTo>
                  <a:lnTo>
                    <a:pt x="4887" y="3718"/>
                  </a:lnTo>
                  <a:cubicBezTo>
                    <a:pt x="4887" y="3785"/>
                    <a:pt x="4941" y="3838"/>
                    <a:pt x="5007" y="3838"/>
                  </a:cubicBezTo>
                  <a:cubicBezTo>
                    <a:pt x="5073" y="3838"/>
                    <a:pt x="5127" y="3785"/>
                    <a:pt x="5127" y="3718"/>
                  </a:cubicBezTo>
                  <a:lnTo>
                    <a:pt x="5127" y="2340"/>
                  </a:lnTo>
                  <a:cubicBezTo>
                    <a:pt x="5127" y="2153"/>
                    <a:pt x="4975" y="2000"/>
                    <a:pt x="4787" y="2000"/>
                  </a:cubicBezTo>
                  <a:close/>
                  <a:moveTo>
                    <a:pt x="4568" y="5139"/>
                  </a:moveTo>
                  <a:cubicBezTo>
                    <a:pt x="4501" y="5139"/>
                    <a:pt x="4448" y="5193"/>
                    <a:pt x="4448" y="5259"/>
                  </a:cubicBezTo>
                  <a:lnTo>
                    <a:pt x="4448" y="5281"/>
                  </a:lnTo>
                  <a:cubicBezTo>
                    <a:pt x="4448" y="5347"/>
                    <a:pt x="4501" y="5401"/>
                    <a:pt x="4568" y="5401"/>
                  </a:cubicBezTo>
                  <a:cubicBezTo>
                    <a:pt x="4634" y="5401"/>
                    <a:pt x="4688" y="5347"/>
                    <a:pt x="4688" y="5281"/>
                  </a:cubicBezTo>
                  <a:lnTo>
                    <a:pt x="4688" y="5259"/>
                  </a:lnTo>
                  <a:cubicBezTo>
                    <a:pt x="4688" y="5193"/>
                    <a:pt x="4634" y="5139"/>
                    <a:pt x="4568" y="5139"/>
                  </a:cubicBezTo>
                  <a:close/>
                  <a:moveTo>
                    <a:pt x="4568" y="2439"/>
                  </a:moveTo>
                  <a:cubicBezTo>
                    <a:pt x="4501" y="2439"/>
                    <a:pt x="4448" y="2492"/>
                    <a:pt x="4448" y="2559"/>
                  </a:cubicBezTo>
                  <a:lnTo>
                    <a:pt x="4448" y="4854"/>
                  </a:lnTo>
                  <a:cubicBezTo>
                    <a:pt x="4448" y="4920"/>
                    <a:pt x="4501" y="4974"/>
                    <a:pt x="4568" y="4974"/>
                  </a:cubicBezTo>
                  <a:cubicBezTo>
                    <a:pt x="4634" y="4974"/>
                    <a:pt x="4688" y="4920"/>
                    <a:pt x="4688" y="4854"/>
                  </a:cubicBezTo>
                  <a:lnTo>
                    <a:pt x="4688" y="2559"/>
                  </a:lnTo>
                  <a:cubicBezTo>
                    <a:pt x="4688" y="2492"/>
                    <a:pt x="4634" y="2439"/>
                    <a:pt x="4568" y="2439"/>
                  </a:cubicBezTo>
                  <a:close/>
                </a:path>
              </a:pathLst>
            </a:custGeom>
            <a:solidFill>
              <a:srgbClr val="FFFFFF">
                <a:alpha val="15000"/>
              </a:srgbClr>
            </a:solidFill>
          </p:spPr>
          <p:txBody>
            <a:bodyPr vert="horz" lIns="91440" tIns="45720" rIns="91440" bIns="45720" anchor="t">
              <a:normAutofit/>
            </a:bodyPr>
            <a:lstStyle/>
            <a:p>
              <a:pPr marL="0" algn="l"/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1.jpg"/>
          <p:cNvPicPr>
            <a:picLocks noChangeAspect="1"/>
          </p:cNvPicPr>
          <p:nvPr/>
        </p:nvPicPr>
        <p:blipFill>
          <a:blip r:embed="rId2"/>
          <a:srcRect l="12460" t="12440" r="7790" b="756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048B4">
                  <a:alpha val="90000"/>
                  <a:lumMod val="75000"/>
                </a:srgbClr>
              </a:gs>
              <a:gs pos="70000">
                <a:srgbClr val="0048B4">
                  <a:alpha val="0"/>
                  <a:lumMod val="75000"/>
                </a:srgbClr>
              </a:gs>
            </a:gsLst>
          </a:gradFill>
          <a:ln cap="flat" cmpd="sng">
            <a:prstDash val="solid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4" name="AutoShape 4"/>
          <p:cNvSpPr>
            <a:spLocks noGrp="1"/>
          </p:cNvSpPr>
          <p:nvPr>
            <p:ph type="title"/>
          </p:nvPr>
        </p:nvSpPr>
        <p:spPr>
          <a:xfrm>
            <a:off x="666750" y="3429000"/>
            <a:ext cx="5334000" cy="857250"/>
          </a:xfrm>
          <a:prstGeom prst="rect">
            <a:avLst/>
          </a:prstGeom>
        </p:spPr>
        <p:txBody>
          <a:bodyPr vert="horz" lIns="91440" tIns="45720" rIns="91440" bIns="45720" anchor="b">
            <a:norm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3600" b="1" i="0" u="none" baseline="0">
                <a:solidFill>
                  <a:srgbClr val="F0F0F0"/>
                </a:solidFill>
                <a:latin typeface="Arial"/>
                <a:ea typeface="Arial"/>
              </a:rPr>
              <a:t>Click to add title</a:t>
            </a:r>
          </a:p>
        </p:txBody>
      </p:sp>
      <p:sp>
        <p:nvSpPr>
          <p:cNvPr id="5" name="AutoShape 5"/>
          <p:cNvSpPr>
            <a:spLocks noGrp="1"/>
          </p:cNvSpPr>
          <p:nvPr>
            <p:ph type="subTitle" idx="1"/>
          </p:nvPr>
        </p:nvSpPr>
        <p:spPr>
          <a:xfrm>
            <a:off x="666750" y="4286250"/>
            <a:ext cx="5334000" cy="952500"/>
          </a:xfrm>
          <a:prstGeom prst="rect">
            <a:avLst/>
          </a:prstGeom>
        </p:spPr>
        <p:txBody>
          <a:bodyPr vert="horz" lIns="91440" tIns="45720" rIns="91440" bIns="45720" anchor="t">
            <a:normAutofit/>
          </a:bodyPr>
          <a:lstStyle/>
          <a:p>
            <a:pPr marL="0" indent="0" algn="l">
              <a:lnSpc>
                <a:spcPct val="120000"/>
              </a:lnSpc>
              <a:spcBef>
                <a:spcPts val="1000"/>
              </a:spcBef>
            </a:pPr>
            <a:r>
              <a:rPr lang="en-US" sz="1600" b="0" i="0" u="none" baseline="0">
                <a:solidFill>
                  <a:srgbClr val="F0F0F0"/>
                </a:solidFill>
                <a:latin typeface="Arial"/>
                <a:ea typeface="Arial"/>
              </a:rPr>
              <a:t>Click to add text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title"/>
          </p:nvPr>
        </p:nvSpPr>
        <p:spPr>
          <a:xfrm>
            <a:off x="660399" y="0"/>
            <a:ext cx="10858500" cy="1028700"/>
          </a:xfrm>
          <a:prstGeom prst="rect">
            <a:avLst/>
          </a:prstGeom>
        </p:spPr>
        <p:txBody>
          <a:bodyPr vert="horz" lIns="91440" tIns="45720" rIns="91440" bIns="45720" anchor="b">
            <a:norm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800" b="1" i="0" u="none" baseline="0">
                <a:solidFill>
                  <a:srgbClr val="000000"/>
                </a:solidFill>
                <a:latin typeface="Arial"/>
                <a:ea typeface="Arial"/>
              </a:rPr>
              <a:t>Click to add title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dt" sz="half" idx="10"/>
          </p:nvPr>
        </p:nvSpPr>
        <p:spPr>
          <a:xfrm>
            <a:off x="4718050" y="6409690"/>
            <a:ext cx="2743200" cy="274320"/>
          </a:xfrm>
          <a:prstGeom prst="rect">
            <a:avLst/>
          </a:prstGeom>
        </p:spPr>
        <p:txBody>
          <a:bodyPr vert="horz" lIns="91440" tIns="45720" rIns="91440" bIns="45720" anchor="t">
            <a:normAutofit/>
          </a:bodyPr>
          <a:lstStyle/>
          <a:p>
            <a:pPr marL="0" algn="l"/>
            <a:r>
              <a:rPr lang="zh-CN" altLang="en-US" sz="1800" b="0" i="0" u="none" baseline="0">
                <a:solidFill>
                  <a:srgbClr val="000000"/>
                </a:solidFill>
                <a:latin typeface="Arial"/>
                <a:ea typeface="Arial"/>
              </a:rPr>
              <a:t>2024/7/24</a:t>
            </a:r>
          </a:p>
        </p:txBody>
      </p:sp>
      <p:sp>
        <p:nvSpPr>
          <p:cNvPr id="4" name="AutoShape 4"/>
          <p:cNvSpPr>
            <a:spLocks noGrp="1"/>
          </p:cNvSpPr>
          <p:nvPr>
            <p:ph type="sldNum" sz="quarter" idx="12"/>
          </p:nvPr>
        </p:nvSpPr>
        <p:spPr>
          <a:xfrm>
            <a:off x="7861300" y="6409690"/>
            <a:ext cx="3657600" cy="274320"/>
          </a:xfrm>
          <a:prstGeom prst="rect">
            <a:avLst/>
          </a:prstGeom>
        </p:spPr>
        <p:txBody>
          <a:bodyPr vert="horz" lIns="91440" tIns="45720" rIns="91440" bIns="45720" anchor="t">
            <a:normAutofit/>
          </a:bodyPr>
          <a:lstStyle/>
          <a:p>
            <a:pPr marL="0" algn="l"/>
            <a:fld id="{3386411A-70EE-422D-B97C-F56BEE3FF077}" type="slidenum">
              <a:rPr lang="zh-CN" altLang="en-US" sz="1800" b="0" i="0" u="none" baseline="0">
                <a:solidFill>
                  <a:srgbClr val="000000"/>
                </a:solidFill>
                <a:latin typeface="Arial"/>
                <a:ea typeface="Arial"/>
              </a:rPr>
              <a:t>‹#›</a:t>
            </a:fld>
            <a:endParaRPr lang="zh-CN" altLang="en-US" sz="1800" b="0" i="0" u="none" baseline="0">
              <a:solidFill>
                <a:srgbClr val="000000"/>
              </a:solidFill>
              <a:latin typeface="Arial"/>
              <a:ea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1.jpg"/>
          <p:cNvPicPr>
            <a:picLocks noChangeAspect="1"/>
          </p:cNvPicPr>
          <p:nvPr/>
        </p:nvPicPr>
        <p:blipFill>
          <a:blip r:embed="rId2"/>
          <a:srcRect l="160" r="16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048B4">
                  <a:alpha val="90000"/>
                  <a:lumMod val="75000"/>
                </a:srgbClr>
              </a:gs>
              <a:gs pos="70000">
                <a:srgbClr val="0048B4">
                  <a:alpha val="0"/>
                  <a:lumMod val="75000"/>
                </a:srgbClr>
              </a:gs>
            </a:gsLst>
            <a:lin ang="2700000"/>
          </a:gradFill>
          <a:ln cap="flat" cmpd="sng">
            <a:prstDash val="solid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4" name="AutoShape 4"/>
          <p:cNvSpPr>
            <a:spLocks noGrp="1"/>
          </p:cNvSpPr>
          <p:nvPr>
            <p:ph type="title"/>
          </p:nvPr>
        </p:nvSpPr>
        <p:spPr>
          <a:xfrm>
            <a:off x="1047750" y="857250"/>
            <a:ext cx="5810250" cy="1809750"/>
          </a:xfrm>
          <a:prstGeom prst="rect">
            <a:avLst/>
          </a:prstGeom>
        </p:spPr>
        <p:txBody>
          <a:bodyPr vert="horz" lIns="91440" tIns="45720" rIns="91440" bIns="45720" anchor="b">
            <a:norm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6000" b="1" i="0" u="none" baseline="0">
                <a:solidFill>
                  <a:srgbClr val="F0F0F0"/>
                </a:solidFill>
                <a:latin typeface="Arial"/>
                <a:ea typeface="Arial"/>
              </a:rPr>
              <a:t>Conclusion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title"/>
          </p:nvPr>
        </p:nvSpPr>
        <p:spPr>
          <a:xfrm>
            <a:off x="660400" y="128587"/>
            <a:ext cx="10858500" cy="900112"/>
          </a:xfrm>
          <a:prstGeom prst="rect">
            <a:avLst/>
          </a:prstGeom>
        </p:spPr>
        <p:txBody>
          <a:bodyPr vert="horz" lIns="91440" tIns="45720" rIns="91440" bIns="45720" anchor="b">
            <a:norm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800" b="1" i="0" u="none" baseline="0">
                <a:solidFill>
                  <a:srgbClr val="000000"/>
                </a:solidFill>
                <a:latin typeface="Arial"/>
                <a:ea typeface="Arial"/>
              </a:rPr>
              <a:t>Click to add title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idx="1"/>
          </p:nvPr>
        </p:nvSpPr>
        <p:spPr>
          <a:xfrm>
            <a:off x="660400" y="1130300"/>
            <a:ext cx="10858500" cy="5003800"/>
          </a:xfrm>
          <a:prstGeom prst="rect">
            <a:avLst/>
          </a:prstGeom>
        </p:spPr>
        <p:txBody>
          <a:bodyPr vert="horz" lIns="91440" tIns="45720" rIns="91440" bIns="45720" anchor="t">
            <a:normAutofit/>
          </a:bodyPr>
          <a:lstStyle/>
          <a:p>
            <a:pPr marL="228600" indent="-228600" algn="l">
              <a:lnSpc>
                <a:spcPct val="120000"/>
              </a:lnSpc>
              <a:spcBef>
                <a:spcPts val="1000"/>
              </a:spcBef>
            </a:pPr>
            <a:r>
              <a:rPr lang="en-US" sz="1800" b="0" i="0" u="none" baseline="0">
                <a:solidFill>
                  <a:srgbClr val="000000"/>
                </a:solidFill>
                <a:latin typeface="Arial"/>
                <a:ea typeface="Arial"/>
              </a:rPr>
              <a:t>Click to add text</a:t>
            </a:r>
          </a:p>
          <a:p>
            <a:pPr marL="685800" lvl="1" indent="-228600" algn="l">
              <a:lnSpc>
                <a:spcPct val="120000"/>
              </a:lnSpc>
              <a:spcBef>
                <a:spcPts val="500"/>
              </a:spcBef>
            </a:pPr>
            <a:r>
              <a:rPr lang="en-US" sz="1600" b="0" i="0" u="none" baseline="0">
                <a:solidFill>
                  <a:srgbClr val="000000"/>
                </a:solidFill>
                <a:latin typeface="Arial"/>
                <a:ea typeface="Arial"/>
              </a:rPr>
              <a:t>Second level</a:t>
            </a:r>
          </a:p>
          <a:p>
            <a:pPr marL="1143000" lvl="2" indent="-228600" algn="l">
              <a:lnSpc>
                <a:spcPct val="120000"/>
              </a:lnSpc>
              <a:spcBef>
                <a:spcPts val="500"/>
              </a:spcBef>
            </a:pPr>
            <a:r>
              <a:rPr lang="en-US" sz="1400" b="0" i="0" u="none" baseline="0">
                <a:solidFill>
                  <a:srgbClr val="000000"/>
                </a:solidFill>
                <a:latin typeface="Arial"/>
                <a:ea typeface="Arial"/>
              </a:rPr>
              <a:t>Third level</a:t>
            </a:r>
          </a:p>
          <a:p>
            <a:pPr marL="1600200" lvl="3" indent="-228600" algn="l">
              <a:lnSpc>
                <a:spcPct val="120000"/>
              </a:lnSpc>
              <a:spcBef>
                <a:spcPts val="500"/>
              </a:spcBef>
            </a:pPr>
            <a:r>
              <a:rPr lang="en-US" sz="1200" b="0" i="0" u="none" baseline="0">
                <a:solidFill>
                  <a:srgbClr val="000000"/>
                </a:solidFill>
                <a:latin typeface="Arial"/>
                <a:ea typeface="Arial"/>
              </a:rPr>
              <a:t>Fourth level</a:t>
            </a:r>
          </a:p>
          <a:p>
            <a:pPr marL="2057400" lvl="4" indent="-228600" algn="l">
              <a:lnSpc>
                <a:spcPct val="120000"/>
              </a:lnSpc>
              <a:spcBef>
                <a:spcPts val="500"/>
              </a:spcBef>
            </a:pPr>
            <a:r>
              <a:rPr lang="en-US" sz="1200" b="0" i="0" u="none" baseline="0">
                <a:solidFill>
                  <a:srgbClr val="000000"/>
                </a:solidFill>
                <a:latin typeface="Arial"/>
                <a:ea typeface="Arial"/>
              </a:rPr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00_0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6.jpeg"/><Relationship Id="rId2" Type="http://schemas.microsoft.com/office/2018/10/relationships/comments" Target="../comments/modernComment_101_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02_0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microsoft.com/office/2018/10/relationships/comments" Target="../comments/modernComment_103_0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04_0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05_0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06_0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07_0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08_0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microsoft.com/office/2018/10/relationships/comments" Target="../comments/modernComment_109_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0A_0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0B_0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microsoft.com/office/2018/10/relationships/comments" Target="../comments/modernComment_10C_0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0D_0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0E_0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microsoft.com/office/2018/10/relationships/comments" Target="../comments/modernComment_10F_0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microsoft.com/office/2018/10/relationships/comments" Target="../comments/modernComment_110_0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11_0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12_0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microsoft.com/office/2018/10/relationships/comments" Target="../comments/modernComment_113_0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14_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title"/>
          </p:nvPr>
        </p:nvSpPr>
        <p:spPr>
          <a:xfrm>
            <a:off x="1709389" y="1712585"/>
            <a:ext cx="6795274" cy="2062103"/>
          </a:xfrm>
        </p:spPr>
        <p:txBody>
          <a:bodyPr vert="horz" wrap="square" lIns="91440" tIns="45720" rIns="91440" bIns="45720" anchor="b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zh-CN" altLang="en-US" sz="6400" b="1" i="0" u="none" baseline="0">
                <a:solidFill>
                  <a:schemeClr val="accent1">
                    <a:lumMod val="20000"/>
                    <a:lumOff val="80000"/>
                  </a:schemeClr>
                </a:solidFill>
                <a:latin typeface="微软雅黑"/>
                <a:ea typeface="微软雅黑"/>
              </a:rPr>
              <a:t>第一讲认识人工智能--人工智能主要流派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780011" y="3890471"/>
            <a:ext cx="1235348" cy="307777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l">
              <a:defRPr/>
            </a:pPr>
            <a:r>
              <a:rPr lang="zh-CN" altLang="en-US" sz="1400" b="0" i="0" u="none" baseline="0">
                <a:solidFill>
                  <a:srgbClr val="FFFFFF"/>
                </a:solidFill>
                <a:latin typeface="微软雅黑"/>
                <a:ea typeface="微软雅黑"/>
              </a:rPr>
              <a:t>汇报人</a:t>
            </a:r>
            <a:endParaRPr lang="en-US" sz="1100"/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51840" y="117408"/>
            <a:ext cx="2352567" cy="830997"/>
          </a:xfrm>
          <a:prstGeom prst="rect">
            <a:avLst/>
          </a:prstGeom>
          <a:noFill/>
        </p:spPr>
        <p:txBody>
          <a:bodyPr vert="horz" wrap="none" lIns="0" tIns="45720" rIns="91440" bIns="45720" rtlCol="0" anchor="t">
            <a:spAutoFit/>
          </a:bodyPr>
          <a:lstStyle/>
          <a:p>
            <a:pPr marL="0" algn="l">
              <a:lnSpc>
                <a:spcPct val="100000"/>
              </a:lnSpc>
              <a:defRPr/>
            </a:pPr>
            <a:r>
              <a:rPr lang="en-US" sz="4800" b="1" i="0" u="none" baseline="0">
                <a:solidFill>
                  <a:srgbClr val="000000"/>
                </a:solidFill>
                <a:latin typeface="Arial"/>
                <a:ea typeface="Arial"/>
              </a:rPr>
              <a:t>Agenda</a:t>
            </a:r>
            <a:endParaRPr lang="en-US" sz="1100"/>
          </a:p>
        </p:txBody>
      </p:sp>
      <p:sp>
        <p:nvSpPr>
          <p:cNvPr id="3" name="TextBox 3"/>
          <p:cNvSpPr txBox="1"/>
          <p:nvPr/>
        </p:nvSpPr>
        <p:spPr>
          <a:xfrm>
            <a:off x="910274" y="842698"/>
            <a:ext cx="967869" cy="923330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ctr">
            <a:spAutoFit/>
          </a:bodyPr>
          <a:lstStyle/>
          <a:p>
            <a:pPr marL="0" algn="r">
              <a:defRPr/>
            </a:pPr>
            <a:r>
              <a:rPr lang="en-US" sz="5400" b="1" i="0" u="none" baseline="0">
                <a:solidFill>
                  <a:srgbClr val="778495"/>
                </a:solidFill>
                <a:latin typeface="Arial"/>
                <a:ea typeface="Arial"/>
              </a:rPr>
              <a:t>01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668612" y="1659117"/>
            <a:ext cx="1826141" cy="338554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wrap="square" lIns="91440" tIns="45720" rIns="91440" bIns="45720" anchor="t">
            <a:spAutoFit/>
          </a:bodyPr>
          <a:lstStyle/>
          <a:p>
            <a:pPr marL="0" algn="ctr">
              <a:lnSpc>
                <a:spcPct val="100000"/>
              </a:lnSpc>
            </a:pPr>
            <a:r>
              <a:rPr lang="zh-CN" altLang="en-US" sz="16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人工智能概述</a:t>
            </a:r>
          </a:p>
        </p:txBody>
      </p:sp>
      <p:sp>
        <p:nvSpPr>
          <p:cNvPr id="5" name="AutoShape 5"/>
          <p:cNvSpPr/>
          <p:nvPr/>
        </p:nvSpPr>
        <p:spPr>
          <a:xfrm>
            <a:off x="637011" y="2365557"/>
            <a:ext cx="1659261" cy="1320030"/>
          </a:xfrm>
          <a:prstGeom prst="roundRect">
            <a:avLst>
              <a:gd name="adj" fmla="val 0"/>
            </a:avLst>
          </a:prstGeom>
          <a:blipFill>
            <a:blip r:embed="rId3"/>
            <a:srcRect/>
            <a:stretch>
              <a:fillRect l="-39670" r="-39670"/>
            </a:stretch>
          </a:blipFill>
          <a:ln cap="flat">
            <a:prstDash val="solid"/>
          </a:ln>
        </p:spPr>
        <p:txBody>
          <a:bodyPr rot="0" vert="horz" wrap="square" lIns="91440" tIns="45720" rIns="91440" bIns="45720" anchor="ctr">
            <a:prstTxWarp prst="textNoShape">
              <a:avLst/>
            </a:prstTxWarp>
            <a:noAutofit/>
          </a:bodyPr>
          <a:lstStyle/>
          <a:p>
            <a:pPr marL="0" algn="ctr"/>
            <a:endParaRPr/>
          </a:p>
        </p:txBody>
      </p:sp>
      <p:sp>
        <p:nvSpPr>
          <p:cNvPr id="6" name="TextBox 6"/>
          <p:cNvSpPr txBox="1"/>
          <p:nvPr/>
        </p:nvSpPr>
        <p:spPr>
          <a:xfrm>
            <a:off x="2770101" y="3228411"/>
            <a:ext cx="967869" cy="923330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ctr">
            <a:spAutoFit/>
          </a:bodyPr>
          <a:lstStyle/>
          <a:p>
            <a:pPr marL="0" algn="r">
              <a:defRPr/>
            </a:pPr>
            <a:r>
              <a:rPr lang="en-US" sz="5400" b="1" i="0" u="none" baseline="0">
                <a:solidFill>
                  <a:schemeClr val="accent1"/>
                </a:solidFill>
                <a:latin typeface="Arial"/>
                <a:ea typeface="Arial"/>
              </a:rPr>
              <a:t>02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2296273" y="4151741"/>
            <a:ext cx="2098252" cy="338554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wrap="square" lIns="91440" tIns="45720" rIns="91440" bIns="45720" anchor="t">
            <a:spAutoFit/>
          </a:bodyPr>
          <a:lstStyle/>
          <a:p>
            <a:pPr marL="0" algn="ctr">
              <a:lnSpc>
                <a:spcPct val="100000"/>
              </a:lnSpc>
            </a:pPr>
            <a:r>
              <a:rPr lang="zh-CN" altLang="en-US" sz="16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人工智能流派概述</a:t>
            </a:r>
          </a:p>
        </p:txBody>
      </p:sp>
      <p:sp>
        <p:nvSpPr>
          <p:cNvPr id="8" name="AutoShape 8"/>
          <p:cNvSpPr/>
          <p:nvPr/>
        </p:nvSpPr>
        <p:spPr>
          <a:xfrm>
            <a:off x="2510704" y="4809308"/>
            <a:ext cx="1659261" cy="1320030"/>
          </a:xfrm>
          <a:prstGeom prst="roundRect">
            <a:avLst>
              <a:gd name="adj" fmla="val 0"/>
            </a:avLst>
          </a:prstGeom>
          <a:blipFill>
            <a:blip r:embed="rId4"/>
            <a:srcRect/>
            <a:stretch>
              <a:fillRect l="-10620" r="-10620"/>
            </a:stretch>
          </a:blipFill>
          <a:ln cap="flat">
            <a:prstDash val="solid"/>
          </a:ln>
        </p:spPr>
        <p:txBody>
          <a:bodyPr rot="0" vert="horz" wrap="square" lIns="91440" tIns="45720" rIns="91440" bIns="45720" anchor="ctr">
            <a:prstTxWarp prst="textNoShape">
              <a:avLst/>
            </a:prstTxWarp>
            <a:noAutofit/>
          </a:bodyPr>
          <a:lstStyle/>
          <a:p>
            <a:pPr marL="0" algn="ctr"/>
            <a:endParaRPr/>
          </a:p>
        </p:txBody>
      </p:sp>
      <p:sp>
        <p:nvSpPr>
          <p:cNvPr id="9" name="TextBox 9"/>
          <p:cNvSpPr txBox="1"/>
          <p:nvPr/>
        </p:nvSpPr>
        <p:spPr>
          <a:xfrm>
            <a:off x="4460528" y="843326"/>
            <a:ext cx="967869" cy="923330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ctr">
            <a:spAutoFit/>
          </a:bodyPr>
          <a:lstStyle/>
          <a:p>
            <a:pPr marL="0" algn="r">
              <a:defRPr/>
            </a:pPr>
            <a:r>
              <a:rPr lang="en-US" sz="5400" b="1" i="0" u="none" baseline="0">
                <a:solidFill>
                  <a:srgbClr val="778495"/>
                </a:solidFill>
                <a:latin typeface="Arial"/>
                <a:ea typeface="Arial"/>
              </a:rPr>
              <a:t>03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101738" y="1659117"/>
            <a:ext cx="2192558" cy="338554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wrap="square" lIns="91440" tIns="45720" rIns="91440" bIns="45720" anchor="t">
            <a:spAutoFit/>
          </a:bodyPr>
          <a:lstStyle/>
          <a:p>
            <a:pPr marL="0" algn="ctr">
              <a:lnSpc>
                <a:spcPct val="100000"/>
              </a:lnSpc>
            </a:pPr>
            <a:r>
              <a:rPr lang="zh-CN" altLang="en-US" sz="16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符号主义与规则基础</a:t>
            </a:r>
          </a:p>
        </p:txBody>
      </p:sp>
      <p:sp>
        <p:nvSpPr>
          <p:cNvPr id="11" name="AutoShape 11"/>
          <p:cNvSpPr/>
          <p:nvPr/>
        </p:nvSpPr>
        <p:spPr>
          <a:xfrm>
            <a:off x="4384397" y="2365557"/>
            <a:ext cx="1659261" cy="1320030"/>
          </a:xfrm>
          <a:prstGeom prst="roundRect">
            <a:avLst>
              <a:gd name="adj" fmla="val 0"/>
            </a:avLst>
          </a:prstGeom>
          <a:blipFill>
            <a:blip r:embed="rId5"/>
            <a:srcRect/>
            <a:stretch>
              <a:fillRect l="-10530" r="-10530"/>
            </a:stretch>
          </a:blipFill>
          <a:ln cap="flat">
            <a:prstDash val="solid"/>
          </a:ln>
        </p:spPr>
        <p:txBody>
          <a:bodyPr rot="0" vert="horz" wrap="square" lIns="91440" tIns="45720" rIns="91440" bIns="45720" anchor="ctr">
            <a:prstTxWarp prst="textNoShape">
              <a:avLst/>
            </a:prstTxWarp>
            <a:noAutofit/>
          </a:bodyPr>
          <a:lstStyle/>
          <a:p>
            <a:pPr marL="0" algn="ctr"/>
            <a:endParaRPr/>
          </a:p>
        </p:txBody>
      </p:sp>
      <p:sp>
        <p:nvSpPr>
          <p:cNvPr id="12" name="TextBox 12"/>
          <p:cNvSpPr txBox="1"/>
          <p:nvPr/>
        </p:nvSpPr>
        <p:spPr>
          <a:xfrm>
            <a:off x="6356486" y="3228411"/>
            <a:ext cx="967870" cy="923330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ctr">
            <a:spAutoFit/>
          </a:bodyPr>
          <a:lstStyle/>
          <a:p>
            <a:pPr marL="0" algn="r">
              <a:defRPr/>
            </a:pPr>
            <a:r>
              <a:rPr lang="en-US" sz="5400" b="1" i="0" u="none" baseline="0">
                <a:solidFill>
                  <a:srgbClr val="778495"/>
                </a:solidFill>
                <a:latin typeface="Arial"/>
                <a:ea typeface="Arial"/>
              </a:rPr>
              <a:t>04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043658" y="4205921"/>
            <a:ext cx="2086067" cy="338554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wrap="square" lIns="91440" tIns="45720" rIns="91440" bIns="45720" anchor="t">
            <a:spAutoFit/>
          </a:bodyPr>
          <a:lstStyle/>
          <a:p>
            <a:pPr marL="0" algn="ctr">
              <a:lnSpc>
                <a:spcPct val="100000"/>
              </a:lnSpc>
            </a:pPr>
            <a:r>
              <a:rPr lang="zh-CN" altLang="en-US" sz="16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连接主义的思维模式</a:t>
            </a:r>
          </a:p>
        </p:txBody>
      </p:sp>
      <p:sp>
        <p:nvSpPr>
          <p:cNvPr id="14" name="AutoShape 14"/>
          <p:cNvSpPr/>
          <p:nvPr/>
        </p:nvSpPr>
        <p:spPr>
          <a:xfrm>
            <a:off x="6258090" y="4809308"/>
            <a:ext cx="1659262" cy="1320030"/>
          </a:xfrm>
          <a:prstGeom prst="roundRect">
            <a:avLst>
              <a:gd name="adj" fmla="val 0"/>
            </a:avLst>
          </a:prstGeom>
          <a:blipFill>
            <a:blip r:embed="rId6"/>
            <a:srcRect/>
            <a:stretch>
              <a:fillRect l="-32769" r="-32769"/>
            </a:stretch>
          </a:blipFill>
          <a:ln cap="flat">
            <a:prstDash val="solid"/>
          </a:ln>
        </p:spPr>
        <p:txBody>
          <a:bodyPr rot="0" vert="horz" wrap="square" lIns="91440" tIns="45720" rIns="91440" bIns="45720" anchor="ctr">
            <a:prstTxWarp prst="textNoShape">
              <a:avLst/>
            </a:prstTxWarp>
            <a:noAutofit/>
          </a:bodyPr>
          <a:lstStyle/>
          <a:p>
            <a:pPr marL="0" algn="ctr"/>
            <a:endParaRPr/>
          </a:p>
        </p:txBody>
      </p:sp>
      <p:sp>
        <p:nvSpPr>
          <p:cNvPr id="15" name="TextBox 15"/>
          <p:cNvSpPr txBox="1"/>
          <p:nvPr/>
        </p:nvSpPr>
        <p:spPr>
          <a:xfrm>
            <a:off x="8409197" y="843326"/>
            <a:ext cx="954108" cy="923330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ctr">
            <a:spAutoFit/>
          </a:bodyPr>
          <a:lstStyle/>
          <a:p>
            <a:pPr marL="0" algn="r">
              <a:defRPr/>
            </a:pPr>
            <a:r>
              <a:rPr lang="en-US" sz="5400" b="1" i="0" u="none" baseline="0">
                <a:solidFill>
                  <a:srgbClr val="778495"/>
                </a:solidFill>
                <a:latin typeface="Arial"/>
                <a:ea typeface="Arial"/>
              </a:rPr>
              <a:t>05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917353" y="1631161"/>
            <a:ext cx="2192558" cy="338554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wrap="square" lIns="91440" tIns="45720" rIns="91440" bIns="45720" anchor="t">
            <a:spAutoFit/>
          </a:bodyPr>
          <a:lstStyle/>
          <a:p>
            <a:pPr marL="0" algn="ctr">
              <a:lnSpc>
                <a:spcPct val="100000"/>
              </a:lnSpc>
            </a:pPr>
            <a:r>
              <a:rPr lang="zh-CN" altLang="en-US" sz="16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演化计算与智能代理</a:t>
            </a:r>
          </a:p>
        </p:txBody>
      </p:sp>
      <p:sp>
        <p:nvSpPr>
          <p:cNvPr id="17" name="AutoShape 17"/>
          <p:cNvSpPr/>
          <p:nvPr/>
        </p:nvSpPr>
        <p:spPr>
          <a:xfrm>
            <a:off x="8131784" y="2327652"/>
            <a:ext cx="1659262" cy="1320030"/>
          </a:xfrm>
          <a:prstGeom prst="roundRect">
            <a:avLst>
              <a:gd name="adj" fmla="val 0"/>
            </a:avLst>
          </a:prstGeom>
          <a:blipFill>
            <a:blip r:embed="rId7"/>
            <a:srcRect/>
            <a:stretch>
              <a:fillRect l="-10620" r="-10620"/>
            </a:stretch>
          </a:blipFill>
          <a:ln cap="flat">
            <a:prstDash val="solid"/>
          </a:ln>
        </p:spPr>
        <p:txBody>
          <a:bodyPr rot="0" vert="horz" wrap="square" lIns="91440" tIns="45720" rIns="91440" bIns="45720" anchor="ctr">
            <a:prstTxWarp prst="textNoShape">
              <a:avLst/>
            </a:prstTxWarp>
            <a:noAutofit/>
          </a:bodyPr>
          <a:lstStyle/>
          <a:p>
            <a:pPr marL="0" algn="ctr"/>
            <a:endParaRPr/>
          </a:p>
        </p:txBody>
      </p:sp>
      <p:sp>
        <p:nvSpPr>
          <p:cNvPr id="18" name="TextBox 18"/>
          <p:cNvSpPr txBox="1"/>
          <p:nvPr/>
        </p:nvSpPr>
        <p:spPr>
          <a:xfrm>
            <a:off x="10134641" y="3228411"/>
            <a:ext cx="954108" cy="923330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ctr">
            <a:spAutoFit/>
          </a:bodyPr>
          <a:lstStyle/>
          <a:p>
            <a:pPr marL="0" algn="r">
              <a:defRPr/>
            </a:pPr>
            <a:r>
              <a:rPr lang="en-US" sz="5400" b="1" i="0" u="none" baseline="0">
                <a:solidFill>
                  <a:srgbClr val="778495"/>
                </a:solidFill>
                <a:latin typeface="Arial"/>
                <a:ea typeface="Arial"/>
              </a:rPr>
              <a:t>06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9897943" y="4240003"/>
            <a:ext cx="1620957" cy="338554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wrap="square" lIns="91440" tIns="45720" rIns="91440" bIns="45720" anchor="t">
            <a:spAutoFit/>
          </a:bodyPr>
          <a:lstStyle/>
          <a:p>
            <a:pPr marL="0" algn="ctr">
              <a:lnSpc>
                <a:spcPct val="100000"/>
              </a:lnSpc>
            </a:pPr>
            <a:r>
              <a:rPr lang="zh-CN" altLang="en-US" sz="16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人工智能的伦理与未来展望</a:t>
            </a:r>
          </a:p>
        </p:txBody>
      </p:sp>
      <p:sp>
        <p:nvSpPr>
          <p:cNvPr id="20" name="AutoShape 20"/>
          <p:cNvSpPr/>
          <p:nvPr/>
        </p:nvSpPr>
        <p:spPr>
          <a:xfrm>
            <a:off x="10005480" y="4827503"/>
            <a:ext cx="1513420" cy="1320030"/>
          </a:xfrm>
          <a:prstGeom prst="roundRect">
            <a:avLst>
              <a:gd name="adj" fmla="val 0"/>
            </a:avLst>
          </a:prstGeom>
          <a:blipFill>
            <a:blip r:embed="rId5"/>
            <a:srcRect/>
            <a:stretch>
              <a:fillRect l="-10530" r="-10530"/>
            </a:stretch>
          </a:blipFill>
          <a:ln cap="flat">
            <a:prstDash val="solid"/>
          </a:ln>
        </p:spPr>
        <p:txBody>
          <a:bodyPr rot="0" vert="horz" wrap="square" lIns="91440" tIns="45720" rIns="91440" bIns="45720" anchor="ctr">
            <a:prstTxWarp prst="textNoShape">
              <a:avLst/>
            </a:prstTxWarp>
            <a:noAutofit/>
          </a:bodyPr>
          <a:lstStyle/>
          <a:p>
            <a:pPr marL="0" algn="ctr"/>
            <a:endParaRPr/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title"/>
          </p:nvPr>
        </p:nvSpPr>
        <p:spPr>
          <a:xfrm>
            <a:off x="1759568" y="2145656"/>
            <a:ext cx="8358303" cy="646331"/>
          </a:xfrm>
        </p:spPr>
        <p:txBody>
          <a:bodyPr vert="horz" wrap="square" lIns="91440" tIns="45720" rIns="91440" b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3600" b="1" i="0" u="none" baseline="0">
                <a:solidFill>
                  <a:srgbClr val="F0F0F0"/>
                </a:solidFill>
                <a:latin typeface="微软雅黑"/>
                <a:ea typeface="微软雅黑"/>
              </a:rPr>
              <a:t>人工智能概述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94652" y="2126166"/>
            <a:ext cx="750849" cy="707886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l">
              <a:defRPr/>
            </a:pPr>
            <a:r>
              <a:rPr lang="en-US" sz="4000" b="1" i="0" u="none" baseline="0">
                <a:solidFill>
                  <a:srgbClr val="FFFFFF"/>
                </a:solidFill>
                <a:latin typeface="Arial"/>
                <a:ea typeface="Arial"/>
              </a:rPr>
              <a:t>01</a:t>
            </a:r>
            <a:endParaRPr lang="en-US" sz="1100"/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457943" y="1471070"/>
            <a:ext cx="7557486" cy="1390057"/>
          </a:xfrm>
          <a:prstGeom prst="roundRect">
            <a:avLst>
              <a:gd name="adj" fmla="val 3500"/>
            </a:avLst>
          </a:prstGeom>
          <a:solidFill>
            <a:srgbClr val="000000">
              <a:alpha val="5000"/>
              <a:lumMod val="95000"/>
              <a:lumOff val="5000"/>
            </a:srgbClr>
          </a:solidFill>
          <a:ln cap="flat">
            <a:prstDash val="solid"/>
          </a:ln>
        </p:spPr>
        <p:txBody>
          <a:bodyPr rot="0" vert="horz" wrap="square" lIns="91440" tIns="45720" rIns="91440" bIns="45720" anchor="ctr">
            <a:prstTxWarp prst="textNoShape">
              <a:avLst/>
            </a:prstTxWarp>
            <a:noAutofit/>
          </a:bodyPr>
          <a:lstStyle/>
          <a:p>
            <a:pPr marL="0" algn="ctr"/>
            <a:endParaRPr/>
          </a:p>
        </p:txBody>
      </p:sp>
      <p:sp>
        <p:nvSpPr>
          <p:cNvPr id="3" name="TextBox 3"/>
          <p:cNvSpPr txBox="1"/>
          <p:nvPr/>
        </p:nvSpPr>
        <p:spPr>
          <a:xfrm>
            <a:off x="2203099" y="1991245"/>
            <a:ext cx="6812330" cy="845616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l">
              <a:lnSpc>
                <a:spcPct val="120000"/>
              </a:lnSpc>
              <a:defRPr/>
            </a:pPr>
            <a:r>
              <a:rPr lang="zh-CN" altLang="en-US" sz="1400" b="0" i="0" u="none" baseline="0">
                <a:solidFill>
                  <a:srgbClr val="000000"/>
                </a:solidFill>
                <a:latin typeface="微软雅黑"/>
                <a:ea typeface="微软雅黑"/>
              </a:rPr>
              <a:t>人工智能，简称AI，是让机器模拟人类智能行为的技术，包括学习、推理和自我修正。其核心在于依据大量数据进行自我学习，并通过算法优化决策过程，增强自动化能力。</a:t>
            </a:r>
            <a:endParaRPr lang="en-US" sz="1100"/>
          </a:p>
        </p:txBody>
      </p:sp>
      <p:sp>
        <p:nvSpPr>
          <p:cNvPr id="4" name="TextBox 4"/>
          <p:cNvSpPr txBox="1"/>
          <p:nvPr/>
        </p:nvSpPr>
        <p:spPr>
          <a:xfrm>
            <a:off x="2203099" y="1638137"/>
            <a:ext cx="6812330" cy="338554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b">
            <a:spAutoFit/>
          </a:bodyPr>
          <a:lstStyle/>
          <a:p>
            <a:pPr marL="0" algn="l">
              <a:lnSpc>
                <a:spcPct val="100000"/>
              </a:lnSpc>
              <a:defRPr/>
            </a:pPr>
            <a:r>
              <a:rPr lang="zh-CN" altLang="en-US" sz="1600" b="1" i="0" u="none" baseline="0">
                <a:solidFill>
                  <a:schemeClr val="accent4"/>
                </a:solidFill>
                <a:latin typeface="微软雅黑"/>
                <a:ea typeface="微软雅黑"/>
              </a:rPr>
              <a:t>人工智能的基本概念</a:t>
            </a:r>
            <a:endParaRPr lang="en-US" sz="1100"/>
          </a:p>
        </p:txBody>
      </p:sp>
      <p:grpSp>
        <p:nvGrpSpPr>
          <p:cNvPr id="5" name="Group 5"/>
          <p:cNvGrpSpPr/>
          <p:nvPr/>
        </p:nvGrpSpPr>
        <p:grpSpPr>
          <a:xfrm>
            <a:off x="889102" y="1604342"/>
            <a:ext cx="1123514" cy="1123512"/>
            <a:chOff x="5801161" y="2030507"/>
            <a:chExt cx="900002" cy="900000"/>
          </a:xfrm>
        </p:grpSpPr>
        <p:sp>
          <p:nvSpPr>
            <p:cNvPr id="6" name="AutoShape 6"/>
            <p:cNvSpPr/>
            <p:nvPr/>
          </p:nvSpPr>
          <p:spPr>
            <a:xfrm>
              <a:off x="5801161" y="2030507"/>
              <a:ext cx="900002" cy="900000"/>
            </a:xfrm>
            <a:prstGeom prst="ellipse">
              <a:avLst/>
            </a:prstGeom>
            <a:solidFill>
              <a:srgbClr val="000000">
                <a:alpha val="10000"/>
                <a:lumMod val="50000"/>
                <a:lumOff val="50000"/>
              </a:srgbClr>
            </a:solidFill>
            <a:ln cap="flat" cmpd="sng">
              <a:prstDash val="solid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ctr"/>
              <a:endParaRPr/>
            </a:p>
          </p:txBody>
        </p:sp>
        <p:grpSp>
          <p:nvGrpSpPr>
            <p:cNvPr id="7" name="Group 7"/>
            <p:cNvGrpSpPr/>
            <p:nvPr/>
          </p:nvGrpSpPr>
          <p:grpSpPr>
            <a:xfrm>
              <a:off x="5981164" y="2210507"/>
              <a:ext cx="540001" cy="540000"/>
              <a:chOff x="3495616" y="1637616"/>
              <a:chExt cx="444222" cy="444220"/>
            </a:xfrm>
          </p:grpSpPr>
          <p:sp>
            <p:nvSpPr>
              <p:cNvPr id="8" name="AutoShape 8"/>
              <p:cNvSpPr/>
              <p:nvPr/>
            </p:nvSpPr>
            <p:spPr>
              <a:xfrm>
                <a:off x="3495616" y="1637616"/>
                <a:ext cx="444222" cy="444220"/>
              </a:xfrm>
              <a:prstGeom prst="ellipse">
                <a:avLst/>
              </a:prstGeom>
              <a:gradFill>
                <a:gsLst>
                  <a:gs pos="0">
                    <a:srgbClr val="006BE2">
                      <a:lumMod val="60000"/>
                      <a:lumOff val="40000"/>
                    </a:srgbClr>
                  </a:gs>
                  <a:gs pos="60000">
                    <a:srgbClr val="006BE2"/>
                  </a:gs>
                </a:gsLst>
                <a:lin ang="2700000"/>
              </a:gradFill>
              <a:ln cap="rnd" cmpd="sng">
                <a:prstDash val="solid"/>
              </a:ln>
              <a:effectLst>
                <a:outerShdw blurRad="76200" dist="50800" dir="5400000" algn="ctr" rotWithShape="0">
                  <a:schemeClr val="accent4">
                    <a:alpha val="20000"/>
                  </a:schemeClr>
                </a:outerShdw>
              </a:effectLst>
            </p:spPr>
            <p:txBody>
              <a:bodyPr rot="0" vert="horz" wrap="square" lIns="91440" tIns="45720" rIns="91440" bIns="45720" anchor="ctr">
                <a:normAutofit/>
              </a:bodyPr>
              <a:lstStyle/>
              <a:p>
                <a:pPr marL="0" algn="ctr"/>
                <a:endParaRPr/>
              </a:p>
            </p:txBody>
          </p:sp>
          <p:sp>
            <p:nvSpPr>
              <p:cNvPr id="9" name="Freeform 9"/>
              <p:cNvSpPr/>
              <p:nvPr/>
            </p:nvSpPr>
            <p:spPr>
              <a:xfrm>
                <a:off x="3614946" y="1789643"/>
                <a:ext cx="205561" cy="163687"/>
              </a:xfrm>
              <a:custGeom>
                <a:avLst/>
                <a:gdLst/>
                <a:ahLst/>
                <a:cxnLst/>
                <a:rect l="l" t="t" r="r" b="b"/>
                <a:pathLst>
                  <a:path w="514350" h="409575">
                    <a:moveTo>
                      <a:pt x="486767" y="621"/>
                    </a:moveTo>
                    <a:cubicBezTo>
                      <a:pt x="502579" y="621"/>
                      <a:pt x="515342" y="13385"/>
                      <a:pt x="515342" y="29196"/>
                    </a:cubicBezTo>
                    <a:lnTo>
                      <a:pt x="515342" y="324471"/>
                    </a:lnTo>
                    <a:cubicBezTo>
                      <a:pt x="515342" y="340282"/>
                      <a:pt x="502579" y="353046"/>
                      <a:pt x="486767" y="353046"/>
                    </a:cubicBezTo>
                    <a:lnTo>
                      <a:pt x="192159" y="353046"/>
                    </a:lnTo>
                    <a:lnTo>
                      <a:pt x="115387" y="410196"/>
                    </a:lnTo>
                    <a:lnTo>
                      <a:pt x="115387" y="353046"/>
                    </a:lnTo>
                    <a:lnTo>
                      <a:pt x="29567" y="353046"/>
                    </a:lnTo>
                    <a:cubicBezTo>
                      <a:pt x="13755" y="353046"/>
                      <a:pt x="992" y="340282"/>
                      <a:pt x="992" y="324471"/>
                    </a:cubicBezTo>
                    <a:lnTo>
                      <a:pt x="992" y="29196"/>
                    </a:lnTo>
                    <a:cubicBezTo>
                      <a:pt x="992" y="13385"/>
                      <a:pt x="13755" y="621"/>
                      <a:pt x="29567" y="621"/>
                    </a:cubicBezTo>
                    <a:lnTo>
                      <a:pt x="486767" y="621"/>
                    </a:lnTo>
                    <a:close/>
                    <a:moveTo>
                      <a:pt x="124817" y="143496"/>
                    </a:moveTo>
                    <a:cubicBezTo>
                      <a:pt x="106434" y="143496"/>
                      <a:pt x="91480" y="158450"/>
                      <a:pt x="91480" y="176834"/>
                    </a:cubicBezTo>
                    <a:cubicBezTo>
                      <a:pt x="91480" y="195217"/>
                      <a:pt x="106434" y="210171"/>
                      <a:pt x="124817" y="210171"/>
                    </a:cubicBezTo>
                    <a:cubicBezTo>
                      <a:pt x="143200" y="210171"/>
                      <a:pt x="158155" y="195217"/>
                      <a:pt x="158155" y="176834"/>
                    </a:cubicBezTo>
                    <a:cubicBezTo>
                      <a:pt x="158155" y="158450"/>
                      <a:pt x="143200" y="143496"/>
                      <a:pt x="124817" y="143496"/>
                    </a:cubicBezTo>
                    <a:close/>
                    <a:moveTo>
                      <a:pt x="258167" y="143496"/>
                    </a:moveTo>
                    <a:cubicBezTo>
                      <a:pt x="239784" y="143496"/>
                      <a:pt x="224830" y="158450"/>
                      <a:pt x="224830" y="176834"/>
                    </a:cubicBezTo>
                    <a:cubicBezTo>
                      <a:pt x="224830" y="195217"/>
                      <a:pt x="239784" y="210171"/>
                      <a:pt x="258167" y="210171"/>
                    </a:cubicBezTo>
                    <a:cubicBezTo>
                      <a:pt x="276550" y="210171"/>
                      <a:pt x="291505" y="195217"/>
                      <a:pt x="291505" y="176834"/>
                    </a:cubicBezTo>
                    <a:cubicBezTo>
                      <a:pt x="291505" y="158450"/>
                      <a:pt x="276550" y="143496"/>
                      <a:pt x="258167" y="143496"/>
                    </a:cubicBezTo>
                    <a:close/>
                    <a:moveTo>
                      <a:pt x="391517" y="143496"/>
                    </a:moveTo>
                    <a:cubicBezTo>
                      <a:pt x="373134" y="143496"/>
                      <a:pt x="358180" y="158450"/>
                      <a:pt x="358180" y="176834"/>
                    </a:cubicBezTo>
                    <a:cubicBezTo>
                      <a:pt x="358180" y="195217"/>
                      <a:pt x="373134" y="210171"/>
                      <a:pt x="391517" y="210171"/>
                    </a:cubicBezTo>
                    <a:cubicBezTo>
                      <a:pt x="409900" y="210171"/>
                      <a:pt x="424855" y="195217"/>
                      <a:pt x="424855" y="176834"/>
                    </a:cubicBezTo>
                    <a:cubicBezTo>
                      <a:pt x="424855" y="158450"/>
                      <a:pt x="409900" y="143496"/>
                      <a:pt x="391517" y="143496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vert="horz" lIns="91440" tIns="45720" rIns="91440" bIns="45720" anchor="t">
                <a:normAutofit/>
              </a:bodyPr>
              <a:lstStyle/>
              <a:p>
                <a:pPr marL="0" algn="l"/>
                <a:endParaRPr/>
              </a:p>
            </p:txBody>
          </p:sp>
        </p:grpSp>
      </p:grpSp>
      <p:sp>
        <p:nvSpPr>
          <p:cNvPr id="10" name="AutoShape 10"/>
          <p:cNvSpPr/>
          <p:nvPr/>
        </p:nvSpPr>
        <p:spPr>
          <a:xfrm>
            <a:off x="1457943" y="5149360"/>
            <a:ext cx="7557486" cy="1390057"/>
          </a:xfrm>
          <a:prstGeom prst="roundRect">
            <a:avLst>
              <a:gd name="adj" fmla="val 3500"/>
            </a:avLst>
          </a:prstGeom>
          <a:solidFill>
            <a:srgbClr val="000000">
              <a:alpha val="5000"/>
              <a:lumMod val="95000"/>
              <a:lumOff val="5000"/>
            </a:srgbClr>
          </a:solidFill>
          <a:ln cap="flat">
            <a:prstDash val="solid"/>
          </a:ln>
        </p:spPr>
        <p:txBody>
          <a:bodyPr rot="0" vert="horz" wrap="square" lIns="91440" tIns="45720" rIns="91440" bIns="45720" anchor="ctr">
            <a:prstTxWarp prst="textNoShape">
              <a:avLst/>
            </a:prstTxWarp>
            <a:noAutofit/>
          </a:bodyPr>
          <a:lstStyle/>
          <a:p>
            <a:pPr marL="0" algn="ctr"/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1460134" y="3183205"/>
            <a:ext cx="7557486" cy="1390057"/>
          </a:xfrm>
          <a:prstGeom prst="roundRect">
            <a:avLst>
              <a:gd name="adj" fmla="val 3500"/>
            </a:avLst>
          </a:prstGeom>
          <a:solidFill>
            <a:srgbClr val="000000">
              <a:alpha val="5000"/>
              <a:lumMod val="95000"/>
              <a:lumOff val="5000"/>
            </a:srgbClr>
          </a:solidFill>
          <a:ln cap="flat">
            <a:prstDash val="solid"/>
          </a:ln>
        </p:spPr>
        <p:txBody>
          <a:bodyPr rot="0" vert="horz" wrap="square" lIns="91440" tIns="45720" rIns="91440" bIns="45720" anchor="ctr">
            <a:prstTxWarp prst="textNoShape">
              <a:avLst/>
            </a:prstTxWarp>
            <a:noAutofit/>
          </a:bodyPr>
          <a:lstStyle/>
          <a:p>
            <a:pPr marL="0" algn="ctr"/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898410" y="3324992"/>
            <a:ext cx="1123514" cy="1123512"/>
          </a:xfrm>
          <a:prstGeom prst="ellipse">
            <a:avLst/>
          </a:prstGeom>
          <a:solidFill>
            <a:srgbClr val="000000">
              <a:alpha val="10000"/>
              <a:lumMod val="50000"/>
              <a:lumOff val="50000"/>
            </a:srgbClr>
          </a:solidFill>
          <a:ln cap="flat" cmpd="sng">
            <a:prstDash val="solid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1123116" y="3549694"/>
            <a:ext cx="674108" cy="674107"/>
          </a:xfrm>
          <a:prstGeom prst="ellipse">
            <a:avLst/>
          </a:prstGeom>
          <a:gradFill>
            <a:gsLst>
              <a:gs pos="0">
                <a:srgbClr val="002880">
                  <a:lumMod val="60000"/>
                  <a:lumOff val="40000"/>
                </a:srgbClr>
              </a:gs>
              <a:gs pos="60000">
                <a:srgbClr val="002880"/>
              </a:gs>
            </a:gsLst>
            <a:lin ang="2700000"/>
          </a:gradFill>
          <a:ln cap="rnd" cmpd="sng">
            <a:prstDash val="solid"/>
          </a:ln>
          <a:effectLst>
            <a:outerShdw blurRad="76200" dist="50800" dir="5400000" algn="ctr" rotWithShape="0">
              <a:schemeClr val="accent2">
                <a:alpha val="20000"/>
              </a:schemeClr>
            </a:outerShdw>
          </a:effectLst>
        </p:spPr>
        <p:txBody>
          <a:bodyPr rot="0" vert="horz" wrap="square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14" name="Freeform 14"/>
          <p:cNvSpPr/>
          <p:nvPr/>
        </p:nvSpPr>
        <p:spPr>
          <a:xfrm>
            <a:off x="1304200" y="3756894"/>
            <a:ext cx="311939" cy="259693"/>
          </a:xfrm>
          <a:custGeom>
            <a:avLst/>
            <a:gdLst/>
            <a:ahLst/>
            <a:cxnLst/>
            <a:rect l="l" t="t" r="r" b="b"/>
            <a:pathLst>
              <a:path w="526297" h="438150">
                <a:moveTo>
                  <a:pt x="483573" y="133971"/>
                </a:moveTo>
                <a:cubicBezTo>
                  <a:pt x="507957" y="133971"/>
                  <a:pt x="527674" y="153688"/>
                  <a:pt x="527674" y="178072"/>
                </a:cubicBezTo>
                <a:cubicBezTo>
                  <a:pt x="527674" y="179215"/>
                  <a:pt x="527674" y="180358"/>
                  <a:pt x="527579" y="181501"/>
                </a:cubicBezTo>
                <a:lnTo>
                  <a:pt x="514244" y="355237"/>
                </a:lnTo>
                <a:cubicBezTo>
                  <a:pt x="513101" y="370096"/>
                  <a:pt x="500718" y="381621"/>
                  <a:pt x="485764" y="381621"/>
                </a:cubicBezTo>
                <a:lnTo>
                  <a:pt x="454998" y="381621"/>
                </a:lnTo>
                <a:lnTo>
                  <a:pt x="454998" y="438771"/>
                </a:lnTo>
                <a:lnTo>
                  <a:pt x="435948" y="438771"/>
                </a:lnTo>
                <a:lnTo>
                  <a:pt x="435948" y="381621"/>
                </a:lnTo>
                <a:lnTo>
                  <a:pt x="93048" y="381621"/>
                </a:lnTo>
                <a:lnTo>
                  <a:pt x="93048" y="438771"/>
                </a:lnTo>
                <a:lnTo>
                  <a:pt x="73998" y="438771"/>
                </a:lnTo>
                <a:lnTo>
                  <a:pt x="73998" y="381621"/>
                </a:lnTo>
                <a:lnTo>
                  <a:pt x="43328" y="381621"/>
                </a:lnTo>
                <a:cubicBezTo>
                  <a:pt x="28373" y="381621"/>
                  <a:pt x="15991" y="370096"/>
                  <a:pt x="14848" y="355237"/>
                </a:cubicBezTo>
                <a:lnTo>
                  <a:pt x="1513" y="181501"/>
                </a:lnTo>
                <a:cubicBezTo>
                  <a:pt x="-392" y="157212"/>
                  <a:pt x="17801" y="135971"/>
                  <a:pt x="42089" y="134162"/>
                </a:cubicBezTo>
                <a:cubicBezTo>
                  <a:pt x="43232" y="134066"/>
                  <a:pt x="44375" y="134066"/>
                  <a:pt x="45518" y="134066"/>
                </a:cubicBezTo>
                <a:cubicBezTo>
                  <a:pt x="73141" y="134066"/>
                  <a:pt x="96858" y="153688"/>
                  <a:pt x="101906" y="180834"/>
                </a:cubicBezTo>
                <a:lnTo>
                  <a:pt x="121623" y="286371"/>
                </a:lnTo>
                <a:lnTo>
                  <a:pt x="407373" y="286371"/>
                </a:lnTo>
                <a:lnTo>
                  <a:pt x="427185" y="180739"/>
                </a:lnTo>
                <a:cubicBezTo>
                  <a:pt x="432233" y="153592"/>
                  <a:pt x="455951" y="133971"/>
                  <a:pt x="483573" y="133971"/>
                </a:cubicBezTo>
                <a:close/>
                <a:moveTo>
                  <a:pt x="416898" y="621"/>
                </a:moveTo>
                <a:cubicBezTo>
                  <a:pt x="453760" y="621"/>
                  <a:pt x="483573" y="30434"/>
                  <a:pt x="483573" y="67296"/>
                </a:cubicBezTo>
                <a:lnTo>
                  <a:pt x="483573" y="115397"/>
                </a:lnTo>
                <a:cubicBezTo>
                  <a:pt x="481192" y="115112"/>
                  <a:pt x="478811" y="114921"/>
                  <a:pt x="476429" y="114921"/>
                </a:cubicBezTo>
                <a:cubicBezTo>
                  <a:pt x="445473" y="114921"/>
                  <a:pt x="418803" y="136448"/>
                  <a:pt x="412040" y="166451"/>
                </a:cubicBezTo>
                <a:lnTo>
                  <a:pt x="411564" y="168737"/>
                </a:lnTo>
                <a:lnTo>
                  <a:pt x="393086" y="267321"/>
                </a:lnTo>
                <a:lnTo>
                  <a:pt x="135911" y="267321"/>
                </a:lnTo>
                <a:lnTo>
                  <a:pt x="117432" y="168737"/>
                </a:lnTo>
                <a:cubicBezTo>
                  <a:pt x="111622" y="137495"/>
                  <a:pt x="84285" y="114921"/>
                  <a:pt x="52567" y="114921"/>
                </a:cubicBezTo>
                <a:lnTo>
                  <a:pt x="54948" y="67296"/>
                </a:lnTo>
                <a:cubicBezTo>
                  <a:pt x="54948" y="30434"/>
                  <a:pt x="84761" y="621"/>
                  <a:pt x="121623" y="621"/>
                </a:cubicBezTo>
                <a:lnTo>
                  <a:pt x="416898" y="621"/>
                </a:lnTo>
                <a:close/>
              </a:path>
            </a:pathLst>
          </a:custGeom>
          <a:solidFill>
            <a:srgbClr val="FFFFFF"/>
          </a:solidFill>
        </p:spPr>
        <p:txBody>
          <a:bodyPr vert="horz" lIns="91440" tIns="45720" rIns="91440" bIns="45720" anchor="t">
            <a:normAutofit/>
          </a:bodyPr>
          <a:lstStyle/>
          <a:p>
            <a:pPr marL="0" algn="l"/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898376" y="5282633"/>
            <a:ext cx="1130122" cy="1130119"/>
          </a:xfrm>
          <a:prstGeom prst="ellipse">
            <a:avLst/>
          </a:prstGeom>
          <a:solidFill>
            <a:srgbClr val="000000">
              <a:alpha val="10000"/>
              <a:lumMod val="50000"/>
              <a:lumOff val="50000"/>
            </a:srgbClr>
          </a:solidFill>
          <a:ln cap="flat" cmpd="sng">
            <a:prstDash val="solid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grpSp>
        <p:nvGrpSpPr>
          <p:cNvPr id="16" name="Group 16"/>
          <p:cNvGrpSpPr/>
          <p:nvPr/>
        </p:nvGrpSpPr>
        <p:grpSpPr>
          <a:xfrm>
            <a:off x="1124407" y="5508657"/>
            <a:ext cx="678073" cy="678071"/>
            <a:chOff x="5101620" y="1637616"/>
            <a:chExt cx="444222" cy="444220"/>
          </a:xfrm>
        </p:grpSpPr>
        <p:sp>
          <p:nvSpPr>
            <p:cNvPr id="17" name="AutoShape 17"/>
            <p:cNvSpPr/>
            <p:nvPr/>
          </p:nvSpPr>
          <p:spPr>
            <a:xfrm>
              <a:off x="5101620" y="1637616"/>
              <a:ext cx="444222" cy="444220"/>
            </a:xfrm>
            <a:prstGeom prst="ellipse">
              <a:avLst/>
            </a:prstGeom>
            <a:gradFill>
              <a:gsLst>
                <a:gs pos="0">
                  <a:srgbClr val="800012">
                    <a:lumMod val="60000"/>
                    <a:lumOff val="40000"/>
                  </a:srgbClr>
                </a:gs>
                <a:gs pos="60000">
                  <a:srgbClr val="800012"/>
                </a:gs>
              </a:gsLst>
              <a:lin ang="2700000"/>
            </a:gradFill>
            <a:ln cap="rnd" cmpd="sng">
              <a:prstDash val="solid"/>
            </a:ln>
            <a:effectLst>
              <a:outerShdw blurRad="76200" dist="50800" dir="5400000" algn="ctr" rotWithShape="0">
                <a:schemeClr val="accent6">
                  <a:alpha val="20000"/>
                </a:schemeClr>
              </a:outerShdw>
            </a:effectLst>
          </p:spPr>
          <p:txBody>
            <a:bodyPr rot="0" vert="horz" wrap="square" lIns="91440" tIns="45720" rIns="91440" bIns="45720" anchor="ctr">
              <a:normAutofit/>
            </a:bodyPr>
            <a:lstStyle/>
            <a:p>
              <a:pPr marL="0" algn="ctr"/>
              <a:endParaRPr/>
            </a:p>
          </p:txBody>
        </p:sp>
        <p:sp>
          <p:nvSpPr>
            <p:cNvPr id="18" name="Freeform 18"/>
            <p:cNvSpPr/>
            <p:nvPr/>
          </p:nvSpPr>
          <p:spPr>
            <a:xfrm>
              <a:off x="5239304" y="1756946"/>
              <a:ext cx="168853" cy="205561"/>
            </a:xfrm>
            <a:custGeom>
              <a:avLst/>
              <a:gdLst/>
              <a:ahLst/>
              <a:cxnLst/>
              <a:rect l="l" t="t" r="r" b="b"/>
              <a:pathLst>
                <a:path w="438150" h="533400">
                  <a:moveTo>
                    <a:pt x="283816" y="621"/>
                  </a:moveTo>
                  <a:cubicBezTo>
                    <a:pt x="284578" y="621"/>
                    <a:pt x="285340" y="621"/>
                    <a:pt x="286102" y="716"/>
                  </a:cubicBezTo>
                  <a:lnTo>
                    <a:pt x="286102" y="124446"/>
                  </a:lnTo>
                  <a:lnTo>
                    <a:pt x="286197" y="126160"/>
                  </a:lnTo>
                  <a:cubicBezTo>
                    <a:pt x="287055" y="141115"/>
                    <a:pt x="299532" y="153021"/>
                    <a:pt x="314677" y="153021"/>
                  </a:cubicBezTo>
                  <a:lnTo>
                    <a:pt x="314677" y="153021"/>
                  </a:lnTo>
                  <a:lnTo>
                    <a:pt x="438407" y="153021"/>
                  </a:lnTo>
                  <a:cubicBezTo>
                    <a:pt x="438502" y="153783"/>
                    <a:pt x="438502" y="154545"/>
                    <a:pt x="438502" y="155307"/>
                  </a:cubicBezTo>
                  <a:lnTo>
                    <a:pt x="438502" y="505446"/>
                  </a:lnTo>
                  <a:cubicBezTo>
                    <a:pt x="438502" y="521257"/>
                    <a:pt x="425739" y="534021"/>
                    <a:pt x="409927" y="534021"/>
                  </a:cubicBezTo>
                  <a:lnTo>
                    <a:pt x="28927" y="534021"/>
                  </a:lnTo>
                  <a:cubicBezTo>
                    <a:pt x="13115" y="534021"/>
                    <a:pt x="352" y="521257"/>
                    <a:pt x="352" y="505446"/>
                  </a:cubicBezTo>
                  <a:lnTo>
                    <a:pt x="352" y="29196"/>
                  </a:lnTo>
                  <a:cubicBezTo>
                    <a:pt x="352" y="13385"/>
                    <a:pt x="13115" y="621"/>
                    <a:pt x="28927" y="621"/>
                  </a:cubicBezTo>
                  <a:lnTo>
                    <a:pt x="283816" y="621"/>
                  </a:lnTo>
                  <a:close/>
                  <a:moveTo>
                    <a:pt x="248002" y="200646"/>
                  </a:moveTo>
                  <a:lnTo>
                    <a:pt x="152752" y="200646"/>
                  </a:lnTo>
                  <a:lnTo>
                    <a:pt x="152752" y="410196"/>
                  </a:lnTo>
                  <a:lnTo>
                    <a:pt x="171802" y="410196"/>
                  </a:lnTo>
                  <a:lnTo>
                    <a:pt x="171802" y="314946"/>
                  </a:lnTo>
                  <a:lnTo>
                    <a:pt x="248002" y="314946"/>
                  </a:lnTo>
                  <a:lnTo>
                    <a:pt x="250098" y="314946"/>
                  </a:lnTo>
                  <a:cubicBezTo>
                    <a:pt x="280673" y="313803"/>
                    <a:pt x="305152" y="288657"/>
                    <a:pt x="305152" y="257796"/>
                  </a:cubicBezTo>
                  <a:cubicBezTo>
                    <a:pt x="305152" y="226268"/>
                    <a:pt x="279530" y="200646"/>
                    <a:pt x="248002" y="200646"/>
                  </a:cubicBezTo>
                  <a:lnTo>
                    <a:pt x="248002" y="200646"/>
                  </a:lnTo>
                  <a:close/>
                  <a:moveTo>
                    <a:pt x="248002" y="219696"/>
                  </a:moveTo>
                  <a:cubicBezTo>
                    <a:pt x="269052" y="219696"/>
                    <a:pt x="286102" y="236746"/>
                    <a:pt x="286102" y="257796"/>
                  </a:cubicBezTo>
                  <a:cubicBezTo>
                    <a:pt x="286102" y="278846"/>
                    <a:pt x="269052" y="295896"/>
                    <a:pt x="248002" y="295896"/>
                  </a:cubicBezTo>
                  <a:lnTo>
                    <a:pt x="248002" y="295896"/>
                  </a:lnTo>
                  <a:lnTo>
                    <a:pt x="171802" y="295896"/>
                  </a:lnTo>
                  <a:lnTo>
                    <a:pt x="171802" y="219696"/>
                  </a:lnTo>
                  <a:lnTo>
                    <a:pt x="248002" y="219696"/>
                  </a:lnTo>
                  <a:close/>
                  <a:moveTo>
                    <a:pt x="428977" y="133971"/>
                  </a:moveTo>
                  <a:lnTo>
                    <a:pt x="314677" y="133971"/>
                  </a:lnTo>
                  <a:lnTo>
                    <a:pt x="313534" y="133876"/>
                  </a:lnTo>
                  <a:cubicBezTo>
                    <a:pt x="308772" y="133304"/>
                    <a:pt x="305152" y="129304"/>
                    <a:pt x="305152" y="124446"/>
                  </a:cubicBezTo>
                  <a:lnTo>
                    <a:pt x="305152" y="124446"/>
                  </a:lnTo>
                  <a:lnTo>
                    <a:pt x="305152" y="10146"/>
                  </a:lnTo>
                  <a:lnTo>
                    <a:pt x="428977" y="13397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vert="horz" lIns="91440" tIns="45720" rIns="91440" bIns="45720" anchor="t">
              <a:normAutofit/>
            </a:bodyPr>
            <a:lstStyle/>
            <a:p>
              <a:pPr marL="0" algn="l"/>
              <a:endParaRPr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2203099" y="3551714"/>
            <a:ext cx="6812330" cy="845616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l">
              <a:lnSpc>
                <a:spcPct val="120000"/>
              </a:lnSpc>
              <a:defRPr/>
            </a:pPr>
            <a:r>
              <a:rPr lang="zh-CN" altLang="en-US" sz="1400" b="0" i="0" u="none" baseline="0">
                <a:solidFill>
                  <a:srgbClr val="000000"/>
                </a:solidFill>
                <a:latin typeface="微软雅黑"/>
                <a:ea typeface="微软雅黑"/>
              </a:rPr>
              <a:t>人工智能的发展历程可以追溯到20世纪50年代。起初以符号主义为主流，后来随着计算能力提升与数据爆炸，深度学习技术崛起，人工智能迎来了快速发展和广泛应用的新时期。</a:t>
            </a:r>
            <a:endParaRPr lang="en-US" sz="1100"/>
          </a:p>
        </p:txBody>
      </p:sp>
      <p:sp>
        <p:nvSpPr>
          <p:cNvPr id="20" name="TextBox 20"/>
          <p:cNvSpPr txBox="1"/>
          <p:nvPr/>
        </p:nvSpPr>
        <p:spPr>
          <a:xfrm>
            <a:off x="2203099" y="3198606"/>
            <a:ext cx="6812330" cy="338554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b">
            <a:spAutoFit/>
          </a:bodyPr>
          <a:lstStyle/>
          <a:p>
            <a:pPr marL="0" algn="l">
              <a:lnSpc>
                <a:spcPct val="100000"/>
              </a:lnSpc>
              <a:defRPr/>
            </a:pPr>
            <a:r>
              <a:rPr lang="zh-CN" altLang="en-US" sz="1600" b="1" i="0" u="none" baseline="0">
                <a:solidFill>
                  <a:schemeClr val="accent4"/>
                </a:solidFill>
                <a:latin typeface="微软雅黑"/>
                <a:ea typeface="微软雅黑"/>
              </a:rPr>
              <a:t>人工智能的发展历程</a:t>
            </a:r>
            <a:endParaRPr lang="en-US" sz="1100"/>
          </a:p>
        </p:txBody>
      </p:sp>
      <p:sp>
        <p:nvSpPr>
          <p:cNvPr id="21" name="TextBox 21"/>
          <p:cNvSpPr txBox="1"/>
          <p:nvPr/>
        </p:nvSpPr>
        <p:spPr>
          <a:xfrm>
            <a:off x="2238663" y="5503880"/>
            <a:ext cx="6812330" cy="845616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l">
              <a:lnSpc>
                <a:spcPct val="120000"/>
              </a:lnSpc>
              <a:defRPr/>
            </a:pPr>
            <a:r>
              <a:rPr lang="zh-CN" altLang="en-US" sz="1400" b="0" i="0" u="none" baseline="0">
                <a:solidFill>
                  <a:srgbClr val="000000"/>
                </a:solidFill>
                <a:latin typeface="微软雅黑"/>
                <a:ea typeface="微软雅黑"/>
              </a:rPr>
              <a:t>人工智能的意义深远，它不仅仅是技术革新，也将改变经济结构和社会形态。通过提高效率、降低成本，AI促进了生产力进步和社会发展，影响到我们生活的方方面面。</a:t>
            </a:r>
            <a:endParaRPr lang="en-US" sz="1100"/>
          </a:p>
        </p:txBody>
      </p:sp>
      <p:sp>
        <p:nvSpPr>
          <p:cNvPr id="22" name="TextBox 22"/>
          <p:cNvSpPr txBox="1"/>
          <p:nvPr/>
        </p:nvSpPr>
        <p:spPr>
          <a:xfrm>
            <a:off x="2238663" y="5150772"/>
            <a:ext cx="6812330" cy="338554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b">
            <a:spAutoFit/>
          </a:bodyPr>
          <a:lstStyle/>
          <a:p>
            <a:pPr marL="0" algn="l">
              <a:lnSpc>
                <a:spcPct val="100000"/>
              </a:lnSpc>
              <a:defRPr/>
            </a:pPr>
            <a:r>
              <a:rPr lang="zh-CN" altLang="en-US" sz="1600" b="1" i="0" u="none" baseline="0">
                <a:solidFill>
                  <a:schemeClr val="accent4"/>
                </a:solidFill>
                <a:latin typeface="微软雅黑"/>
                <a:ea typeface="微软雅黑"/>
              </a:rPr>
              <a:t>人工智能的意义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9225594" y="2069039"/>
            <a:ext cx="2843035" cy="3467782"/>
          </a:xfrm>
          <a:prstGeom prst="roundRect">
            <a:avLst>
              <a:gd name="adj" fmla="val 7022"/>
            </a:avLst>
          </a:prstGeom>
          <a:blipFill>
            <a:blip r:embed="rId3"/>
            <a:srcRect/>
            <a:stretch>
              <a:fillRect l="-52559" r="-52559"/>
            </a:stretch>
          </a:blipFill>
          <a:ln cap="flat" cmpd="sng">
            <a:prstDash val="solid"/>
          </a:ln>
        </p:spPr>
        <p:txBody>
          <a:bodyPr rot="0" vert="horz" wrap="square" lIns="91440" tIns="45720" rIns="91440" bIns="45720" anchor="t">
            <a:prstTxWarp prst="textNoShape">
              <a:avLst/>
            </a:prstTxWarp>
            <a:noAutofit/>
          </a:bodyPr>
          <a:lstStyle/>
          <a:p>
            <a:pPr marL="0" algn="ctr"/>
            <a:endParaRPr/>
          </a:p>
        </p:txBody>
      </p:sp>
      <p:sp>
        <p:nvSpPr>
          <p:cNvPr id="24" name="AutoShape 24"/>
          <p:cNvSpPr>
            <a:spLocks noGrp="1"/>
          </p:cNvSpPr>
          <p:nvPr>
            <p:ph type="title"/>
          </p:nvPr>
        </p:nvSpPr>
        <p:spPr>
          <a:xfrm>
            <a:off x="660399" y="0"/>
            <a:ext cx="10858500" cy="1028700"/>
          </a:xfrm>
        </p:spPr>
        <p:txBody>
          <a:bodyPr vert="horz" lIns="91440" tIns="45720" rIns="91440" bIns="45720" anchor="b">
            <a:norm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zh-CN" altLang="en-US" sz="2800" b="1" i="0" u="none" baseline="0">
                <a:solidFill>
                  <a:srgbClr val="000000"/>
                </a:solidFill>
                <a:latin typeface="+mn-ea"/>
                <a:ea typeface="+mn-ea"/>
              </a:rPr>
              <a:t>人工智能定义</a:t>
            </a:r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553659" y="2635731"/>
            <a:ext cx="2637590" cy="2610369"/>
          </a:xfrm>
          <a:custGeom>
            <a:avLst/>
            <a:gdLst/>
            <a:ahLst/>
            <a:cxnLst/>
            <a:rect l="l" t="t" r="r" b="b"/>
            <a:pathLst>
              <a:path w="7873" h="7791">
                <a:moveTo>
                  <a:pt x="2709" y="1592"/>
                </a:moveTo>
                <a:cubicBezTo>
                  <a:pt x="3377" y="2060"/>
                  <a:pt x="4681" y="2036"/>
                  <a:pt x="5329" y="1624"/>
                </a:cubicBezTo>
                <a:cubicBezTo>
                  <a:pt x="5545" y="1487"/>
                  <a:pt x="5785" y="1286"/>
                  <a:pt x="5782" y="969"/>
                </a:cubicBezTo>
                <a:cubicBezTo>
                  <a:pt x="5780" y="712"/>
                  <a:pt x="5610" y="541"/>
                  <a:pt x="5477" y="432"/>
                </a:cubicBezTo>
                <a:cubicBezTo>
                  <a:pt x="5134" y="153"/>
                  <a:pt x="4575" y="0"/>
                  <a:pt x="4004" y="13"/>
                </a:cubicBezTo>
                <a:cubicBezTo>
                  <a:pt x="3452" y="27"/>
                  <a:pt x="3028" y="142"/>
                  <a:pt x="2709" y="368"/>
                </a:cubicBezTo>
                <a:cubicBezTo>
                  <a:pt x="2579" y="460"/>
                  <a:pt x="2397" y="651"/>
                  <a:pt x="2352" y="840"/>
                </a:cubicBezTo>
                <a:cubicBezTo>
                  <a:pt x="2268" y="1188"/>
                  <a:pt x="2508" y="1452"/>
                  <a:pt x="2709" y="1592"/>
                </a:cubicBezTo>
                <a:close/>
                <a:moveTo>
                  <a:pt x="2699" y="2258"/>
                </a:moveTo>
                <a:cubicBezTo>
                  <a:pt x="2797" y="2310"/>
                  <a:pt x="2931" y="2327"/>
                  <a:pt x="3046" y="2376"/>
                </a:cubicBezTo>
                <a:cubicBezTo>
                  <a:pt x="3149" y="2421"/>
                  <a:pt x="3244" y="2499"/>
                  <a:pt x="3351" y="2537"/>
                </a:cubicBezTo>
                <a:cubicBezTo>
                  <a:pt x="3702" y="2664"/>
                  <a:pt x="4247" y="2653"/>
                  <a:pt x="4656" y="2570"/>
                </a:cubicBezTo>
                <a:cubicBezTo>
                  <a:pt x="5060" y="2487"/>
                  <a:pt x="5429" y="2312"/>
                  <a:pt x="5624" y="2076"/>
                </a:cubicBezTo>
                <a:cubicBezTo>
                  <a:pt x="5764" y="1906"/>
                  <a:pt x="5830" y="1635"/>
                  <a:pt x="5782" y="1335"/>
                </a:cubicBezTo>
                <a:cubicBezTo>
                  <a:pt x="5772" y="1424"/>
                  <a:pt x="5742" y="1519"/>
                  <a:pt x="5698" y="1592"/>
                </a:cubicBezTo>
                <a:cubicBezTo>
                  <a:pt x="5156" y="2500"/>
                  <a:pt x="2595" y="2483"/>
                  <a:pt x="2331" y="1335"/>
                </a:cubicBezTo>
                <a:cubicBezTo>
                  <a:pt x="2289" y="1782"/>
                  <a:pt x="2428" y="2114"/>
                  <a:pt x="2699" y="2258"/>
                </a:cubicBezTo>
                <a:close/>
                <a:moveTo>
                  <a:pt x="3730" y="2903"/>
                </a:moveTo>
                <a:cubicBezTo>
                  <a:pt x="3794" y="3024"/>
                  <a:pt x="3869" y="3133"/>
                  <a:pt x="3888" y="3300"/>
                </a:cubicBezTo>
                <a:cubicBezTo>
                  <a:pt x="4160" y="3343"/>
                  <a:pt x="4254" y="3211"/>
                  <a:pt x="4414" y="3128"/>
                </a:cubicBezTo>
                <a:cubicBezTo>
                  <a:pt x="4739" y="2959"/>
                  <a:pt x="5059" y="2880"/>
                  <a:pt x="5519" y="2849"/>
                </a:cubicBezTo>
                <a:cubicBezTo>
                  <a:pt x="5727" y="2700"/>
                  <a:pt x="5840" y="2396"/>
                  <a:pt x="5782" y="2011"/>
                </a:cubicBezTo>
                <a:cubicBezTo>
                  <a:pt x="5775" y="2060"/>
                  <a:pt x="5774" y="2105"/>
                  <a:pt x="5761" y="2140"/>
                </a:cubicBezTo>
                <a:cubicBezTo>
                  <a:pt x="5540" y="2743"/>
                  <a:pt x="4538" y="2972"/>
                  <a:pt x="3730" y="2903"/>
                </a:cubicBezTo>
                <a:close/>
                <a:moveTo>
                  <a:pt x="3330" y="2967"/>
                </a:moveTo>
                <a:cubicBezTo>
                  <a:pt x="2977" y="2629"/>
                  <a:pt x="2385" y="2464"/>
                  <a:pt x="1752" y="2494"/>
                </a:cubicBezTo>
                <a:cubicBezTo>
                  <a:pt x="1329" y="2515"/>
                  <a:pt x="1030" y="2573"/>
                  <a:pt x="742" y="2709"/>
                </a:cubicBezTo>
                <a:cubicBezTo>
                  <a:pt x="435" y="2855"/>
                  <a:pt x="0" y="3158"/>
                  <a:pt x="152" y="3644"/>
                </a:cubicBezTo>
                <a:cubicBezTo>
                  <a:pt x="317" y="4167"/>
                  <a:pt x="1145" y="4424"/>
                  <a:pt x="1815" y="4428"/>
                </a:cubicBezTo>
                <a:cubicBezTo>
                  <a:pt x="2518" y="4432"/>
                  <a:pt x="3327" y="4194"/>
                  <a:pt x="3530" y="3687"/>
                </a:cubicBezTo>
                <a:cubicBezTo>
                  <a:pt x="3654" y="3377"/>
                  <a:pt x="3498" y="3127"/>
                  <a:pt x="3330" y="2967"/>
                </a:cubicBezTo>
                <a:close/>
                <a:moveTo>
                  <a:pt x="3236" y="4267"/>
                </a:moveTo>
                <a:cubicBezTo>
                  <a:pt x="2479" y="4956"/>
                  <a:pt x="393" y="4883"/>
                  <a:pt x="100" y="3837"/>
                </a:cubicBezTo>
                <a:cubicBezTo>
                  <a:pt x="89" y="4158"/>
                  <a:pt x="149" y="4405"/>
                  <a:pt x="289" y="4567"/>
                </a:cubicBezTo>
                <a:cubicBezTo>
                  <a:pt x="809" y="5172"/>
                  <a:pt x="2306" y="5269"/>
                  <a:pt x="3036" y="4825"/>
                </a:cubicBezTo>
                <a:cubicBezTo>
                  <a:pt x="3102" y="4610"/>
                  <a:pt x="3176" y="4403"/>
                  <a:pt x="3288" y="4234"/>
                </a:cubicBezTo>
                <a:cubicBezTo>
                  <a:pt x="3260" y="4206"/>
                  <a:pt x="3247" y="4256"/>
                  <a:pt x="3236" y="4267"/>
                </a:cubicBezTo>
                <a:close/>
                <a:moveTo>
                  <a:pt x="7676" y="4686"/>
                </a:moveTo>
                <a:cubicBezTo>
                  <a:pt x="7360" y="3976"/>
                  <a:pt x="6678" y="3405"/>
                  <a:pt x="5708" y="3407"/>
                </a:cubicBezTo>
                <a:cubicBezTo>
                  <a:pt x="5002" y="3409"/>
                  <a:pt x="4538" y="3710"/>
                  <a:pt x="4193" y="4063"/>
                </a:cubicBezTo>
                <a:cubicBezTo>
                  <a:pt x="3851" y="4412"/>
                  <a:pt x="3559" y="4942"/>
                  <a:pt x="3572" y="5620"/>
                </a:cubicBezTo>
                <a:cubicBezTo>
                  <a:pt x="3585" y="6291"/>
                  <a:pt x="3852" y="6780"/>
                  <a:pt x="4214" y="7145"/>
                </a:cubicBezTo>
                <a:cubicBezTo>
                  <a:pt x="4572" y="7506"/>
                  <a:pt x="5098" y="7791"/>
                  <a:pt x="5740" y="7779"/>
                </a:cubicBezTo>
                <a:cubicBezTo>
                  <a:pt x="6380" y="7767"/>
                  <a:pt x="6891" y="7500"/>
                  <a:pt x="7245" y="7134"/>
                </a:cubicBezTo>
                <a:cubicBezTo>
                  <a:pt x="7592" y="6776"/>
                  <a:pt x="7873" y="6254"/>
                  <a:pt x="7866" y="5577"/>
                </a:cubicBezTo>
                <a:cubicBezTo>
                  <a:pt x="7862" y="5260"/>
                  <a:pt x="7791" y="4942"/>
                  <a:pt x="7676" y="4686"/>
                </a:cubicBezTo>
                <a:close/>
                <a:moveTo>
                  <a:pt x="5719" y="6286"/>
                </a:moveTo>
                <a:cubicBezTo>
                  <a:pt x="5246" y="6164"/>
                  <a:pt x="4746" y="6069"/>
                  <a:pt x="4267" y="5953"/>
                </a:cubicBezTo>
                <a:cubicBezTo>
                  <a:pt x="4280" y="5812"/>
                  <a:pt x="4304" y="5683"/>
                  <a:pt x="4330" y="5556"/>
                </a:cubicBezTo>
                <a:cubicBezTo>
                  <a:pt x="4751" y="5663"/>
                  <a:pt x="5186" y="5756"/>
                  <a:pt x="5603" y="5867"/>
                </a:cubicBezTo>
                <a:cubicBezTo>
                  <a:pt x="6042" y="5241"/>
                  <a:pt x="6475" y="4609"/>
                  <a:pt x="6908" y="3977"/>
                </a:cubicBezTo>
                <a:cubicBezTo>
                  <a:pt x="7035" y="4151"/>
                  <a:pt x="7136" y="4353"/>
                  <a:pt x="7255" y="4535"/>
                </a:cubicBezTo>
                <a:cubicBezTo>
                  <a:pt x="6754" y="5129"/>
                  <a:pt x="6248" y="5720"/>
                  <a:pt x="5719" y="6286"/>
                </a:cubicBezTo>
                <a:close/>
                <a:moveTo>
                  <a:pt x="121" y="4492"/>
                </a:moveTo>
                <a:cubicBezTo>
                  <a:pt x="128" y="4663"/>
                  <a:pt x="104" y="4863"/>
                  <a:pt x="152" y="5008"/>
                </a:cubicBezTo>
                <a:cubicBezTo>
                  <a:pt x="286" y="5405"/>
                  <a:pt x="816" y="5648"/>
                  <a:pt x="1310" y="5738"/>
                </a:cubicBezTo>
                <a:cubicBezTo>
                  <a:pt x="1869" y="5840"/>
                  <a:pt x="2512" y="5761"/>
                  <a:pt x="2930" y="5566"/>
                </a:cubicBezTo>
                <a:cubicBezTo>
                  <a:pt x="2928" y="5421"/>
                  <a:pt x="2946" y="5296"/>
                  <a:pt x="2962" y="5169"/>
                </a:cubicBezTo>
                <a:cubicBezTo>
                  <a:pt x="2038" y="5580"/>
                  <a:pt x="359" y="5455"/>
                  <a:pt x="121" y="4492"/>
                </a:cubicBezTo>
                <a:close/>
              </a:path>
            </a:pathLst>
          </a:custGeom>
          <a:gradFill>
            <a:gsLst>
              <a:gs pos="0">
                <a:srgbClr val="800012">
                  <a:lumMod val="60000"/>
                  <a:lumOff val="40000"/>
                </a:srgbClr>
              </a:gs>
              <a:gs pos="60000">
                <a:srgbClr val="800012"/>
              </a:gs>
            </a:gsLst>
            <a:lin ang="2700000"/>
          </a:gradFill>
          <a:ln cap="rnd" cmpd="sng">
            <a:prstDash val="solid"/>
          </a:ln>
          <a:effectLst>
            <a:outerShdw blurRad="76200" dist="50800" dir="5400000" algn="ctr" rotWithShape="0">
              <a:schemeClr val="accent6">
                <a:alpha val="20000"/>
              </a:schemeClr>
            </a:outerShdw>
          </a:effectLst>
        </p:spPr>
        <p:txBody>
          <a:bodyPr rot="0" vert="horz" wrap="square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grpSp>
        <p:nvGrpSpPr>
          <p:cNvPr id="3" name="Group 3"/>
          <p:cNvGrpSpPr/>
          <p:nvPr/>
        </p:nvGrpSpPr>
        <p:grpSpPr>
          <a:xfrm>
            <a:off x="7598703" y="1037475"/>
            <a:ext cx="444222" cy="444220"/>
            <a:chOff x="4678401" y="2094096"/>
            <a:chExt cx="444222" cy="444220"/>
          </a:xfrm>
        </p:grpSpPr>
        <p:sp>
          <p:nvSpPr>
            <p:cNvPr id="4" name="AutoShape 4"/>
            <p:cNvSpPr/>
            <p:nvPr/>
          </p:nvSpPr>
          <p:spPr>
            <a:xfrm>
              <a:off x="4678401" y="2094096"/>
              <a:ext cx="444222" cy="444220"/>
            </a:xfrm>
            <a:prstGeom prst="ellipse">
              <a:avLst/>
            </a:prstGeom>
            <a:gradFill>
              <a:gsLst>
                <a:gs pos="0">
                  <a:srgbClr val="006BE2">
                    <a:lumMod val="60000"/>
                    <a:lumOff val="40000"/>
                  </a:srgbClr>
                </a:gs>
                <a:gs pos="60000">
                  <a:srgbClr val="006BE2"/>
                </a:gs>
              </a:gsLst>
              <a:lin ang="2700000"/>
            </a:gradFill>
            <a:ln cap="rnd" cmpd="sng">
              <a:prstDash val="solid"/>
            </a:ln>
            <a:effectLst>
              <a:outerShdw blurRad="76200" dist="50800" dir="5400000" algn="ctr" rotWithShape="0">
                <a:schemeClr val="accent4">
                  <a:alpha val="20000"/>
                </a:schemeClr>
              </a:outerShdw>
            </a:effectLst>
          </p:spPr>
          <p:txBody>
            <a:bodyPr rot="0" vert="horz" wrap="square" lIns="91440" tIns="45720" rIns="91440" bIns="45720" anchor="ctr">
              <a:normAutofit/>
            </a:bodyPr>
            <a:lstStyle/>
            <a:p>
              <a:pPr marL="0" algn="ctr"/>
              <a:endParaRPr/>
            </a:p>
          </p:txBody>
        </p:sp>
        <p:sp>
          <p:nvSpPr>
            <p:cNvPr id="5" name="Freeform 5"/>
            <p:cNvSpPr/>
            <p:nvPr/>
          </p:nvSpPr>
          <p:spPr>
            <a:xfrm>
              <a:off x="4788717" y="2220630"/>
              <a:ext cx="205561" cy="171132"/>
            </a:xfrm>
            <a:custGeom>
              <a:avLst/>
              <a:gdLst/>
              <a:ahLst/>
              <a:cxnLst/>
              <a:rect l="l" t="t" r="r" b="b"/>
              <a:pathLst>
                <a:path w="526297" h="438150">
                  <a:moveTo>
                    <a:pt x="483573" y="133971"/>
                  </a:moveTo>
                  <a:cubicBezTo>
                    <a:pt x="507957" y="133971"/>
                    <a:pt x="527674" y="153688"/>
                    <a:pt x="527674" y="178072"/>
                  </a:cubicBezTo>
                  <a:cubicBezTo>
                    <a:pt x="527674" y="179215"/>
                    <a:pt x="527674" y="180358"/>
                    <a:pt x="527579" y="181501"/>
                  </a:cubicBezTo>
                  <a:lnTo>
                    <a:pt x="514244" y="355237"/>
                  </a:lnTo>
                  <a:cubicBezTo>
                    <a:pt x="513101" y="370096"/>
                    <a:pt x="500718" y="381621"/>
                    <a:pt x="485764" y="381621"/>
                  </a:cubicBezTo>
                  <a:lnTo>
                    <a:pt x="454998" y="381621"/>
                  </a:lnTo>
                  <a:lnTo>
                    <a:pt x="454998" y="438771"/>
                  </a:lnTo>
                  <a:lnTo>
                    <a:pt x="435948" y="438771"/>
                  </a:lnTo>
                  <a:lnTo>
                    <a:pt x="435948" y="381621"/>
                  </a:lnTo>
                  <a:lnTo>
                    <a:pt x="93048" y="381621"/>
                  </a:lnTo>
                  <a:lnTo>
                    <a:pt x="93048" y="438771"/>
                  </a:lnTo>
                  <a:lnTo>
                    <a:pt x="73998" y="438771"/>
                  </a:lnTo>
                  <a:lnTo>
                    <a:pt x="73998" y="381621"/>
                  </a:lnTo>
                  <a:lnTo>
                    <a:pt x="43328" y="381621"/>
                  </a:lnTo>
                  <a:cubicBezTo>
                    <a:pt x="28373" y="381621"/>
                    <a:pt x="15991" y="370096"/>
                    <a:pt x="14848" y="355237"/>
                  </a:cubicBezTo>
                  <a:lnTo>
                    <a:pt x="1513" y="181501"/>
                  </a:lnTo>
                  <a:cubicBezTo>
                    <a:pt x="-392" y="157212"/>
                    <a:pt x="17801" y="135971"/>
                    <a:pt x="42089" y="134162"/>
                  </a:cubicBezTo>
                  <a:cubicBezTo>
                    <a:pt x="43232" y="134066"/>
                    <a:pt x="44375" y="134066"/>
                    <a:pt x="45518" y="134066"/>
                  </a:cubicBezTo>
                  <a:cubicBezTo>
                    <a:pt x="73141" y="134066"/>
                    <a:pt x="96858" y="153688"/>
                    <a:pt x="101906" y="180834"/>
                  </a:cubicBezTo>
                  <a:lnTo>
                    <a:pt x="121623" y="286371"/>
                  </a:lnTo>
                  <a:lnTo>
                    <a:pt x="407373" y="286371"/>
                  </a:lnTo>
                  <a:lnTo>
                    <a:pt x="427185" y="180739"/>
                  </a:lnTo>
                  <a:cubicBezTo>
                    <a:pt x="432233" y="153592"/>
                    <a:pt x="455951" y="133971"/>
                    <a:pt x="483573" y="133971"/>
                  </a:cubicBezTo>
                  <a:close/>
                  <a:moveTo>
                    <a:pt x="416898" y="621"/>
                  </a:moveTo>
                  <a:cubicBezTo>
                    <a:pt x="453760" y="621"/>
                    <a:pt x="483573" y="30434"/>
                    <a:pt x="483573" y="67296"/>
                  </a:cubicBezTo>
                  <a:lnTo>
                    <a:pt x="483573" y="115397"/>
                  </a:lnTo>
                  <a:cubicBezTo>
                    <a:pt x="481192" y="115112"/>
                    <a:pt x="478811" y="114921"/>
                    <a:pt x="476429" y="114921"/>
                  </a:cubicBezTo>
                  <a:cubicBezTo>
                    <a:pt x="445473" y="114921"/>
                    <a:pt x="418803" y="136448"/>
                    <a:pt x="412040" y="166451"/>
                  </a:cubicBezTo>
                  <a:lnTo>
                    <a:pt x="411564" y="168737"/>
                  </a:lnTo>
                  <a:lnTo>
                    <a:pt x="393086" y="267321"/>
                  </a:lnTo>
                  <a:lnTo>
                    <a:pt x="135911" y="267321"/>
                  </a:lnTo>
                  <a:lnTo>
                    <a:pt x="117432" y="168737"/>
                  </a:lnTo>
                  <a:cubicBezTo>
                    <a:pt x="111622" y="137495"/>
                    <a:pt x="84285" y="114921"/>
                    <a:pt x="52567" y="114921"/>
                  </a:cubicBezTo>
                  <a:lnTo>
                    <a:pt x="54948" y="67296"/>
                  </a:lnTo>
                  <a:cubicBezTo>
                    <a:pt x="54948" y="30434"/>
                    <a:pt x="84761" y="621"/>
                    <a:pt x="121623" y="621"/>
                  </a:cubicBezTo>
                  <a:lnTo>
                    <a:pt x="416898" y="62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vert="horz" lIns="91440" tIns="45720" rIns="91440" bIns="45720" anchor="t">
              <a:normAutofit/>
            </a:bodyPr>
            <a:lstStyle/>
            <a:p>
              <a:pPr marL="0" algn="l"/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7589688" y="4286779"/>
            <a:ext cx="444222" cy="444220"/>
            <a:chOff x="5472389" y="2095128"/>
            <a:chExt cx="444222" cy="444220"/>
          </a:xfrm>
        </p:grpSpPr>
        <p:sp>
          <p:nvSpPr>
            <p:cNvPr id="7" name="AutoShape 7"/>
            <p:cNvSpPr/>
            <p:nvPr/>
          </p:nvSpPr>
          <p:spPr>
            <a:xfrm>
              <a:off x="5472389" y="2095128"/>
              <a:ext cx="444222" cy="444220"/>
            </a:xfrm>
            <a:prstGeom prst="ellipse">
              <a:avLst/>
            </a:prstGeom>
            <a:gradFill>
              <a:gsLst>
                <a:gs pos="0">
                  <a:srgbClr val="800012">
                    <a:lumMod val="60000"/>
                    <a:lumOff val="40000"/>
                  </a:srgbClr>
                </a:gs>
                <a:gs pos="60000">
                  <a:srgbClr val="800012"/>
                </a:gs>
              </a:gsLst>
              <a:lin ang="2700000"/>
            </a:gradFill>
            <a:ln cap="rnd" cmpd="sng">
              <a:prstDash val="solid"/>
            </a:ln>
            <a:effectLst>
              <a:outerShdw blurRad="76200" dist="50800" dir="5400000" algn="ctr" rotWithShape="0">
                <a:schemeClr val="accent6">
                  <a:alpha val="20000"/>
                </a:schemeClr>
              </a:outerShdw>
            </a:effectLst>
          </p:spPr>
          <p:txBody>
            <a:bodyPr rot="0" vert="horz" wrap="square" lIns="91440" tIns="45720" rIns="91440" bIns="45720" anchor="ctr">
              <a:normAutofit/>
            </a:bodyPr>
            <a:lstStyle/>
            <a:p>
              <a:pPr marL="0" algn="ctr"/>
              <a:endParaRPr/>
            </a:p>
          </p:txBody>
        </p:sp>
        <p:sp>
          <p:nvSpPr>
            <p:cNvPr id="8" name="Freeform 8"/>
            <p:cNvSpPr/>
            <p:nvPr/>
          </p:nvSpPr>
          <p:spPr>
            <a:xfrm>
              <a:off x="5591720" y="2223635"/>
              <a:ext cx="205561" cy="187207"/>
            </a:xfrm>
            <a:custGeom>
              <a:avLst/>
              <a:gdLst/>
              <a:ahLst/>
              <a:cxnLst/>
              <a:rect l="l" t="t" r="r" b="b"/>
              <a:pathLst>
                <a:path w="533400" h="485775">
                  <a:moveTo>
                    <a:pt x="125329" y="229221"/>
                  </a:moveTo>
                  <a:lnTo>
                    <a:pt x="125329" y="276846"/>
                  </a:lnTo>
                  <a:lnTo>
                    <a:pt x="144379" y="276846"/>
                  </a:lnTo>
                  <a:lnTo>
                    <a:pt x="144379" y="229221"/>
                  </a:lnTo>
                  <a:lnTo>
                    <a:pt x="392029" y="229221"/>
                  </a:lnTo>
                  <a:lnTo>
                    <a:pt x="392029" y="276846"/>
                  </a:lnTo>
                  <a:lnTo>
                    <a:pt x="411079" y="276846"/>
                  </a:lnTo>
                  <a:lnTo>
                    <a:pt x="411079" y="229221"/>
                  </a:lnTo>
                  <a:lnTo>
                    <a:pt x="534904" y="229221"/>
                  </a:lnTo>
                  <a:lnTo>
                    <a:pt x="534904" y="457821"/>
                  </a:lnTo>
                  <a:cubicBezTo>
                    <a:pt x="534904" y="473632"/>
                    <a:pt x="522141" y="486396"/>
                    <a:pt x="506329" y="486396"/>
                  </a:cubicBezTo>
                  <a:lnTo>
                    <a:pt x="30079" y="486396"/>
                  </a:lnTo>
                  <a:cubicBezTo>
                    <a:pt x="14267" y="486396"/>
                    <a:pt x="1504" y="473632"/>
                    <a:pt x="1504" y="457821"/>
                  </a:cubicBezTo>
                  <a:lnTo>
                    <a:pt x="1504" y="229221"/>
                  </a:lnTo>
                  <a:lnTo>
                    <a:pt x="125329" y="229221"/>
                  </a:lnTo>
                  <a:close/>
                  <a:moveTo>
                    <a:pt x="372979" y="621"/>
                  </a:moveTo>
                  <a:cubicBezTo>
                    <a:pt x="393363" y="621"/>
                    <a:pt x="410031" y="16623"/>
                    <a:pt x="411079" y="36816"/>
                  </a:cubicBezTo>
                  <a:lnTo>
                    <a:pt x="411079" y="38721"/>
                  </a:lnTo>
                  <a:lnTo>
                    <a:pt x="411079" y="114921"/>
                  </a:lnTo>
                  <a:lnTo>
                    <a:pt x="506329" y="114921"/>
                  </a:lnTo>
                  <a:cubicBezTo>
                    <a:pt x="522141" y="114921"/>
                    <a:pt x="534904" y="127685"/>
                    <a:pt x="534904" y="143496"/>
                  </a:cubicBezTo>
                  <a:lnTo>
                    <a:pt x="534904" y="210171"/>
                  </a:lnTo>
                  <a:lnTo>
                    <a:pt x="1504" y="210171"/>
                  </a:lnTo>
                  <a:lnTo>
                    <a:pt x="1504" y="143496"/>
                  </a:lnTo>
                  <a:cubicBezTo>
                    <a:pt x="1504" y="127685"/>
                    <a:pt x="14267" y="114921"/>
                    <a:pt x="30079" y="114921"/>
                  </a:cubicBezTo>
                  <a:lnTo>
                    <a:pt x="125329" y="114921"/>
                  </a:lnTo>
                  <a:lnTo>
                    <a:pt x="125329" y="38721"/>
                  </a:lnTo>
                  <a:cubicBezTo>
                    <a:pt x="125329" y="18337"/>
                    <a:pt x="141331" y="1669"/>
                    <a:pt x="161524" y="621"/>
                  </a:cubicBezTo>
                  <a:lnTo>
                    <a:pt x="163429" y="621"/>
                  </a:lnTo>
                  <a:lnTo>
                    <a:pt x="372979" y="621"/>
                  </a:lnTo>
                  <a:close/>
                  <a:moveTo>
                    <a:pt x="372979" y="19671"/>
                  </a:moveTo>
                  <a:lnTo>
                    <a:pt x="163429" y="19671"/>
                  </a:lnTo>
                  <a:cubicBezTo>
                    <a:pt x="153428" y="19671"/>
                    <a:pt x="145141" y="27482"/>
                    <a:pt x="144474" y="37292"/>
                  </a:cubicBezTo>
                  <a:lnTo>
                    <a:pt x="144379" y="38721"/>
                  </a:lnTo>
                  <a:lnTo>
                    <a:pt x="144379" y="114921"/>
                  </a:lnTo>
                  <a:lnTo>
                    <a:pt x="392029" y="114921"/>
                  </a:lnTo>
                  <a:lnTo>
                    <a:pt x="392029" y="38721"/>
                  </a:lnTo>
                  <a:cubicBezTo>
                    <a:pt x="392029" y="29196"/>
                    <a:pt x="384981" y="21290"/>
                    <a:pt x="375836" y="19862"/>
                  </a:cubicBezTo>
                  <a:lnTo>
                    <a:pt x="374408" y="19671"/>
                  </a:lnTo>
                  <a:lnTo>
                    <a:pt x="372979" y="1967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vert="horz" lIns="91440" tIns="45720" rIns="91440" bIns="45720" anchor="t">
              <a:normAutofit/>
            </a:bodyPr>
            <a:lstStyle/>
            <a:p>
              <a:pPr marL="0" algn="l"/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3821313" y="1010180"/>
            <a:ext cx="444222" cy="444220"/>
            <a:chOff x="10268119" y="2079217"/>
            <a:chExt cx="444222" cy="444220"/>
          </a:xfrm>
        </p:grpSpPr>
        <p:sp>
          <p:nvSpPr>
            <p:cNvPr id="10" name="AutoShape 10"/>
            <p:cNvSpPr/>
            <p:nvPr/>
          </p:nvSpPr>
          <p:spPr>
            <a:xfrm>
              <a:off x="10268119" y="2079217"/>
              <a:ext cx="444222" cy="444220"/>
            </a:xfrm>
            <a:prstGeom prst="ellipse">
              <a:avLst/>
            </a:prstGeom>
            <a:gradFill>
              <a:gsLst>
                <a:gs pos="0">
                  <a:srgbClr val="0F99FF">
                    <a:lumMod val="60000"/>
                    <a:lumOff val="40000"/>
                  </a:srgbClr>
                </a:gs>
                <a:gs pos="60000">
                  <a:srgbClr val="0F99FF"/>
                </a:gs>
              </a:gsLst>
              <a:lin ang="2700000"/>
            </a:gradFill>
            <a:ln cap="rnd" cmpd="sng">
              <a:prstDash val="solid"/>
            </a:ln>
            <a:effectLst>
              <a:outerShdw blurRad="76200" dist="50800" dir="5400000" algn="ctr" rotWithShape="0">
                <a:schemeClr val="accent3">
                  <a:alpha val="20000"/>
                </a:schemeClr>
              </a:outerShdw>
            </a:effectLst>
          </p:spPr>
          <p:txBody>
            <a:bodyPr rot="0" vert="horz" wrap="square" lIns="91440" tIns="45720" rIns="91440" bIns="45720" anchor="ctr">
              <a:normAutofit/>
            </a:bodyPr>
            <a:lstStyle/>
            <a:p>
              <a:pPr marL="0" algn="ctr"/>
              <a:endParaRPr/>
            </a:p>
          </p:txBody>
        </p:sp>
        <p:sp>
          <p:nvSpPr>
            <p:cNvPr id="11" name="Freeform 11"/>
            <p:cNvSpPr/>
            <p:nvPr/>
          </p:nvSpPr>
          <p:spPr>
            <a:xfrm>
              <a:off x="10387450" y="2219484"/>
              <a:ext cx="205561" cy="163687"/>
            </a:xfrm>
            <a:custGeom>
              <a:avLst/>
              <a:gdLst/>
              <a:ahLst/>
              <a:cxnLst/>
              <a:rect l="l" t="t" r="r" b="b"/>
              <a:pathLst>
                <a:path w="514350" h="409575">
                  <a:moveTo>
                    <a:pt x="486767" y="621"/>
                  </a:moveTo>
                  <a:cubicBezTo>
                    <a:pt x="502579" y="621"/>
                    <a:pt x="515342" y="13385"/>
                    <a:pt x="515342" y="29196"/>
                  </a:cubicBezTo>
                  <a:lnTo>
                    <a:pt x="515342" y="324471"/>
                  </a:lnTo>
                  <a:cubicBezTo>
                    <a:pt x="515342" y="340282"/>
                    <a:pt x="502579" y="353046"/>
                    <a:pt x="486767" y="353046"/>
                  </a:cubicBezTo>
                  <a:lnTo>
                    <a:pt x="192159" y="353046"/>
                  </a:lnTo>
                  <a:lnTo>
                    <a:pt x="115387" y="410196"/>
                  </a:lnTo>
                  <a:lnTo>
                    <a:pt x="115387" y="353046"/>
                  </a:lnTo>
                  <a:lnTo>
                    <a:pt x="29567" y="353046"/>
                  </a:lnTo>
                  <a:cubicBezTo>
                    <a:pt x="13755" y="353046"/>
                    <a:pt x="992" y="340282"/>
                    <a:pt x="992" y="324471"/>
                  </a:cubicBezTo>
                  <a:lnTo>
                    <a:pt x="992" y="29196"/>
                  </a:lnTo>
                  <a:cubicBezTo>
                    <a:pt x="992" y="13385"/>
                    <a:pt x="13755" y="621"/>
                    <a:pt x="29567" y="621"/>
                  </a:cubicBezTo>
                  <a:lnTo>
                    <a:pt x="486767" y="621"/>
                  </a:lnTo>
                  <a:close/>
                  <a:moveTo>
                    <a:pt x="124817" y="143496"/>
                  </a:moveTo>
                  <a:cubicBezTo>
                    <a:pt x="106434" y="143496"/>
                    <a:pt x="91480" y="158450"/>
                    <a:pt x="91480" y="176834"/>
                  </a:cubicBezTo>
                  <a:cubicBezTo>
                    <a:pt x="91480" y="195217"/>
                    <a:pt x="106434" y="210171"/>
                    <a:pt x="124817" y="210171"/>
                  </a:cubicBezTo>
                  <a:cubicBezTo>
                    <a:pt x="143200" y="210171"/>
                    <a:pt x="158155" y="195217"/>
                    <a:pt x="158155" y="176834"/>
                  </a:cubicBezTo>
                  <a:cubicBezTo>
                    <a:pt x="158155" y="158450"/>
                    <a:pt x="143200" y="143496"/>
                    <a:pt x="124817" y="143496"/>
                  </a:cubicBezTo>
                  <a:close/>
                  <a:moveTo>
                    <a:pt x="258167" y="143496"/>
                  </a:moveTo>
                  <a:cubicBezTo>
                    <a:pt x="239784" y="143496"/>
                    <a:pt x="224830" y="158450"/>
                    <a:pt x="224830" y="176834"/>
                  </a:cubicBezTo>
                  <a:cubicBezTo>
                    <a:pt x="224830" y="195217"/>
                    <a:pt x="239784" y="210171"/>
                    <a:pt x="258167" y="210171"/>
                  </a:cubicBezTo>
                  <a:cubicBezTo>
                    <a:pt x="276550" y="210171"/>
                    <a:pt x="291505" y="195217"/>
                    <a:pt x="291505" y="176834"/>
                  </a:cubicBezTo>
                  <a:cubicBezTo>
                    <a:pt x="291505" y="158450"/>
                    <a:pt x="276550" y="143496"/>
                    <a:pt x="258167" y="143496"/>
                  </a:cubicBezTo>
                  <a:close/>
                  <a:moveTo>
                    <a:pt x="391517" y="143496"/>
                  </a:moveTo>
                  <a:cubicBezTo>
                    <a:pt x="373134" y="143496"/>
                    <a:pt x="358180" y="158450"/>
                    <a:pt x="358180" y="176834"/>
                  </a:cubicBezTo>
                  <a:cubicBezTo>
                    <a:pt x="358180" y="195217"/>
                    <a:pt x="373134" y="210171"/>
                    <a:pt x="391517" y="210171"/>
                  </a:cubicBezTo>
                  <a:cubicBezTo>
                    <a:pt x="409900" y="210171"/>
                    <a:pt x="424855" y="195217"/>
                    <a:pt x="424855" y="176834"/>
                  </a:cubicBezTo>
                  <a:cubicBezTo>
                    <a:pt x="424855" y="158450"/>
                    <a:pt x="409900" y="143496"/>
                    <a:pt x="391517" y="143496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 vert="horz" lIns="91440" tIns="45720" rIns="91440" bIns="45720" anchor="t">
              <a:normAutofit/>
            </a:bodyPr>
            <a:lstStyle/>
            <a:p>
              <a:pPr marL="0" algn="l"/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3768556" y="4233946"/>
            <a:ext cx="444222" cy="444220"/>
            <a:chOff x="10268119" y="2079217"/>
            <a:chExt cx="444222" cy="444220"/>
          </a:xfrm>
        </p:grpSpPr>
        <p:sp>
          <p:nvSpPr>
            <p:cNvPr id="13" name="AutoShape 13"/>
            <p:cNvSpPr/>
            <p:nvPr/>
          </p:nvSpPr>
          <p:spPr>
            <a:xfrm>
              <a:off x="10268119" y="2079217"/>
              <a:ext cx="444222" cy="444220"/>
            </a:xfrm>
            <a:prstGeom prst="ellipse">
              <a:avLst/>
            </a:prstGeom>
            <a:gradFill>
              <a:gsLst>
                <a:gs pos="0">
                  <a:srgbClr val="002880">
                    <a:lumMod val="60000"/>
                    <a:lumOff val="40000"/>
                  </a:srgbClr>
                </a:gs>
                <a:gs pos="60000">
                  <a:srgbClr val="002880"/>
                </a:gs>
              </a:gsLst>
              <a:lin ang="2700000"/>
            </a:gradFill>
            <a:ln cap="rnd" cmpd="sng">
              <a:prstDash val="solid"/>
            </a:ln>
            <a:effectLst>
              <a:outerShdw blurRad="76200" dist="50800" dir="5400000" algn="ctr" rotWithShape="0">
                <a:schemeClr val="accent2">
                  <a:alpha val="20000"/>
                </a:schemeClr>
              </a:outerShdw>
            </a:effectLst>
          </p:spPr>
          <p:txBody>
            <a:bodyPr rot="0" vert="horz" wrap="square" lIns="91440" tIns="45720" rIns="91440" bIns="45720" anchor="ctr">
              <a:normAutofit/>
            </a:bodyPr>
            <a:lstStyle/>
            <a:p>
              <a:pPr marL="0" algn="ctr"/>
              <a:endParaRPr/>
            </a:p>
          </p:txBody>
        </p:sp>
        <p:sp>
          <p:nvSpPr>
            <p:cNvPr id="14" name="Freeform 14"/>
            <p:cNvSpPr/>
            <p:nvPr/>
          </p:nvSpPr>
          <p:spPr>
            <a:xfrm>
              <a:off x="10387450" y="2219484"/>
              <a:ext cx="205561" cy="163687"/>
            </a:xfrm>
            <a:custGeom>
              <a:avLst/>
              <a:gdLst/>
              <a:ahLst/>
              <a:cxnLst/>
              <a:rect l="l" t="t" r="r" b="b"/>
              <a:pathLst>
                <a:path w="514350" h="409575">
                  <a:moveTo>
                    <a:pt x="486767" y="621"/>
                  </a:moveTo>
                  <a:cubicBezTo>
                    <a:pt x="502579" y="621"/>
                    <a:pt x="515342" y="13385"/>
                    <a:pt x="515342" y="29196"/>
                  </a:cubicBezTo>
                  <a:lnTo>
                    <a:pt x="515342" y="324471"/>
                  </a:lnTo>
                  <a:cubicBezTo>
                    <a:pt x="515342" y="340282"/>
                    <a:pt x="502579" y="353046"/>
                    <a:pt x="486767" y="353046"/>
                  </a:cubicBezTo>
                  <a:lnTo>
                    <a:pt x="192159" y="353046"/>
                  </a:lnTo>
                  <a:lnTo>
                    <a:pt x="115387" y="410196"/>
                  </a:lnTo>
                  <a:lnTo>
                    <a:pt x="115387" y="353046"/>
                  </a:lnTo>
                  <a:lnTo>
                    <a:pt x="29567" y="353046"/>
                  </a:lnTo>
                  <a:cubicBezTo>
                    <a:pt x="13755" y="353046"/>
                    <a:pt x="992" y="340282"/>
                    <a:pt x="992" y="324471"/>
                  </a:cubicBezTo>
                  <a:lnTo>
                    <a:pt x="992" y="29196"/>
                  </a:lnTo>
                  <a:cubicBezTo>
                    <a:pt x="992" y="13385"/>
                    <a:pt x="13755" y="621"/>
                    <a:pt x="29567" y="621"/>
                  </a:cubicBezTo>
                  <a:lnTo>
                    <a:pt x="486767" y="621"/>
                  </a:lnTo>
                  <a:close/>
                  <a:moveTo>
                    <a:pt x="124817" y="143496"/>
                  </a:moveTo>
                  <a:cubicBezTo>
                    <a:pt x="106434" y="143496"/>
                    <a:pt x="91480" y="158450"/>
                    <a:pt x="91480" y="176834"/>
                  </a:cubicBezTo>
                  <a:cubicBezTo>
                    <a:pt x="91480" y="195217"/>
                    <a:pt x="106434" y="210171"/>
                    <a:pt x="124817" y="210171"/>
                  </a:cubicBezTo>
                  <a:cubicBezTo>
                    <a:pt x="143200" y="210171"/>
                    <a:pt x="158155" y="195217"/>
                    <a:pt x="158155" y="176834"/>
                  </a:cubicBezTo>
                  <a:cubicBezTo>
                    <a:pt x="158155" y="158450"/>
                    <a:pt x="143200" y="143496"/>
                    <a:pt x="124817" y="143496"/>
                  </a:cubicBezTo>
                  <a:close/>
                  <a:moveTo>
                    <a:pt x="258167" y="143496"/>
                  </a:moveTo>
                  <a:cubicBezTo>
                    <a:pt x="239784" y="143496"/>
                    <a:pt x="224830" y="158450"/>
                    <a:pt x="224830" y="176834"/>
                  </a:cubicBezTo>
                  <a:cubicBezTo>
                    <a:pt x="224830" y="195217"/>
                    <a:pt x="239784" y="210171"/>
                    <a:pt x="258167" y="210171"/>
                  </a:cubicBezTo>
                  <a:cubicBezTo>
                    <a:pt x="276550" y="210171"/>
                    <a:pt x="291505" y="195217"/>
                    <a:pt x="291505" y="176834"/>
                  </a:cubicBezTo>
                  <a:cubicBezTo>
                    <a:pt x="291505" y="158450"/>
                    <a:pt x="276550" y="143496"/>
                    <a:pt x="258167" y="143496"/>
                  </a:cubicBezTo>
                  <a:close/>
                  <a:moveTo>
                    <a:pt x="391517" y="143496"/>
                  </a:moveTo>
                  <a:cubicBezTo>
                    <a:pt x="373134" y="143496"/>
                    <a:pt x="358180" y="158450"/>
                    <a:pt x="358180" y="176834"/>
                  </a:cubicBezTo>
                  <a:cubicBezTo>
                    <a:pt x="358180" y="195217"/>
                    <a:pt x="373134" y="210171"/>
                    <a:pt x="391517" y="210171"/>
                  </a:cubicBezTo>
                  <a:cubicBezTo>
                    <a:pt x="409900" y="210171"/>
                    <a:pt x="424855" y="195217"/>
                    <a:pt x="424855" y="176834"/>
                  </a:cubicBezTo>
                  <a:cubicBezTo>
                    <a:pt x="424855" y="158450"/>
                    <a:pt x="409900" y="143496"/>
                    <a:pt x="391517" y="143496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 vert="horz" lIns="91440" tIns="45720" rIns="91440" bIns="45720" anchor="t">
              <a:normAutofit/>
            </a:bodyPr>
            <a:lstStyle/>
            <a:p>
              <a:pPr marL="0" algn="l"/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174436" y="1490470"/>
            <a:ext cx="2646877" cy="2316019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r">
              <a:lnSpc>
                <a:spcPct val="150000"/>
              </a:lnSpc>
              <a:defRPr/>
            </a:pPr>
            <a:r>
              <a:rPr lang="zh-CN" altLang="en-US" sz="1400" b="0" i="0" u="none" baseline="0">
                <a:solidFill>
                  <a:srgbClr val="000000"/>
                </a:solidFill>
                <a:latin typeface="微软雅黑"/>
                <a:ea typeface="微软雅黑"/>
              </a:rPr>
              <a:t>AI在工业自动化中表现尤为突出，特别是在预测维护、生产优化和质量检测等方面。智能化工厂通过实时数据分析，显著提高了生产效率与安全性。</a:t>
            </a:r>
            <a:endParaRPr lang="en-US" sz="1100"/>
          </a:p>
        </p:txBody>
      </p:sp>
      <p:sp>
        <p:nvSpPr>
          <p:cNvPr id="16" name="TextBox 16"/>
          <p:cNvSpPr txBox="1"/>
          <p:nvPr/>
        </p:nvSpPr>
        <p:spPr>
          <a:xfrm>
            <a:off x="1174436" y="1050135"/>
            <a:ext cx="2646878" cy="338554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t">
            <a:spAutoFit/>
          </a:bodyPr>
          <a:lstStyle/>
          <a:p>
            <a:pPr marL="0" algn="r">
              <a:lnSpc>
                <a:spcPct val="100000"/>
              </a:lnSpc>
              <a:defRPr/>
            </a:pPr>
            <a:r>
              <a:rPr lang="zh-CN" altLang="en-US" sz="1600" b="1" i="0" u="none" baseline="0">
                <a:ln/>
                <a:solidFill>
                  <a:srgbClr val="000000"/>
                </a:solidFill>
                <a:latin typeface="微软雅黑"/>
                <a:ea typeface="微软雅黑"/>
              </a:rPr>
              <a:t>工业与制造中的应用</a:t>
            </a:r>
            <a:endParaRPr lang="en-US" sz="1100"/>
          </a:p>
        </p:txBody>
      </p:sp>
      <p:sp>
        <p:nvSpPr>
          <p:cNvPr id="17" name="TextBox 17"/>
          <p:cNvSpPr txBox="1"/>
          <p:nvPr/>
        </p:nvSpPr>
        <p:spPr>
          <a:xfrm>
            <a:off x="1114771" y="4727114"/>
            <a:ext cx="2646877" cy="2316019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r">
              <a:lnSpc>
                <a:spcPct val="150000"/>
              </a:lnSpc>
              <a:defRPr/>
            </a:pPr>
            <a:r>
              <a:rPr lang="zh-CN" altLang="en-US" sz="1400" b="0" i="0" u="none" baseline="0">
                <a:solidFill>
                  <a:srgbClr val="000000"/>
                </a:solidFill>
                <a:latin typeface="微软雅黑"/>
                <a:ea typeface="微软雅黑"/>
              </a:rPr>
              <a:t>在家庭生活中，智能助手（如Alexa、Siri）和智能家居设备（如温控、安防系统）已逐渐普及，提升用户体验与生活便利性，促进了家居自动化。</a:t>
            </a:r>
            <a:endParaRPr lang="en-US" sz="1100"/>
          </a:p>
        </p:txBody>
      </p:sp>
      <p:sp>
        <p:nvSpPr>
          <p:cNvPr id="18" name="TextBox 18"/>
          <p:cNvSpPr txBox="1"/>
          <p:nvPr/>
        </p:nvSpPr>
        <p:spPr>
          <a:xfrm>
            <a:off x="1114771" y="4286779"/>
            <a:ext cx="2646878" cy="338554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t">
            <a:spAutoFit/>
          </a:bodyPr>
          <a:lstStyle/>
          <a:p>
            <a:pPr marL="0" algn="r">
              <a:lnSpc>
                <a:spcPct val="100000"/>
              </a:lnSpc>
              <a:defRPr/>
            </a:pPr>
            <a:r>
              <a:rPr lang="zh-CN" altLang="en-US" sz="1600" b="1" i="0" u="none" baseline="0">
                <a:ln/>
                <a:solidFill>
                  <a:srgbClr val="000000"/>
                </a:solidFill>
                <a:latin typeface="微软雅黑"/>
                <a:ea typeface="微软雅黑"/>
              </a:rPr>
              <a:t>生活中的人工智能</a:t>
            </a:r>
            <a:endParaRPr lang="en-US" sz="1100"/>
          </a:p>
        </p:txBody>
      </p:sp>
      <p:sp>
        <p:nvSpPr>
          <p:cNvPr id="19" name="TextBox 19"/>
          <p:cNvSpPr txBox="1"/>
          <p:nvPr/>
        </p:nvSpPr>
        <p:spPr>
          <a:xfrm>
            <a:off x="8042925" y="1490470"/>
            <a:ext cx="2646877" cy="2316019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l">
              <a:lnSpc>
                <a:spcPct val="150000"/>
              </a:lnSpc>
              <a:defRPr/>
            </a:pPr>
            <a:r>
              <a:rPr lang="zh-CN" altLang="en-US" sz="1400" b="0" i="0" u="none" baseline="0">
                <a:solidFill>
                  <a:srgbClr val="000000"/>
                </a:solidFill>
                <a:latin typeface="微软雅黑"/>
                <a:ea typeface="微软雅黑"/>
              </a:rPr>
              <a:t>在医疗健康领域，AI通过图像识别技术提高了诊断准确率，同时机器学习帮助药物研发与个性化医疗方案的制定，为患者提供更为优质的服务。</a:t>
            </a:r>
            <a:endParaRPr lang="en-US" sz="1100"/>
          </a:p>
        </p:txBody>
      </p:sp>
      <p:sp>
        <p:nvSpPr>
          <p:cNvPr id="20" name="TextBox 20"/>
          <p:cNvSpPr txBox="1"/>
          <p:nvPr/>
        </p:nvSpPr>
        <p:spPr>
          <a:xfrm>
            <a:off x="8042925" y="1050135"/>
            <a:ext cx="2646878" cy="338554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t">
            <a:spAutoFit/>
          </a:bodyPr>
          <a:lstStyle/>
          <a:p>
            <a:pPr marL="0" algn="l">
              <a:lnSpc>
                <a:spcPct val="100000"/>
              </a:lnSpc>
              <a:defRPr/>
            </a:pPr>
            <a:r>
              <a:rPr lang="zh-CN" altLang="en-US" sz="1600" b="1" i="0" u="none" baseline="0">
                <a:ln/>
                <a:solidFill>
                  <a:srgbClr val="000000"/>
                </a:solidFill>
                <a:latin typeface="微软雅黑"/>
                <a:ea typeface="微软雅黑"/>
              </a:rPr>
              <a:t>医疗健康领域的应用</a:t>
            </a:r>
            <a:endParaRPr lang="en-US" sz="1100"/>
          </a:p>
        </p:txBody>
      </p:sp>
      <p:sp>
        <p:nvSpPr>
          <p:cNvPr id="21" name="TextBox 21"/>
          <p:cNvSpPr txBox="1"/>
          <p:nvPr/>
        </p:nvSpPr>
        <p:spPr>
          <a:xfrm>
            <a:off x="8042925" y="4738726"/>
            <a:ext cx="2646877" cy="2316019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l">
              <a:lnSpc>
                <a:spcPct val="150000"/>
              </a:lnSpc>
              <a:defRPr/>
            </a:pPr>
            <a:r>
              <a:rPr lang="zh-CN" altLang="en-US" sz="1400" b="0" i="0" u="none" baseline="0">
                <a:solidFill>
                  <a:srgbClr val="000000"/>
                </a:solidFill>
                <a:latin typeface="微软雅黑"/>
                <a:ea typeface="微软雅黑"/>
              </a:rPr>
              <a:t>教育中，AI已应用于个性化学习和智能辅导。而在娱乐行业，AI驱动的推荐系统及虚拟现实游戏改变了用户的消费方式与娱乐体验，增加了用户的参与感。</a:t>
            </a:r>
            <a:endParaRPr lang="en-US" sz="1100"/>
          </a:p>
        </p:txBody>
      </p:sp>
      <p:sp>
        <p:nvSpPr>
          <p:cNvPr id="22" name="TextBox 22"/>
          <p:cNvSpPr txBox="1"/>
          <p:nvPr/>
        </p:nvSpPr>
        <p:spPr>
          <a:xfrm>
            <a:off x="8042925" y="4298391"/>
            <a:ext cx="2646878" cy="338554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t">
            <a:spAutoFit/>
          </a:bodyPr>
          <a:lstStyle/>
          <a:p>
            <a:pPr marL="0" algn="l">
              <a:lnSpc>
                <a:spcPct val="100000"/>
              </a:lnSpc>
              <a:defRPr/>
            </a:pPr>
            <a:r>
              <a:rPr lang="zh-CN" altLang="en-US" sz="1600" b="1" i="0" u="none" baseline="0">
                <a:ln/>
                <a:solidFill>
                  <a:srgbClr val="000000"/>
                </a:solidFill>
                <a:latin typeface="微软雅黑"/>
                <a:ea typeface="微软雅黑"/>
              </a:rPr>
              <a:t>教育和娱乐领域</a:t>
            </a:r>
            <a:endParaRPr lang="en-US" sz="1100"/>
          </a:p>
        </p:txBody>
      </p:sp>
      <p:sp>
        <p:nvSpPr>
          <p:cNvPr id="23" name="AutoShape 23"/>
          <p:cNvSpPr>
            <a:spLocks noGrp="1"/>
          </p:cNvSpPr>
          <p:nvPr>
            <p:ph type="title"/>
          </p:nvPr>
        </p:nvSpPr>
        <p:spPr>
          <a:xfrm>
            <a:off x="660399" y="0"/>
            <a:ext cx="10858500" cy="1028700"/>
          </a:xfrm>
        </p:spPr>
        <p:txBody>
          <a:bodyPr vert="horz" wrap="square" lIns="91440" tIns="45720" rIns="91440" bIns="45720" anchor="b">
            <a:norm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800" b="1" i="0" u="none" baseline="0" dirty="0" err="1">
                <a:solidFill>
                  <a:srgbClr val="000000"/>
                </a:solidFill>
                <a:latin typeface="微软雅黑"/>
                <a:ea typeface="微软雅黑"/>
              </a:rPr>
              <a:t>人工智能的应用领域</a:t>
            </a:r>
            <a:endParaRPr lang="en-US" sz="2800" b="1" i="0" u="none" baseline="0" dirty="0">
              <a:solidFill>
                <a:srgbClr val="000000"/>
              </a:solidFill>
              <a:latin typeface="微软雅黑"/>
              <a:ea typeface="微软雅黑"/>
            </a:endParaRPr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title"/>
          </p:nvPr>
        </p:nvSpPr>
        <p:spPr>
          <a:xfrm>
            <a:off x="1759568" y="2145656"/>
            <a:ext cx="8358303" cy="646331"/>
          </a:xfrm>
        </p:spPr>
        <p:txBody>
          <a:bodyPr vert="horz" wrap="square" lIns="91440" tIns="45720" rIns="91440" b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3600" b="1" i="0" u="none" baseline="0">
                <a:solidFill>
                  <a:srgbClr val="F0F0F0"/>
                </a:solidFill>
                <a:latin typeface="微软雅黑"/>
                <a:ea typeface="微软雅黑"/>
              </a:rPr>
              <a:t>人工智能流派概述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94652" y="2126166"/>
            <a:ext cx="750849" cy="707886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l">
              <a:defRPr/>
            </a:pPr>
            <a:r>
              <a:rPr lang="en-US" sz="4000" b="1" i="0" u="none" baseline="0">
                <a:solidFill>
                  <a:srgbClr val="FFFFFF"/>
                </a:solidFill>
                <a:latin typeface="Arial"/>
                <a:ea typeface="Arial"/>
              </a:rPr>
              <a:t>02</a:t>
            </a:r>
            <a:endParaRPr lang="en-US" sz="1100"/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4449957" y="1342502"/>
            <a:ext cx="1116000" cy="1116000"/>
          </a:xfrm>
          <a:prstGeom prst="ellipse">
            <a:avLst/>
          </a:prstGeom>
          <a:gradFill>
            <a:gsLst>
              <a:gs pos="0">
                <a:srgbClr val="0F99FF">
                  <a:lumMod val="60000"/>
                  <a:lumOff val="40000"/>
                </a:srgbClr>
              </a:gs>
              <a:gs pos="60000">
                <a:srgbClr val="0F99FF"/>
              </a:gs>
            </a:gsLst>
            <a:lin ang="2700000"/>
          </a:gradFill>
          <a:ln cap="rnd" cmpd="sng">
            <a:prstDash val="solid"/>
          </a:ln>
          <a:effectLst>
            <a:outerShdw blurRad="50800" dist="50800" dir="5400000" algn="ctr" rotWithShape="0">
              <a:schemeClr val="accent3">
                <a:alpha val="20000"/>
              </a:schemeClr>
            </a:outerShdw>
          </a:effectLst>
        </p:spPr>
        <p:txBody>
          <a:bodyPr rot="0" vert="horz" wrap="square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4744103" y="1669670"/>
            <a:ext cx="527709" cy="461665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wrap="none" lIns="91440" tIns="45720" rIns="91440" bIns="45720" anchor="b">
            <a:spAutoFit/>
          </a:bodyPr>
          <a:lstStyle/>
          <a:p>
            <a:pPr marL="0" algn="ctr"/>
            <a:r>
              <a:rPr lang="en-US" sz="2400" b="1" i="0" u="none" baseline="0">
                <a:solidFill>
                  <a:srgbClr val="FFFFFF"/>
                </a:solidFill>
                <a:latin typeface="Arial"/>
                <a:ea typeface="Arial"/>
              </a:rPr>
              <a:t>02</a:t>
            </a:r>
          </a:p>
        </p:txBody>
      </p:sp>
      <p:sp>
        <p:nvSpPr>
          <p:cNvPr id="4" name="AutoShape 4"/>
          <p:cNvSpPr/>
          <p:nvPr/>
        </p:nvSpPr>
        <p:spPr>
          <a:xfrm>
            <a:off x="660399" y="1342502"/>
            <a:ext cx="1116000" cy="1116000"/>
          </a:xfrm>
          <a:prstGeom prst="ellipse">
            <a:avLst/>
          </a:prstGeom>
          <a:gradFill>
            <a:gsLst>
              <a:gs pos="0">
                <a:srgbClr val="0048B4">
                  <a:lumMod val="60000"/>
                  <a:lumOff val="40000"/>
                </a:srgbClr>
              </a:gs>
              <a:gs pos="60000">
                <a:srgbClr val="0048B4"/>
              </a:gs>
            </a:gsLst>
            <a:lin ang="2700000"/>
          </a:gradFill>
          <a:ln cap="rnd" cmpd="sng">
            <a:prstDash val="solid"/>
          </a:ln>
          <a:effectLst>
            <a:outerShdw blurRad="50800" dist="50800" dir="5400000" algn="ctr" rotWithShape="0">
              <a:schemeClr val="accent1">
                <a:alpha val="20000"/>
              </a:schemeClr>
            </a:outerShdw>
          </a:effectLst>
        </p:spPr>
        <p:txBody>
          <a:bodyPr rot="0" vert="horz" wrap="square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954545" y="1669670"/>
            <a:ext cx="527709" cy="461665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wrap="none" lIns="91440" tIns="45720" rIns="91440" bIns="45720" anchor="b">
            <a:spAutoFit/>
          </a:bodyPr>
          <a:lstStyle/>
          <a:p>
            <a:pPr marL="0" algn="ctr"/>
            <a:r>
              <a:rPr lang="en-US" sz="2400" b="1" i="0" u="none" baseline="0">
                <a:solidFill>
                  <a:schemeClr val="lt1"/>
                </a:solidFill>
                <a:latin typeface="Arial"/>
                <a:ea typeface="Arial"/>
              </a:rPr>
              <a:t>01</a:t>
            </a:r>
          </a:p>
        </p:txBody>
      </p:sp>
      <p:sp>
        <p:nvSpPr>
          <p:cNvPr id="6" name="AutoShape 6"/>
          <p:cNvSpPr/>
          <p:nvPr/>
        </p:nvSpPr>
        <p:spPr>
          <a:xfrm>
            <a:off x="8239516" y="1342502"/>
            <a:ext cx="1116000" cy="1116000"/>
          </a:xfrm>
          <a:prstGeom prst="ellipse">
            <a:avLst/>
          </a:prstGeom>
          <a:gradFill>
            <a:gsLst>
              <a:gs pos="0">
                <a:srgbClr val="002880">
                  <a:lumMod val="60000"/>
                  <a:lumOff val="40000"/>
                </a:srgbClr>
              </a:gs>
              <a:gs pos="60000">
                <a:srgbClr val="002880"/>
              </a:gs>
            </a:gsLst>
            <a:lin ang="2700000"/>
          </a:gradFill>
          <a:ln cap="rnd" cmpd="sng">
            <a:prstDash val="solid"/>
          </a:ln>
          <a:effectLst>
            <a:outerShdw blurRad="50800" dist="50800" dir="5400000" algn="ctr" rotWithShape="0">
              <a:schemeClr val="accent2">
                <a:alpha val="20000"/>
              </a:schemeClr>
            </a:outerShdw>
          </a:effectLst>
        </p:spPr>
        <p:txBody>
          <a:bodyPr rot="0" vert="horz" wrap="square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8533662" y="1704955"/>
            <a:ext cx="527709" cy="461665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wrap="none" lIns="91440" tIns="45720" rIns="91440" bIns="45720" anchor="b">
            <a:spAutoFit/>
          </a:bodyPr>
          <a:lstStyle/>
          <a:p>
            <a:pPr marL="0" algn="ctr"/>
            <a:r>
              <a:rPr lang="en-US" sz="2400" b="1" i="0" u="none" baseline="0">
                <a:solidFill>
                  <a:srgbClr val="FFFFFF"/>
                </a:solidFill>
                <a:latin typeface="Arial"/>
                <a:ea typeface="Arial"/>
              </a:rPr>
              <a:t>03</a:t>
            </a:r>
          </a:p>
        </p:txBody>
      </p:sp>
      <p:sp>
        <p:nvSpPr>
          <p:cNvPr id="8" name="AutoShape 8"/>
          <p:cNvSpPr/>
          <p:nvPr/>
        </p:nvSpPr>
        <p:spPr>
          <a:xfrm>
            <a:off x="1776399" y="1704955"/>
            <a:ext cx="1928914" cy="338554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wrap="square" lIns="91440" tIns="45720" rIns="91440" bIns="45720" anchor="t">
            <a:spAutoFit/>
          </a:bodyPr>
          <a:lstStyle/>
          <a:p>
            <a:pPr marL="0" algn="l">
              <a:lnSpc>
                <a:spcPct val="100000"/>
              </a:lnSpc>
            </a:pPr>
            <a:r>
              <a:rPr lang="zh-CN" altLang="en-US" sz="16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主流流派介绍</a:t>
            </a:r>
          </a:p>
        </p:txBody>
      </p:sp>
      <p:sp>
        <p:nvSpPr>
          <p:cNvPr id="9" name="AutoShape 9"/>
          <p:cNvSpPr/>
          <p:nvPr/>
        </p:nvSpPr>
        <p:spPr>
          <a:xfrm>
            <a:off x="1776399" y="2458502"/>
            <a:ext cx="1928914" cy="2639184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wrap="square" lIns="91440" tIns="45720" rIns="91440" bIns="45720" anchor="t">
            <a:spAutoFit/>
          </a:bodyPr>
          <a:lstStyle/>
          <a:p>
            <a:pPr marL="0" algn="l">
              <a:lnSpc>
                <a:spcPct val="150000"/>
              </a:lnSpc>
            </a:pPr>
            <a:r>
              <a:rPr lang="zh-CN" altLang="en-US" sz="1400" b="0" i="0" u="none" baseline="0">
                <a:solidFill>
                  <a:srgbClr val="000000"/>
                </a:solidFill>
                <a:latin typeface="微软雅黑"/>
                <a:ea typeface="微软雅黑"/>
              </a:rPr>
              <a:t>人工智能的主流流派包括符号主义、连接主义和基于规则的方法。每个流派针对不同问题的解决策略，各有所长，形成了丰富的研究体系。</a:t>
            </a:r>
          </a:p>
        </p:txBody>
      </p:sp>
      <p:sp>
        <p:nvSpPr>
          <p:cNvPr id="10" name="AutoShape 10"/>
          <p:cNvSpPr/>
          <p:nvPr/>
        </p:nvSpPr>
        <p:spPr>
          <a:xfrm>
            <a:off x="5565958" y="1704955"/>
            <a:ext cx="1928914" cy="338554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wrap="square" lIns="91440" tIns="45720" rIns="91440" bIns="45720" anchor="t">
            <a:spAutoFit/>
          </a:bodyPr>
          <a:lstStyle/>
          <a:p>
            <a:pPr marL="0" algn="l">
              <a:lnSpc>
                <a:spcPct val="100000"/>
              </a:lnSpc>
            </a:pPr>
            <a:r>
              <a:rPr lang="zh-CN" altLang="en-US" sz="16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小众流派概述</a:t>
            </a:r>
          </a:p>
        </p:txBody>
      </p:sp>
      <p:sp>
        <p:nvSpPr>
          <p:cNvPr id="11" name="AutoShape 11"/>
          <p:cNvSpPr/>
          <p:nvPr/>
        </p:nvSpPr>
        <p:spPr>
          <a:xfrm>
            <a:off x="5565958" y="2458502"/>
            <a:ext cx="1928914" cy="2639184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wrap="square" lIns="91440" tIns="45720" rIns="91440" bIns="45720" anchor="t">
            <a:spAutoFit/>
          </a:bodyPr>
          <a:lstStyle/>
          <a:p>
            <a:pPr marL="0" algn="l">
              <a:lnSpc>
                <a:spcPct val="150000"/>
              </a:lnSpc>
            </a:pPr>
            <a:r>
              <a:rPr lang="zh-CN" altLang="en-US" sz="1400" b="0" i="0" u="none" baseline="0">
                <a:solidFill>
                  <a:srgbClr val="000000"/>
                </a:solidFill>
                <a:latin typeface="微软雅黑"/>
                <a:ea typeface="微软雅黑"/>
              </a:rPr>
              <a:t>除了主流流派，小众流派如演化计算和类脑计算也在进行探索。这些流派在特定的应用环境和理论框架下，展现了令人关注的潜力。</a:t>
            </a:r>
          </a:p>
        </p:txBody>
      </p:sp>
      <p:sp>
        <p:nvSpPr>
          <p:cNvPr id="12" name="AutoShape 12"/>
          <p:cNvSpPr/>
          <p:nvPr/>
        </p:nvSpPr>
        <p:spPr>
          <a:xfrm>
            <a:off x="9447007" y="1704955"/>
            <a:ext cx="1928914" cy="338554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wrap="square" lIns="91440" tIns="45720" rIns="91440" bIns="45720" anchor="t">
            <a:spAutoFit/>
          </a:bodyPr>
          <a:lstStyle/>
          <a:p>
            <a:pPr marL="0" algn="l">
              <a:lnSpc>
                <a:spcPct val="100000"/>
              </a:lnSpc>
            </a:pPr>
            <a:r>
              <a:rPr lang="zh-CN" altLang="en-US" sz="16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2.1.3流派间的区别与联系</a:t>
            </a:r>
          </a:p>
        </p:txBody>
      </p:sp>
      <p:sp>
        <p:nvSpPr>
          <p:cNvPr id="13" name="AutoShape 13"/>
          <p:cNvSpPr/>
          <p:nvPr/>
        </p:nvSpPr>
        <p:spPr>
          <a:xfrm>
            <a:off x="9447007" y="2458502"/>
            <a:ext cx="1928914" cy="2639184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wrap="square" lIns="91440" tIns="45720" rIns="91440" bIns="45720" anchor="t">
            <a:spAutoFit/>
          </a:bodyPr>
          <a:lstStyle/>
          <a:p>
            <a:pPr marL="0" algn="l">
              <a:lnSpc>
                <a:spcPct val="150000"/>
              </a:lnSpc>
            </a:pPr>
            <a:r>
              <a:rPr lang="zh-CN" altLang="en-US" sz="1400" b="0" i="0" u="none" baseline="0">
                <a:solidFill>
                  <a:srgbClr val="000000"/>
                </a:solidFill>
                <a:latin typeface="微软雅黑"/>
                <a:ea typeface="微软雅黑"/>
              </a:rPr>
              <a:t>虽然各流派在方法论和实现机制上存在差异，但它们之间有着密切的联系。例如，连接主义的深度学习可以与符号主义的推理机制结合，提升综合智能水平。</a:t>
            </a:r>
          </a:p>
        </p:txBody>
      </p:sp>
      <p:sp>
        <p:nvSpPr>
          <p:cNvPr id="14" name="AutoShape 14"/>
          <p:cNvSpPr>
            <a:spLocks noGrp="1"/>
          </p:cNvSpPr>
          <p:nvPr>
            <p:ph type="title"/>
          </p:nvPr>
        </p:nvSpPr>
        <p:spPr>
          <a:xfrm>
            <a:off x="660399" y="0"/>
            <a:ext cx="10858500" cy="1028700"/>
          </a:xfrm>
        </p:spPr>
        <p:txBody>
          <a:bodyPr vert="horz" lIns="91440" tIns="45720" rIns="91440" bIns="45720" anchor="b">
            <a:norm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zh-CN" altLang="en-US" sz="2800" b="1" i="0" u="none" baseline="0">
                <a:solidFill>
                  <a:srgbClr val="000000"/>
                </a:solidFill>
                <a:latin typeface="+mn-ea"/>
                <a:ea typeface="+mn-ea"/>
              </a:rPr>
              <a:t>人工智能流派分类</a:t>
            </a:r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35279" y="1512253"/>
            <a:ext cx="2637590" cy="2610369"/>
          </a:xfrm>
          <a:custGeom>
            <a:avLst/>
            <a:gdLst/>
            <a:ahLst/>
            <a:cxnLst/>
            <a:rect l="l" t="t" r="r" b="b"/>
            <a:pathLst>
              <a:path w="7873" h="7791">
                <a:moveTo>
                  <a:pt x="2709" y="1592"/>
                </a:moveTo>
                <a:cubicBezTo>
                  <a:pt x="3377" y="2060"/>
                  <a:pt x="4681" y="2036"/>
                  <a:pt x="5329" y="1624"/>
                </a:cubicBezTo>
                <a:cubicBezTo>
                  <a:pt x="5545" y="1487"/>
                  <a:pt x="5785" y="1286"/>
                  <a:pt x="5782" y="969"/>
                </a:cubicBezTo>
                <a:cubicBezTo>
                  <a:pt x="5780" y="712"/>
                  <a:pt x="5610" y="541"/>
                  <a:pt x="5477" y="432"/>
                </a:cubicBezTo>
                <a:cubicBezTo>
                  <a:pt x="5134" y="153"/>
                  <a:pt x="4575" y="0"/>
                  <a:pt x="4004" y="13"/>
                </a:cubicBezTo>
                <a:cubicBezTo>
                  <a:pt x="3452" y="27"/>
                  <a:pt x="3028" y="142"/>
                  <a:pt x="2709" y="368"/>
                </a:cubicBezTo>
                <a:cubicBezTo>
                  <a:pt x="2579" y="460"/>
                  <a:pt x="2397" y="651"/>
                  <a:pt x="2352" y="840"/>
                </a:cubicBezTo>
                <a:cubicBezTo>
                  <a:pt x="2268" y="1188"/>
                  <a:pt x="2508" y="1452"/>
                  <a:pt x="2709" y="1592"/>
                </a:cubicBezTo>
                <a:close/>
                <a:moveTo>
                  <a:pt x="2699" y="2258"/>
                </a:moveTo>
                <a:cubicBezTo>
                  <a:pt x="2797" y="2310"/>
                  <a:pt x="2931" y="2327"/>
                  <a:pt x="3046" y="2376"/>
                </a:cubicBezTo>
                <a:cubicBezTo>
                  <a:pt x="3149" y="2421"/>
                  <a:pt x="3244" y="2499"/>
                  <a:pt x="3351" y="2537"/>
                </a:cubicBezTo>
                <a:cubicBezTo>
                  <a:pt x="3702" y="2664"/>
                  <a:pt x="4247" y="2653"/>
                  <a:pt x="4656" y="2570"/>
                </a:cubicBezTo>
                <a:cubicBezTo>
                  <a:pt x="5060" y="2487"/>
                  <a:pt x="5429" y="2312"/>
                  <a:pt x="5624" y="2076"/>
                </a:cubicBezTo>
                <a:cubicBezTo>
                  <a:pt x="5764" y="1906"/>
                  <a:pt x="5830" y="1635"/>
                  <a:pt x="5782" y="1335"/>
                </a:cubicBezTo>
                <a:cubicBezTo>
                  <a:pt x="5772" y="1424"/>
                  <a:pt x="5742" y="1519"/>
                  <a:pt x="5698" y="1592"/>
                </a:cubicBezTo>
                <a:cubicBezTo>
                  <a:pt x="5156" y="2500"/>
                  <a:pt x="2595" y="2483"/>
                  <a:pt x="2331" y="1335"/>
                </a:cubicBezTo>
                <a:cubicBezTo>
                  <a:pt x="2289" y="1782"/>
                  <a:pt x="2428" y="2114"/>
                  <a:pt x="2699" y="2258"/>
                </a:cubicBezTo>
                <a:close/>
                <a:moveTo>
                  <a:pt x="3730" y="2903"/>
                </a:moveTo>
                <a:cubicBezTo>
                  <a:pt x="3794" y="3024"/>
                  <a:pt x="3869" y="3133"/>
                  <a:pt x="3888" y="3300"/>
                </a:cubicBezTo>
                <a:cubicBezTo>
                  <a:pt x="4160" y="3343"/>
                  <a:pt x="4254" y="3211"/>
                  <a:pt x="4414" y="3128"/>
                </a:cubicBezTo>
                <a:cubicBezTo>
                  <a:pt x="4739" y="2959"/>
                  <a:pt x="5059" y="2880"/>
                  <a:pt x="5519" y="2849"/>
                </a:cubicBezTo>
                <a:cubicBezTo>
                  <a:pt x="5727" y="2700"/>
                  <a:pt x="5840" y="2396"/>
                  <a:pt x="5782" y="2011"/>
                </a:cubicBezTo>
                <a:cubicBezTo>
                  <a:pt x="5775" y="2060"/>
                  <a:pt x="5774" y="2105"/>
                  <a:pt x="5761" y="2140"/>
                </a:cubicBezTo>
                <a:cubicBezTo>
                  <a:pt x="5540" y="2743"/>
                  <a:pt x="4538" y="2972"/>
                  <a:pt x="3730" y="2903"/>
                </a:cubicBezTo>
                <a:close/>
                <a:moveTo>
                  <a:pt x="3330" y="2967"/>
                </a:moveTo>
                <a:cubicBezTo>
                  <a:pt x="2977" y="2629"/>
                  <a:pt x="2385" y="2464"/>
                  <a:pt x="1752" y="2494"/>
                </a:cubicBezTo>
                <a:cubicBezTo>
                  <a:pt x="1329" y="2515"/>
                  <a:pt x="1030" y="2573"/>
                  <a:pt x="742" y="2709"/>
                </a:cubicBezTo>
                <a:cubicBezTo>
                  <a:pt x="435" y="2855"/>
                  <a:pt x="0" y="3158"/>
                  <a:pt x="152" y="3644"/>
                </a:cubicBezTo>
                <a:cubicBezTo>
                  <a:pt x="317" y="4167"/>
                  <a:pt x="1145" y="4424"/>
                  <a:pt x="1815" y="4428"/>
                </a:cubicBezTo>
                <a:cubicBezTo>
                  <a:pt x="2518" y="4432"/>
                  <a:pt x="3327" y="4194"/>
                  <a:pt x="3530" y="3687"/>
                </a:cubicBezTo>
                <a:cubicBezTo>
                  <a:pt x="3654" y="3377"/>
                  <a:pt x="3498" y="3127"/>
                  <a:pt x="3330" y="2967"/>
                </a:cubicBezTo>
                <a:close/>
                <a:moveTo>
                  <a:pt x="3236" y="4267"/>
                </a:moveTo>
                <a:cubicBezTo>
                  <a:pt x="2479" y="4956"/>
                  <a:pt x="393" y="4883"/>
                  <a:pt x="100" y="3837"/>
                </a:cubicBezTo>
                <a:cubicBezTo>
                  <a:pt x="89" y="4158"/>
                  <a:pt x="149" y="4405"/>
                  <a:pt x="289" y="4567"/>
                </a:cubicBezTo>
                <a:cubicBezTo>
                  <a:pt x="809" y="5172"/>
                  <a:pt x="2306" y="5269"/>
                  <a:pt x="3036" y="4825"/>
                </a:cubicBezTo>
                <a:cubicBezTo>
                  <a:pt x="3102" y="4610"/>
                  <a:pt x="3176" y="4403"/>
                  <a:pt x="3288" y="4234"/>
                </a:cubicBezTo>
                <a:cubicBezTo>
                  <a:pt x="3260" y="4206"/>
                  <a:pt x="3247" y="4256"/>
                  <a:pt x="3236" y="4267"/>
                </a:cubicBezTo>
                <a:close/>
                <a:moveTo>
                  <a:pt x="7676" y="4686"/>
                </a:moveTo>
                <a:cubicBezTo>
                  <a:pt x="7360" y="3976"/>
                  <a:pt x="6678" y="3405"/>
                  <a:pt x="5708" y="3407"/>
                </a:cubicBezTo>
                <a:cubicBezTo>
                  <a:pt x="5002" y="3409"/>
                  <a:pt x="4538" y="3710"/>
                  <a:pt x="4193" y="4063"/>
                </a:cubicBezTo>
                <a:cubicBezTo>
                  <a:pt x="3851" y="4412"/>
                  <a:pt x="3559" y="4942"/>
                  <a:pt x="3572" y="5620"/>
                </a:cubicBezTo>
                <a:cubicBezTo>
                  <a:pt x="3585" y="6291"/>
                  <a:pt x="3852" y="6780"/>
                  <a:pt x="4214" y="7145"/>
                </a:cubicBezTo>
                <a:cubicBezTo>
                  <a:pt x="4572" y="7506"/>
                  <a:pt x="5098" y="7791"/>
                  <a:pt x="5740" y="7779"/>
                </a:cubicBezTo>
                <a:cubicBezTo>
                  <a:pt x="6380" y="7767"/>
                  <a:pt x="6891" y="7500"/>
                  <a:pt x="7245" y="7134"/>
                </a:cubicBezTo>
                <a:cubicBezTo>
                  <a:pt x="7592" y="6776"/>
                  <a:pt x="7873" y="6254"/>
                  <a:pt x="7866" y="5577"/>
                </a:cubicBezTo>
                <a:cubicBezTo>
                  <a:pt x="7862" y="5260"/>
                  <a:pt x="7791" y="4942"/>
                  <a:pt x="7676" y="4686"/>
                </a:cubicBezTo>
                <a:close/>
                <a:moveTo>
                  <a:pt x="5719" y="6286"/>
                </a:moveTo>
                <a:cubicBezTo>
                  <a:pt x="5246" y="6164"/>
                  <a:pt x="4746" y="6069"/>
                  <a:pt x="4267" y="5953"/>
                </a:cubicBezTo>
                <a:cubicBezTo>
                  <a:pt x="4280" y="5812"/>
                  <a:pt x="4304" y="5683"/>
                  <a:pt x="4330" y="5556"/>
                </a:cubicBezTo>
                <a:cubicBezTo>
                  <a:pt x="4751" y="5663"/>
                  <a:pt x="5186" y="5756"/>
                  <a:pt x="5603" y="5867"/>
                </a:cubicBezTo>
                <a:cubicBezTo>
                  <a:pt x="6042" y="5241"/>
                  <a:pt x="6475" y="4609"/>
                  <a:pt x="6908" y="3977"/>
                </a:cubicBezTo>
                <a:cubicBezTo>
                  <a:pt x="7035" y="4151"/>
                  <a:pt x="7136" y="4353"/>
                  <a:pt x="7255" y="4535"/>
                </a:cubicBezTo>
                <a:cubicBezTo>
                  <a:pt x="6754" y="5129"/>
                  <a:pt x="6248" y="5720"/>
                  <a:pt x="5719" y="6286"/>
                </a:cubicBezTo>
                <a:close/>
                <a:moveTo>
                  <a:pt x="121" y="4492"/>
                </a:moveTo>
                <a:cubicBezTo>
                  <a:pt x="128" y="4663"/>
                  <a:pt x="104" y="4863"/>
                  <a:pt x="152" y="5008"/>
                </a:cubicBezTo>
                <a:cubicBezTo>
                  <a:pt x="286" y="5405"/>
                  <a:pt x="816" y="5648"/>
                  <a:pt x="1310" y="5738"/>
                </a:cubicBezTo>
                <a:cubicBezTo>
                  <a:pt x="1869" y="5840"/>
                  <a:pt x="2512" y="5761"/>
                  <a:pt x="2930" y="5566"/>
                </a:cubicBezTo>
                <a:cubicBezTo>
                  <a:pt x="2928" y="5421"/>
                  <a:pt x="2946" y="5296"/>
                  <a:pt x="2962" y="5169"/>
                </a:cubicBezTo>
                <a:cubicBezTo>
                  <a:pt x="2038" y="5580"/>
                  <a:pt x="359" y="5455"/>
                  <a:pt x="121" y="4492"/>
                </a:cubicBezTo>
                <a:close/>
              </a:path>
            </a:pathLst>
          </a:custGeom>
          <a:gradFill>
            <a:gsLst>
              <a:gs pos="0">
                <a:srgbClr val="800012">
                  <a:lumMod val="60000"/>
                  <a:lumOff val="40000"/>
                </a:srgbClr>
              </a:gs>
              <a:gs pos="60000">
                <a:srgbClr val="800012"/>
              </a:gs>
            </a:gsLst>
            <a:lin ang="2700000"/>
          </a:gradFill>
          <a:ln cap="rnd" cmpd="sng">
            <a:prstDash val="solid"/>
          </a:ln>
          <a:effectLst>
            <a:outerShdw blurRad="76200" dist="50800" dir="5400000" algn="ctr" rotWithShape="0">
              <a:schemeClr val="accent6">
                <a:alpha val="20000"/>
              </a:schemeClr>
            </a:outerShdw>
          </a:effectLst>
        </p:spPr>
        <p:txBody>
          <a:bodyPr rot="0" vert="horz" wrap="square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3" name="AutoShape 3"/>
          <p:cNvSpPr/>
          <p:nvPr/>
        </p:nvSpPr>
        <p:spPr>
          <a:xfrm flipH="1">
            <a:off x="4222433" y="1612319"/>
            <a:ext cx="7025431" cy="845616"/>
          </a:xfrm>
          <a:prstGeom prst="rect">
            <a:avLst/>
          </a:prstGeom>
        </p:spPr>
        <p:txBody>
          <a:bodyPr vert="horz" wrap="square" lIns="91440" tIns="45720" rIns="91440" bIns="45720" anchor="t">
            <a:spAutoFit/>
          </a:bodyPr>
          <a:lstStyle/>
          <a:p>
            <a:pPr marL="0" algn="l">
              <a:lnSpc>
                <a:spcPct val="120000"/>
              </a:lnSpc>
            </a:pPr>
            <a:r>
              <a:rPr lang="zh-CN" altLang="en-US" sz="1400" b="0" i="0" u="none" baseline="0">
                <a:solidFill>
                  <a:srgbClr val="000000"/>
                </a:solidFill>
                <a:latin typeface="微软雅黑"/>
                <a:ea typeface="微软雅黑"/>
              </a:rPr>
              <a:t>随着各流派的应用逐渐深入人类生活，未来的社会生活将呈现高度智能化、自动化的特点，带来生活方式的根本性变革。</a:t>
            </a:r>
          </a:p>
        </p:txBody>
      </p:sp>
      <p:sp>
        <p:nvSpPr>
          <p:cNvPr id="4" name="TextBox 4"/>
          <p:cNvSpPr txBox="1"/>
          <p:nvPr/>
        </p:nvSpPr>
        <p:spPr>
          <a:xfrm flipH="1">
            <a:off x="4222431" y="1163035"/>
            <a:ext cx="7025422" cy="338554"/>
          </a:xfrm>
          <a:prstGeom prst="rect">
            <a:avLst/>
          </a:prstGeom>
          <a:noFill/>
          <a:ln cap="rnd" cmpd="sng">
            <a:prstDash val="solid"/>
          </a:ln>
        </p:spPr>
        <p:txBody>
          <a:bodyPr rot="0" vert="horz" wrap="square" lIns="91440" tIns="45720" rIns="91440" bIns="45720" rtlCol="0" anchor="b">
            <a:prstTxWarp prst="textNoShape">
              <a:avLst/>
            </a:prstTxWarp>
            <a:spAutoFit/>
          </a:bodyPr>
          <a:lstStyle/>
          <a:p>
            <a:pPr marL="0" algn="l">
              <a:lnSpc>
                <a:spcPct val="100000"/>
              </a:lnSpc>
              <a:defRPr/>
            </a:pPr>
            <a:r>
              <a:rPr lang="zh-CN" altLang="en-US" sz="1600" b="1" i="0" u="none" baseline="0">
                <a:solidFill>
                  <a:srgbClr val="000000">
                    <a:lumMod val="90000"/>
                    <a:lumOff val="10000"/>
                  </a:srgbClr>
                </a:solidFill>
                <a:latin typeface="微软雅黑"/>
                <a:ea typeface="微软雅黑"/>
              </a:rPr>
              <a:t>对未来生活的影响</a:t>
            </a:r>
            <a:endParaRPr lang="en-US" sz="1100"/>
          </a:p>
        </p:txBody>
      </p:sp>
      <p:grpSp>
        <p:nvGrpSpPr>
          <p:cNvPr id="5" name="Group 5"/>
          <p:cNvGrpSpPr/>
          <p:nvPr/>
        </p:nvGrpSpPr>
        <p:grpSpPr>
          <a:xfrm>
            <a:off x="3585809" y="1136936"/>
            <a:ext cx="444222" cy="444220"/>
            <a:chOff x="4678401" y="2094096"/>
            <a:chExt cx="444222" cy="444220"/>
          </a:xfrm>
        </p:grpSpPr>
        <p:sp>
          <p:nvSpPr>
            <p:cNvPr id="6" name="AutoShape 6"/>
            <p:cNvSpPr/>
            <p:nvPr/>
          </p:nvSpPr>
          <p:spPr>
            <a:xfrm>
              <a:off x="4678401" y="2094096"/>
              <a:ext cx="444222" cy="444220"/>
            </a:xfrm>
            <a:prstGeom prst="ellipse">
              <a:avLst/>
            </a:prstGeom>
            <a:gradFill>
              <a:gsLst>
                <a:gs pos="0">
                  <a:srgbClr val="006BE2">
                    <a:lumMod val="60000"/>
                    <a:lumOff val="40000"/>
                  </a:srgbClr>
                </a:gs>
                <a:gs pos="60000">
                  <a:srgbClr val="006BE2"/>
                </a:gs>
              </a:gsLst>
              <a:lin ang="2700000"/>
            </a:gradFill>
            <a:ln cap="rnd" cmpd="sng">
              <a:prstDash val="solid"/>
            </a:ln>
            <a:effectLst>
              <a:outerShdw blurRad="76200" dist="50800" dir="5400000" algn="ctr" rotWithShape="0">
                <a:schemeClr val="accent4">
                  <a:alpha val="20000"/>
                </a:schemeClr>
              </a:outerShdw>
            </a:effectLst>
          </p:spPr>
          <p:txBody>
            <a:bodyPr rot="0" vert="horz" wrap="square" lIns="91440" tIns="45720" rIns="91440" bIns="45720" anchor="ctr">
              <a:normAutofit/>
            </a:bodyPr>
            <a:lstStyle/>
            <a:p>
              <a:pPr marL="0" algn="ctr"/>
              <a:endParaRPr/>
            </a:p>
          </p:txBody>
        </p:sp>
        <p:sp>
          <p:nvSpPr>
            <p:cNvPr id="7" name="Freeform 7"/>
            <p:cNvSpPr/>
            <p:nvPr/>
          </p:nvSpPr>
          <p:spPr>
            <a:xfrm>
              <a:off x="4788717" y="2220630"/>
              <a:ext cx="205561" cy="171132"/>
            </a:xfrm>
            <a:custGeom>
              <a:avLst/>
              <a:gdLst/>
              <a:ahLst/>
              <a:cxnLst/>
              <a:rect l="l" t="t" r="r" b="b"/>
              <a:pathLst>
                <a:path w="526297" h="438150">
                  <a:moveTo>
                    <a:pt x="483573" y="133971"/>
                  </a:moveTo>
                  <a:cubicBezTo>
                    <a:pt x="507957" y="133971"/>
                    <a:pt x="527674" y="153688"/>
                    <a:pt x="527674" y="178072"/>
                  </a:cubicBezTo>
                  <a:cubicBezTo>
                    <a:pt x="527674" y="179215"/>
                    <a:pt x="527674" y="180358"/>
                    <a:pt x="527579" y="181501"/>
                  </a:cubicBezTo>
                  <a:lnTo>
                    <a:pt x="514244" y="355237"/>
                  </a:lnTo>
                  <a:cubicBezTo>
                    <a:pt x="513101" y="370096"/>
                    <a:pt x="500718" y="381621"/>
                    <a:pt x="485764" y="381621"/>
                  </a:cubicBezTo>
                  <a:lnTo>
                    <a:pt x="454998" y="381621"/>
                  </a:lnTo>
                  <a:lnTo>
                    <a:pt x="454998" y="438771"/>
                  </a:lnTo>
                  <a:lnTo>
                    <a:pt x="435948" y="438771"/>
                  </a:lnTo>
                  <a:lnTo>
                    <a:pt x="435948" y="381621"/>
                  </a:lnTo>
                  <a:lnTo>
                    <a:pt x="93048" y="381621"/>
                  </a:lnTo>
                  <a:lnTo>
                    <a:pt x="93048" y="438771"/>
                  </a:lnTo>
                  <a:lnTo>
                    <a:pt x="73998" y="438771"/>
                  </a:lnTo>
                  <a:lnTo>
                    <a:pt x="73998" y="381621"/>
                  </a:lnTo>
                  <a:lnTo>
                    <a:pt x="43328" y="381621"/>
                  </a:lnTo>
                  <a:cubicBezTo>
                    <a:pt x="28373" y="381621"/>
                    <a:pt x="15991" y="370096"/>
                    <a:pt x="14848" y="355237"/>
                  </a:cubicBezTo>
                  <a:lnTo>
                    <a:pt x="1513" y="181501"/>
                  </a:lnTo>
                  <a:cubicBezTo>
                    <a:pt x="-392" y="157212"/>
                    <a:pt x="17801" y="135971"/>
                    <a:pt x="42089" y="134162"/>
                  </a:cubicBezTo>
                  <a:cubicBezTo>
                    <a:pt x="43232" y="134066"/>
                    <a:pt x="44375" y="134066"/>
                    <a:pt x="45518" y="134066"/>
                  </a:cubicBezTo>
                  <a:cubicBezTo>
                    <a:pt x="73141" y="134066"/>
                    <a:pt x="96858" y="153688"/>
                    <a:pt x="101906" y="180834"/>
                  </a:cubicBezTo>
                  <a:lnTo>
                    <a:pt x="121623" y="286371"/>
                  </a:lnTo>
                  <a:lnTo>
                    <a:pt x="407373" y="286371"/>
                  </a:lnTo>
                  <a:lnTo>
                    <a:pt x="427185" y="180739"/>
                  </a:lnTo>
                  <a:cubicBezTo>
                    <a:pt x="432233" y="153592"/>
                    <a:pt x="455951" y="133971"/>
                    <a:pt x="483573" y="133971"/>
                  </a:cubicBezTo>
                  <a:close/>
                  <a:moveTo>
                    <a:pt x="416898" y="621"/>
                  </a:moveTo>
                  <a:cubicBezTo>
                    <a:pt x="453760" y="621"/>
                    <a:pt x="483573" y="30434"/>
                    <a:pt x="483573" y="67296"/>
                  </a:cubicBezTo>
                  <a:lnTo>
                    <a:pt x="483573" y="115397"/>
                  </a:lnTo>
                  <a:cubicBezTo>
                    <a:pt x="481192" y="115112"/>
                    <a:pt x="478811" y="114921"/>
                    <a:pt x="476429" y="114921"/>
                  </a:cubicBezTo>
                  <a:cubicBezTo>
                    <a:pt x="445473" y="114921"/>
                    <a:pt x="418803" y="136448"/>
                    <a:pt x="412040" y="166451"/>
                  </a:cubicBezTo>
                  <a:lnTo>
                    <a:pt x="411564" y="168737"/>
                  </a:lnTo>
                  <a:lnTo>
                    <a:pt x="393086" y="267321"/>
                  </a:lnTo>
                  <a:lnTo>
                    <a:pt x="135911" y="267321"/>
                  </a:lnTo>
                  <a:lnTo>
                    <a:pt x="117432" y="168737"/>
                  </a:lnTo>
                  <a:cubicBezTo>
                    <a:pt x="111622" y="137495"/>
                    <a:pt x="84285" y="114921"/>
                    <a:pt x="52567" y="114921"/>
                  </a:cubicBezTo>
                  <a:lnTo>
                    <a:pt x="54948" y="67296"/>
                  </a:lnTo>
                  <a:cubicBezTo>
                    <a:pt x="54948" y="30434"/>
                    <a:pt x="84761" y="621"/>
                    <a:pt x="121623" y="621"/>
                  </a:cubicBezTo>
                  <a:lnTo>
                    <a:pt x="416898" y="62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vert="horz" lIns="91440" tIns="45720" rIns="91440" bIns="45720" anchor="t">
              <a:normAutofit/>
            </a:bodyPr>
            <a:lstStyle/>
            <a:p>
              <a:pPr marL="0" algn="l"/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3576794" y="2927103"/>
            <a:ext cx="444222" cy="444220"/>
            <a:chOff x="5472389" y="2095128"/>
            <a:chExt cx="444222" cy="444220"/>
          </a:xfrm>
        </p:grpSpPr>
        <p:sp>
          <p:nvSpPr>
            <p:cNvPr id="9" name="AutoShape 9"/>
            <p:cNvSpPr/>
            <p:nvPr/>
          </p:nvSpPr>
          <p:spPr>
            <a:xfrm>
              <a:off x="5472389" y="2095128"/>
              <a:ext cx="444222" cy="444220"/>
            </a:xfrm>
            <a:prstGeom prst="ellipse">
              <a:avLst/>
            </a:prstGeom>
            <a:gradFill>
              <a:gsLst>
                <a:gs pos="0">
                  <a:srgbClr val="800012">
                    <a:lumMod val="60000"/>
                    <a:lumOff val="40000"/>
                  </a:srgbClr>
                </a:gs>
                <a:gs pos="60000">
                  <a:srgbClr val="800012"/>
                </a:gs>
              </a:gsLst>
              <a:lin ang="2700000"/>
            </a:gradFill>
            <a:ln cap="rnd" cmpd="sng">
              <a:prstDash val="solid"/>
            </a:ln>
            <a:effectLst>
              <a:outerShdw blurRad="76200" dist="50800" dir="5400000" algn="ctr" rotWithShape="0">
                <a:schemeClr val="accent6">
                  <a:alpha val="20000"/>
                </a:schemeClr>
              </a:outerShdw>
            </a:effectLst>
          </p:spPr>
          <p:txBody>
            <a:bodyPr rot="0" vert="horz" wrap="square" lIns="91440" tIns="45720" rIns="91440" bIns="45720" anchor="ctr">
              <a:normAutofit/>
            </a:bodyPr>
            <a:lstStyle/>
            <a:p>
              <a:pPr marL="0" algn="ctr"/>
              <a:endParaRPr/>
            </a:p>
          </p:txBody>
        </p:sp>
        <p:sp>
          <p:nvSpPr>
            <p:cNvPr id="10" name="Freeform 10"/>
            <p:cNvSpPr/>
            <p:nvPr/>
          </p:nvSpPr>
          <p:spPr>
            <a:xfrm>
              <a:off x="5591720" y="2223635"/>
              <a:ext cx="205561" cy="187207"/>
            </a:xfrm>
            <a:custGeom>
              <a:avLst/>
              <a:gdLst/>
              <a:ahLst/>
              <a:cxnLst/>
              <a:rect l="l" t="t" r="r" b="b"/>
              <a:pathLst>
                <a:path w="533400" h="485775">
                  <a:moveTo>
                    <a:pt x="125329" y="229221"/>
                  </a:moveTo>
                  <a:lnTo>
                    <a:pt x="125329" y="276846"/>
                  </a:lnTo>
                  <a:lnTo>
                    <a:pt x="144379" y="276846"/>
                  </a:lnTo>
                  <a:lnTo>
                    <a:pt x="144379" y="229221"/>
                  </a:lnTo>
                  <a:lnTo>
                    <a:pt x="392029" y="229221"/>
                  </a:lnTo>
                  <a:lnTo>
                    <a:pt x="392029" y="276846"/>
                  </a:lnTo>
                  <a:lnTo>
                    <a:pt x="411079" y="276846"/>
                  </a:lnTo>
                  <a:lnTo>
                    <a:pt x="411079" y="229221"/>
                  </a:lnTo>
                  <a:lnTo>
                    <a:pt x="534904" y="229221"/>
                  </a:lnTo>
                  <a:lnTo>
                    <a:pt x="534904" y="457821"/>
                  </a:lnTo>
                  <a:cubicBezTo>
                    <a:pt x="534904" y="473632"/>
                    <a:pt x="522141" y="486396"/>
                    <a:pt x="506329" y="486396"/>
                  </a:cubicBezTo>
                  <a:lnTo>
                    <a:pt x="30079" y="486396"/>
                  </a:lnTo>
                  <a:cubicBezTo>
                    <a:pt x="14267" y="486396"/>
                    <a:pt x="1504" y="473632"/>
                    <a:pt x="1504" y="457821"/>
                  </a:cubicBezTo>
                  <a:lnTo>
                    <a:pt x="1504" y="229221"/>
                  </a:lnTo>
                  <a:lnTo>
                    <a:pt x="125329" y="229221"/>
                  </a:lnTo>
                  <a:close/>
                  <a:moveTo>
                    <a:pt x="372979" y="621"/>
                  </a:moveTo>
                  <a:cubicBezTo>
                    <a:pt x="393363" y="621"/>
                    <a:pt x="410031" y="16623"/>
                    <a:pt x="411079" y="36816"/>
                  </a:cubicBezTo>
                  <a:lnTo>
                    <a:pt x="411079" y="38721"/>
                  </a:lnTo>
                  <a:lnTo>
                    <a:pt x="411079" y="114921"/>
                  </a:lnTo>
                  <a:lnTo>
                    <a:pt x="506329" y="114921"/>
                  </a:lnTo>
                  <a:cubicBezTo>
                    <a:pt x="522141" y="114921"/>
                    <a:pt x="534904" y="127685"/>
                    <a:pt x="534904" y="143496"/>
                  </a:cubicBezTo>
                  <a:lnTo>
                    <a:pt x="534904" y="210171"/>
                  </a:lnTo>
                  <a:lnTo>
                    <a:pt x="1504" y="210171"/>
                  </a:lnTo>
                  <a:lnTo>
                    <a:pt x="1504" y="143496"/>
                  </a:lnTo>
                  <a:cubicBezTo>
                    <a:pt x="1504" y="127685"/>
                    <a:pt x="14267" y="114921"/>
                    <a:pt x="30079" y="114921"/>
                  </a:cubicBezTo>
                  <a:lnTo>
                    <a:pt x="125329" y="114921"/>
                  </a:lnTo>
                  <a:lnTo>
                    <a:pt x="125329" y="38721"/>
                  </a:lnTo>
                  <a:cubicBezTo>
                    <a:pt x="125329" y="18337"/>
                    <a:pt x="141331" y="1669"/>
                    <a:pt x="161524" y="621"/>
                  </a:cubicBezTo>
                  <a:lnTo>
                    <a:pt x="163429" y="621"/>
                  </a:lnTo>
                  <a:lnTo>
                    <a:pt x="372979" y="621"/>
                  </a:lnTo>
                  <a:close/>
                  <a:moveTo>
                    <a:pt x="372979" y="19671"/>
                  </a:moveTo>
                  <a:lnTo>
                    <a:pt x="163429" y="19671"/>
                  </a:lnTo>
                  <a:cubicBezTo>
                    <a:pt x="153428" y="19671"/>
                    <a:pt x="145141" y="27482"/>
                    <a:pt x="144474" y="37292"/>
                  </a:cubicBezTo>
                  <a:lnTo>
                    <a:pt x="144379" y="38721"/>
                  </a:lnTo>
                  <a:lnTo>
                    <a:pt x="144379" y="114921"/>
                  </a:lnTo>
                  <a:lnTo>
                    <a:pt x="392029" y="114921"/>
                  </a:lnTo>
                  <a:lnTo>
                    <a:pt x="392029" y="38721"/>
                  </a:lnTo>
                  <a:cubicBezTo>
                    <a:pt x="392029" y="29196"/>
                    <a:pt x="384981" y="21290"/>
                    <a:pt x="375836" y="19862"/>
                  </a:cubicBezTo>
                  <a:lnTo>
                    <a:pt x="374408" y="19671"/>
                  </a:lnTo>
                  <a:lnTo>
                    <a:pt x="372979" y="1967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vert="horz" lIns="91440" tIns="45720" rIns="91440" bIns="45720" anchor="t">
              <a:normAutofit/>
            </a:bodyPr>
            <a:lstStyle/>
            <a:p>
              <a:pPr marL="0" algn="l"/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3585809" y="4744566"/>
            <a:ext cx="444222" cy="444220"/>
            <a:chOff x="7792978" y="2079217"/>
            <a:chExt cx="444222" cy="444220"/>
          </a:xfrm>
        </p:grpSpPr>
        <p:sp>
          <p:nvSpPr>
            <p:cNvPr id="12" name="AutoShape 12"/>
            <p:cNvSpPr/>
            <p:nvPr/>
          </p:nvSpPr>
          <p:spPr>
            <a:xfrm>
              <a:off x="7792978" y="2079217"/>
              <a:ext cx="444222" cy="444220"/>
            </a:xfrm>
            <a:prstGeom prst="ellipse">
              <a:avLst/>
            </a:prstGeom>
            <a:gradFill>
              <a:gsLst>
                <a:gs pos="0">
                  <a:srgbClr val="002880">
                    <a:lumMod val="60000"/>
                    <a:lumOff val="40000"/>
                  </a:srgbClr>
                </a:gs>
                <a:gs pos="60000">
                  <a:srgbClr val="002880"/>
                </a:gs>
              </a:gsLst>
              <a:lin ang="2700000"/>
            </a:gradFill>
            <a:ln cap="rnd" cmpd="sng">
              <a:prstDash val="solid"/>
            </a:ln>
            <a:effectLst>
              <a:outerShdw blurRad="76200" dist="50800" dir="5400000" algn="ctr" rotWithShape="0">
                <a:schemeClr val="accent2">
                  <a:alpha val="20000"/>
                </a:schemeClr>
              </a:outerShdw>
            </a:effectLst>
          </p:spPr>
          <p:txBody>
            <a:bodyPr rot="0" vert="horz" wrap="square" lIns="9144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13" name="Freeform 13"/>
            <p:cNvSpPr/>
            <p:nvPr/>
          </p:nvSpPr>
          <p:spPr>
            <a:xfrm>
              <a:off x="7912309" y="2219484"/>
              <a:ext cx="205561" cy="163687"/>
            </a:xfrm>
            <a:custGeom>
              <a:avLst/>
              <a:gdLst/>
              <a:ahLst/>
              <a:cxnLst/>
              <a:rect l="l" t="t" r="r" b="b"/>
              <a:pathLst>
                <a:path w="514350" h="409575">
                  <a:moveTo>
                    <a:pt x="486767" y="621"/>
                  </a:moveTo>
                  <a:cubicBezTo>
                    <a:pt x="502579" y="621"/>
                    <a:pt x="515342" y="13385"/>
                    <a:pt x="515342" y="29196"/>
                  </a:cubicBezTo>
                  <a:lnTo>
                    <a:pt x="515342" y="324471"/>
                  </a:lnTo>
                  <a:cubicBezTo>
                    <a:pt x="515342" y="340282"/>
                    <a:pt x="502579" y="353046"/>
                    <a:pt x="486767" y="353046"/>
                  </a:cubicBezTo>
                  <a:lnTo>
                    <a:pt x="192159" y="353046"/>
                  </a:lnTo>
                  <a:lnTo>
                    <a:pt x="115387" y="410196"/>
                  </a:lnTo>
                  <a:lnTo>
                    <a:pt x="115387" y="353046"/>
                  </a:lnTo>
                  <a:lnTo>
                    <a:pt x="29567" y="353046"/>
                  </a:lnTo>
                  <a:cubicBezTo>
                    <a:pt x="13755" y="353046"/>
                    <a:pt x="992" y="340282"/>
                    <a:pt x="992" y="324471"/>
                  </a:cubicBezTo>
                  <a:lnTo>
                    <a:pt x="992" y="29196"/>
                  </a:lnTo>
                  <a:cubicBezTo>
                    <a:pt x="992" y="13385"/>
                    <a:pt x="13755" y="621"/>
                    <a:pt x="29567" y="621"/>
                  </a:cubicBezTo>
                  <a:lnTo>
                    <a:pt x="486767" y="621"/>
                  </a:lnTo>
                  <a:close/>
                  <a:moveTo>
                    <a:pt x="124817" y="143496"/>
                  </a:moveTo>
                  <a:cubicBezTo>
                    <a:pt x="106434" y="143496"/>
                    <a:pt x="91480" y="158450"/>
                    <a:pt x="91480" y="176834"/>
                  </a:cubicBezTo>
                  <a:cubicBezTo>
                    <a:pt x="91480" y="195217"/>
                    <a:pt x="106434" y="210171"/>
                    <a:pt x="124817" y="210171"/>
                  </a:cubicBezTo>
                  <a:cubicBezTo>
                    <a:pt x="143200" y="210171"/>
                    <a:pt x="158155" y="195217"/>
                    <a:pt x="158155" y="176834"/>
                  </a:cubicBezTo>
                  <a:cubicBezTo>
                    <a:pt x="158155" y="158450"/>
                    <a:pt x="143200" y="143496"/>
                    <a:pt x="124817" y="143496"/>
                  </a:cubicBezTo>
                  <a:close/>
                  <a:moveTo>
                    <a:pt x="258167" y="143496"/>
                  </a:moveTo>
                  <a:cubicBezTo>
                    <a:pt x="239784" y="143496"/>
                    <a:pt x="224830" y="158450"/>
                    <a:pt x="224830" y="176834"/>
                  </a:cubicBezTo>
                  <a:cubicBezTo>
                    <a:pt x="224830" y="195217"/>
                    <a:pt x="239784" y="210171"/>
                    <a:pt x="258167" y="210171"/>
                  </a:cubicBezTo>
                  <a:cubicBezTo>
                    <a:pt x="276550" y="210171"/>
                    <a:pt x="291505" y="195217"/>
                    <a:pt x="291505" y="176834"/>
                  </a:cubicBezTo>
                  <a:cubicBezTo>
                    <a:pt x="291505" y="158450"/>
                    <a:pt x="276550" y="143496"/>
                    <a:pt x="258167" y="143496"/>
                  </a:cubicBezTo>
                  <a:close/>
                  <a:moveTo>
                    <a:pt x="391517" y="143496"/>
                  </a:moveTo>
                  <a:cubicBezTo>
                    <a:pt x="373134" y="143496"/>
                    <a:pt x="358180" y="158450"/>
                    <a:pt x="358180" y="176834"/>
                  </a:cubicBezTo>
                  <a:cubicBezTo>
                    <a:pt x="358180" y="195217"/>
                    <a:pt x="373134" y="210171"/>
                    <a:pt x="391517" y="210171"/>
                  </a:cubicBezTo>
                  <a:cubicBezTo>
                    <a:pt x="409900" y="210171"/>
                    <a:pt x="424855" y="195217"/>
                    <a:pt x="424855" y="176834"/>
                  </a:cubicBezTo>
                  <a:cubicBezTo>
                    <a:pt x="424855" y="158450"/>
                    <a:pt x="409900" y="143496"/>
                    <a:pt x="391517" y="143496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 vert="horz" lIns="91440" tIns="45720" rIns="91440" bIns="45720" anchor="t">
              <a:normAutofit/>
            </a:bodyPr>
            <a:lstStyle/>
            <a:p>
              <a:pPr marL="0" algn="l"/>
              <a:endParaRPr/>
            </a:p>
          </p:txBody>
        </p:sp>
      </p:grpSp>
      <p:sp>
        <p:nvSpPr>
          <p:cNvPr id="14" name="AutoShape 14"/>
          <p:cNvSpPr/>
          <p:nvPr/>
        </p:nvSpPr>
        <p:spPr>
          <a:xfrm flipH="1">
            <a:off x="4140347" y="3444167"/>
            <a:ext cx="7025431" cy="845616"/>
          </a:xfrm>
          <a:prstGeom prst="rect">
            <a:avLst/>
          </a:prstGeom>
        </p:spPr>
        <p:txBody>
          <a:bodyPr vert="horz" wrap="square" lIns="91440" tIns="45720" rIns="91440" bIns="45720" anchor="t">
            <a:spAutoFit/>
          </a:bodyPr>
          <a:lstStyle/>
          <a:p>
            <a:pPr marL="0" algn="l">
              <a:lnSpc>
                <a:spcPct val="120000"/>
              </a:lnSpc>
            </a:pPr>
            <a:r>
              <a:rPr lang="zh-CN" altLang="en-US" sz="1400" b="0" i="0" u="none" baseline="0">
                <a:solidFill>
                  <a:srgbClr val="000000"/>
                </a:solidFill>
                <a:latin typeface="微软雅黑"/>
                <a:ea typeface="微软雅黑"/>
              </a:rPr>
              <a:t>不同流派的 AI 技术提升了生产效率，推动了经济转型，在各行业创造了大量就业机会，也促使了新的商业模式的出现。</a:t>
            </a:r>
          </a:p>
        </p:txBody>
      </p:sp>
      <p:sp>
        <p:nvSpPr>
          <p:cNvPr id="15" name="TextBox 15"/>
          <p:cNvSpPr txBox="1"/>
          <p:nvPr/>
        </p:nvSpPr>
        <p:spPr>
          <a:xfrm flipH="1">
            <a:off x="4140346" y="2994883"/>
            <a:ext cx="7025426" cy="338554"/>
          </a:xfrm>
          <a:prstGeom prst="rect">
            <a:avLst/>
          </a:prstGeom>
          <a:noFill/>
          <a:ln cap="rnd" cmpd="sng">
            <a:prstDash val="solid"/>
          </a:ln>
        </p:spPr>
        <p:txBody>
          <a:bodyPr rot="0" vert="horz" wrap="square" lIns="91440" tIns="45720" rIns="91440" bIns="45720" rtlCol="0" anchor="b">
            <a:prstTxWarp prst="textNoShape">
              <a:avLst/>
            </a:prstTxWarp>
            <a:spAutoFit/>
          </a:bodyPr>
          <a:lstStyle/>
          <a:p>
            <a:pPr marL="0" algn="l">
              <a:lnSpc>
                <a:spcPct val="100000"/>
              </a:lnSpc>
              <a:defRPr/>
            </a:pPr>
            <a:r>
              <a:rPr lang="zh-CN" altLang="en-US" sz="1600" b="1" i="0" u="none" baseline="0">
                <a:solidFill>
                  <a:srgbClr val="000000">
                    <a:lumMod val="90000"/>
                    <a:lumOff val="10000"/>
                  </a:srgbClr>
                </a:solidFill>
                <a:latin typeface="微软雅黑"/>
                <a:ea typeface="微软雅黑"/>
              </a:rPr>
              <a:t>社会经济影响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 flipH="1">
            <a:off x="4222429" y="5276015"/>
            <a:ext cx="7025431" cy="845616"/>
          </a:xfrm>
          <a:prstGeom prst="rect">
            <a:avLst/>
          </a:prstGeom>
        </p:spPr>
        <p:txBody>
          <a:bodyPr vert="horz" wrap="square" lIns="91440" tIns="45720" rIns="91440" bIns="45720" anchor="t">
            <a:spAutoFit/>
          </a:bodyPr>
          <a:lstStyle/>
          <a:p>
            <a:pPr marL="0" algn="l">
              <a:lnSpc>
                <a:spcPct val="120000"/>
              </a:lnSpc>
            </a:pPr>
            <a:r>
              <a:rPr lang="zh-CN" altLang="en-US" sz="1400" b="0" i="0" u="none" baseline="0">
                <a:solidFill>
                  <a:srgbClr val="000000"/>
                </a:solidFill>
                <a:latin typeface="微软雅黑"/>
                <a:ea typeface="微软雅黑"/>
              </a:rPr>
              <a:t>AI流派的蓬勃发展为计算机科学及相关领域带来了新的机遇，促进了算法、硬件和数据技术的快速进步，推动了自主创新能力的提升。</a:t>
            </a:r>
          </a:p>
        </p:txBody>
      </p:sp>
      <p:sp>
        <p:nvSpPr>
          <p:cNvPr id="17" name="TextBox 17"/>
          <p:cNvSpPr txBox="1"/>
          <p:nvPr/>
        </p:nvSpPr>
        <p:spPr>
          <a:xfrm flipH="1">
            <a:off x="4222428" y="4826731"/>
            <a:ext cx="7025426" cy="338554"/>
          </a:xfrm>
          <a:prstGeom prst="rect">
            <a:avLst/>
          </a:prstGeom>
          <a:noFill/>
          <a:ln cap="rnd" cmpd="sng">
            <a:prstDash val="solid"/>
          </a:ln>
        </p:spPr>
        <p:txBody>
          <a:bodyPr rot="0" vert="horz" wrap="square" lIns="91440" tIns="45720" rIns="91440" bIns="45720" rtlCol="0" anchor="b">
            <a:prstTxWarp prst="textNoShape">
              <a:avLst/>
            </a:prstTxWarp>
            <a:spAutoFit/>
          </a:bodyPr>
          <a:lstStyle/>
          <a:p>
            <a:pPr marL="0" algn="l">
              <a:lnSpc>
                <a:spcPct val="100000"/>
              </a:lnSpc>
              <a:defRPr/>
            </a:pPr>
            <a:r>
              <a:rPr lang="zh-CN" altLang="en-US" sz="1600" b="1" i="0" u="none" baseline="0">
                <a:solidFill>
                  <a:srgbClr val="000000">
                    <a:lumMod val="90000"/>
                    <a:lumOff val="10000"/>
                  </a:srgbClr>
                </a:solidFill>
                <a:latin typeface="微软雅黑"/>
                <a:ea typeface="微软雅黑"/>
              </a:rPr>
              <a:t>科技发展影响</a:t>
            </a:r>
            <a:endParaRPr lang="en-US" sz="1100"/>
          </a:p>
        </p:txBody>
      </p:sp>
      <p:sp>
        <p:nvSpPr>
          <p:cNvPr id="18" name="AutoShape 18"/>
          <p:cNvSpPr>
            <a:spLocks noGrp="1"/>
          </p:cNvSpPr>
          <p:nvPr>
            <p:ph type="title"/>
          </p:nvPr>
        </p:nvSpPr>
        <p:spPr>
          <a:xfrm>
            <a:off x="660399" y="0"/>
            <a:ext cx="10858500" cy="1028700"/>
          </a:xfrm>
        </p:spPr>
        <p:txBody>
          <a:bodyPr vert="horz" lIns="91440" tIns="45720" rIns="91440" bIns="45720" anchor="b">
            <a:norm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zh-CN" altLang="en-US" sz="2800" b="1" i="0" u="none" baseline="0">
                <a:solidFill>
                  <a:srgbClr val="000000"/>
                </a:solidFill>
                <a:latin typeface="+mn-ea"/>
                <a:ea typeface="+mn-ea"/>
              </a:rPr>
              <a:t>人工智能流派的影响</a:t>
            </a:r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title"/>
          </p:nvPr>
        </p:nvSpPr>
        <p:spPr>
          <a:xfrm>
            <a:off x="1759568" y="2145656"/>
            <a:ext cx="8358303" cy="646331"/>
          </a:xfrm>
        </p:spPr>
        <p:txBody>
          <a:bodyPr vert="horz" wrap="square" lIns="91440" tIns="45720" rIns="91440" b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3600" b="1" i="0" u="none" baseline="0">
                <a:solidFill>
                  <a:srgbClr val="F0F0F0"/>
                </a:solidFill>
                <a:latin typeface="微软雅黑"/>
                <a:ea typeface="微软雅黑"/>
              </a:rPr>
              <a:t>符号主义与规则基础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94652" y="2126166"/>
            <a:ext cx="750849" cy="707886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l">
              <a:defRPr/>
            </a:pPr>
            <a:r>
              <a:rPr lang="en-US" sz="4000" b="1" i="0" u="none" baseline="0">
                <a:solidFill>
                  <a:srgbClr val="FFFFFF"/>
                </a:solidFill>
                <a:latin typeface="Arial"/>
                <a:ea typeface="Arial"/>
              </a:rPr>
              <a:t>03</a:t>
            </a:r>
            <a:endParaRPr lang="en-US" sz="1100"/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2"/>
          <p:cNvCxnSpPr/>
          <p:nvPr/>
        </p:nvCxnSpPr>
        <p:spPr>
          <a:xfrm>
            <a:off x="4558857" y="2581356"/>
            <a:ext cx="0" cy="2119085"/>
          </a:xfrm>
          <a:prstGeom prst="line">
            <a:avLst/>
          </a:prstGeom>
          <a:ln w="12700" cap="flat" cmpd="sng">
            <a:solidFill>
              <a:srgbClr val="778495"/>
            </a:solidFill>
            <a:prstDash val="solid"/>
          </a:ln>
        </p:spPr>
      </p:cxnSp>
      <p:sp>
        <p:nvSpPr>
          <p:cNvPr id="3" name="AutoShape 3"/>
          <p:cNvSpPr/>
          <p:nvPr/>
        </p:nvSpPr>
        <p:spPr>
          <a:xfrm flipH="1">
            <a:off x="7725" y="1648246"/>
            <a:ext cx="4370959" cy="3552305"/>
          </a:xfrm>
          <a:prstGeom prst="homePlate">
            <a:avLst>
              <a:gd name="adj" fmla="val 39231"/>
            </a:avLst>
          </a:prstGeom>
          <a:gradFill>
            <a:gsLst>
              <a:gs pos="0">
                <a:srgbClr val="0048B4">
                  <a:lumMod val="60000"/>
                  <a:lumOff val="40000"/>
                </a:srgbClr>
              </a:gs>
              <a:gs pos="60000">
                <a:srgbClr val="0048B4"/>
              </a:gs>
            </a:gsLst>
            <a:lin ang="2700000"/>
          </a:gradFill>
          <a:ln cap="rnd" cmpd="sng">
            <a:prstDash val="solid"/>
          </a:ln>
          <a:effectLst>
            <a:outerShdw blurRad="50800" dist="50800" dir="5400000" algn="ctr" rotWithShape="0">
              <a:schemeClr val="accent1">
                <a:alpha val="20000"/>
              </a:schemeClr>
            </a:outerShdw>
          </a:effectLst>
        </p:spPr>
        <p:txBody>
          <a:bodyPr rot="0" vert="horz" wrap="square" lIns="91440" tIns="45720" rIns="91440" bIns="45720" anchor="b">
            <a:normAutofit/>
          </a:bodyPr>
          <a:lstStyle/>
          <a:p>
            <a:pPr marL="0" algn="ctr"/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733956" y="1667964"/>
            <a:ext cx="4370957" cy="3552305"/>
          </a:xfrm>
          <a:prstGeom prst="homePlate">
            <a:avLst>
              <a:gd name="adj" fmla="val 39231"/>
            </a:avLst>
          </a:prstGeom>
          <a:gradFill>
            <a:gsLst>
              <a:gs pos="0">
                <a:srgbClr val="0048B4">
                  <a:lumMod val="60000"/>
                  <a:lumOff val="40000"/>
                </a:srgbClr>
              </a:gs>
              <a:gs pos="60000">
                <a:srgbClr val="0048B4"/>
              </a:gs>
            </a:gsLst>
            <a:lin ang="2700000"/>
          </a:gradFill>
          <a:ln cap="rnd" cmpd="sng">
            <a:prstDash val="solid"/>
          </a:ln>
          <a:effectLst>
            <a:outerShdw blurRad="50800" dist="50800" dir="5400000" algn="ctr" rotWithShape="0">
              <a:schemeClr val="accent1">
                <a:alpha val="20000"/>
              </a:schemeClr>
            </a:outerShdw>
          </a:effectLst>
        </p:spPr>
        <p:txBody>
          <a:bodyPr rot="0" vert="horz" wrap="square" lIns="91440" tIns="45720" rIns="91440" bIns="45720" anchor="b">
            <a:normAutofit/>
          </a:bodyPr>
          <a:lstStyle/>
          <a:p>
            <a:pPr marL="0" algn="ctr"/>
            <a:endParaRPr/>
          </a:p>
        </p:txBody>
      </p:sp>
      <p:cxnSp>
        <p:nvCxnSpPr>
          <p:cNvPr id="5" name="Connector 5"/>
          <p:cNvCxnSpPr/>
          <p:nvPr/>
        </p:nvCxnSpPr>
        <p:spPr>
          <a:xfrm>
            <a:off x="7530657" y="2581356"/>
            <a:ext cx="0" cy="2119085"/>
          </a:xfrm>
          <a:prstGeom prst="line">
            <a:avLst/>
          </a:prstGeom>
          <a:ln w="12700" cap="flat" cmpd="sng">
            <a:solidFill>
              <a:srgbClr val="778495"/>
            </a:solidFill>
            <a:prstDash val="solid"/>
          </a:ln>
        </p:spPr>
      </p:cxnSp>
      <p:sp>
        <p:nvSpPr>
          <p:cNvPr id="6" name="AutoShape 6"/>
          <p:cNvSpPr/>
          <p:nvPr/>
        </p:nvSpPr>
        <p:spPr>
          <a:xfrm>
            <a:off x="4608240" y="2439464"/>
            <a:ext cx="2922417" cy="2815246"/>
          </a:xfrm>
          <a:prstGeom prst="ellipse">
            <a:avLst/>
          </a:prstGeom>
          <a:blipFill>
            <a:blip r:embed="rId3"/>
            <a:srcRect/>
            <a:stretch>
              <a:fillRect l="-25119" r="-25119"/>
            </a:stretch>
          </a:blipFill>
          <a:ln cap="flat">
            <a:prstDash val="solid"/>
          </a:ln>
        </p:spPr>
        <p:txBody>
          <a:bodyPr rot="0" vert="horz" wrap="square" lIns="91440" tIns="45720" rIns="91440" bIns="45720" anchor="ctr">
            <a:prstTxWarp prst="textNoShape">
              <a:avLst/>
            </a:prstTxWarp>
            <a:noAutofit/>
          </a:bodyPr>
          <a:lstStyle/>
          <a:p>
            <a:pPr marL="0" algn="ctr"/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1720114" y="2100910"/>
            <a:ext cx="2394686" cy="338554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wrap="square" lIns="91440" tIns="45720" rIns="91440" bIns="45720" anchor="t">
            <a:spAutoFit/>
          </a:bodyPr>
          <a:lstStyle/>
          <a:p>
            <a:pPr marL="0" algn="l">
              <a:lnSpc>
                <a:spcPct val="100000"/>
              </a:lnSpc>
            </a:pPr>
            <a:r>
              <a:rPr lang="zh-CN" altLang="en-US" sz="1600" b="1" i="0" u="none" baseline="0">
                <a:solidFill>
                  <a:srgbClr val="FFFFFF"/>
                </a:solidFill>
                <a:latin typeface="微软雅黑"/>
                <a:ea typeface="微软雅黑"/>
              </a:rPr>
              <a:t>符号主义的基本理论</a:t>
            </a:r>
          </a:p>
        </p:txBody>
      </p:sp>
      <p:sp>
        <p:nvSpPr>
          <p:cNvPr id="8" name="AutoShape 8"/>
          <p:cNvSpPr/>
          <p:nvPr/>
        </p:nvSpPr>
        <p:spPr>
          <a:xfrm>
            <a:off x="1715976" y="2671177"/>
            <a:ext cx="2394686" cy="2316019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wrap="square" lIns="91440" tIns="45720" rIns="91440" bIns="45720" anchor="t">
            <a:spAutoFit/>
          </a:bodyPr>
          <a:lstStyle/>
          <a:p>
            <a:pPr marL="0" algn="l">
              <a:lnSpc>
                <a:spcPct val="150000"/>
              </a:lnSpc>
            </a:pPr>
            <a:r>
              <a:rPr lang="zh-CN" altLang="en-US" sz="1400" b="0" i="0" u="none" baseline="0">
                <a:solidFill>
                  <a:schemeClr val="lt1"/>
                </a:solidFill>
                <a:latin typeface="微软雅黑"/>
                <a:ea typeface="微软雅黑"/>
              </a:rPr>
              <a:t>符号主义强调基于逻辑推理和知识表示，利用符号系统来描述和解决问题，通过明确的规则和逻辑结构实现智能现象。</a:t>
            </a:r>
          </a:p>
        </p:txBody>
      </p:sp>
      <p:sp>
        <p:nvSpPr>
          <p:cNvPr id="9" name="AutoShape 9"/>
          <p:cNvSpPr/>
          <p:nvPr/>
        </p:nvSpPr>
        <p:spPr>
          <a:xfrm>
            <a:off x="8093636" y="2100910"/>
            <a:ext cx="2394686" cy="338554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wrap="square" lIns="91440" tIns="45720" rIns="91440" bIns="45720" anchor="t">
            <a:spAutoFit/>
          </a:bodyPr>
          <a:lstStyle/>
          <a:p>
            <a:pPr marL="0" algn="l">
              <a:lnSpc>
                <a:spcPct val="100000"/>
              </a:lnSpc>
            </a:pPr>
            <a:r>
              <a:rPr lang="zh-CN" altLang="en-US" sz="1600" b="1" i="0" u="none" baseline="0">
                <a:solidFill>
                  <a:srgbClr val="FFFFFF"/>
                </a:solidFill>
                <a:latin typeface="微软雅黑"/>
                <a:ea typeface="微软雅黑"/>
              </a:rPr>
              <a:t>关键算法与模型</a:t>
            </a:r>
          </a:p>
        </p:txBody>
      </p:sp>
      <p:sp>
        <p:nvSpPr>
          <p:cNvPr id="10" name="AutoShape 10"/>
          <p:cNvSpPr/>
          <p:nvPr/>
        </p:nvSpPr>
        <p:spPr>
          <a:xfrm>
            <a:off x="8089498" y="2671177"/>
            <a:ext cx="2394686" cy="2316019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wrap="square" lIns="91440" tIns="45720" rIns="91440" bIns="45720" anchor="t">
            <a:spAutoFit/>
          </a:bodyPr>
          <a:lstStyle/>
          <a:p>
            <a:pPr marL="0" algn="l">
              <a:lnSpc>
                <a:spcPct val="150000"/>
              </a:lnSpc>
            </a:pPr>
            <a:r>
              <a:rPr lang="zh-CN" altLang="en-US" sz="1400" b="0" i="0" u="none" baseline="0">
                <a:solidFill>
                  <a:schemeClr val="lt1"/>
                </a:solidFill>
                <a:latin typeface="微软雅黑"/>
                <a:ea typeface="微软雅黑"/>
              </a:rPr>
              <a:t>符号主义中的关键算法包括专家系统、规划算法和演绎推理模型。这些算法习惯于处理结构性强且遵循明确规则的问题，表现出强大的决策能力。</a:t>
            </a:r>
          </a:p>
        </p:txBody>
      </p:sp>
      <p:sp>
        <p:nvSpPr>
          <p:cNvPr id="11" name="AutoShape 11"/>
          <p:cNvSpPr>
            <a:spLocks noGrp="1"/>
          </p:cNvSpPr>
          <p:nvPr>
            <p:ph type="title"/>
          </p:nvPr>
        </p:nvSpPr>
        <p:spPr>
          <a:xfrm>
            <a:off x="660399" y="0"/>
            <a:ext cx="10858500" cy="1028700"/>
          </a:xfrm>
        </p:spPr>
        <p:txBody>
          <a:bodyPr vert="horz" lIns="91440" tIns="45720" rIns="91440" bIns="45720" anchor="b">
            <a:norm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zh-CN" altLang="en-US" sz="2800" b="1" i="0" u="none" baseline="0">
                <a:solidFill>
                  <a:srgbClr val="000000"/>
                </a:solidFill>
                <a:latin typeface="+mn-ea"/>
                <a:ea typeface="+mn-ea"/>
              </a:rPr>
              <a:t>符号主义的定义与特点</a:t>
            </a:r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2"/>
          <p:cNvCxnSpPr/>
          <p:nvPr/>
        </p:nvCxnSpPr>
        <p:spPr>
          <a:xfrm>
            <a:off x="6974352" y="2060103"/>
            <a:ext cx="2364458" cy="0"/>
          </a:xfrm>
          <a:prstGeom prst="straightConnector1">
            <a:avLst/>
          </a:prstGeom>
          <a:ln w="28575" cap="rnd" cmpd="sng">
            <a:gradFill>
              <a:gsLst>
                <a:gs pos="20000">
                  <a:srgbClr val="000000">
                    <a:alpha val="20000"/>
                    <a:lumMod val="50000"/>
                    <a:lumOff val="50000"/>
                  </a:srgbClr>
                </a:gs>
                <a:gs pos="100000">
                  <a:srgbClr val="000000">
                    <a:alpha val="0"/>
                    <a:lumMod val="50000"/>
                    <a:lumOff val="50000"/>
                  </a:srgbClr>
                </a:gs>
              </a:gsLst>
            </a:gradFill>
            <a:prstDash val="solid"/>
            <a:headEnd w="sm" len="sm"/>
            <a:tailEnd len="sm"/>
          </a:ln>
        </p:spPr>
      </p:cxnSp>
      <p:cxnSp>
        <p:nvCxnSpPr>
          <p:cNvPr id="3" name="Connector 3"/>
          <p:cNvCxnSpPr/>
          <p:nvPr/>
        </p:nvCxnSpPr>
        <p:spPr>
          <a:xfrm flipH="1">
            <a:off x="3142560" y="2060103"/>
            <a:ext cx="2353198" cy="0"/>
          </a:xfrm>
          <a:prstGeom prst="straightConnector1">
            <a:avLst/>
          </a:prstGeom>
          <a:ln w="28575" cap="rnd" cmpd="sng">
            <a:gradFill>
              <a:gsLst>
                <a:gs pos="20000">
                  <a:srgbClr val="000000">
                    <a:alpha val="20000"/>
                    <a:lumMod val="50000"/>
                    <a:lumOff val="50000"/>
                  </a:srgbClr>
                </a:gs>
                <a:gs pos="100000">
                  <a:srgbClr val="000000">
                    <a:alpha val="0"/>
                    <a:lumMod val="50000"/>
                    <a:lumOff val="50000"/>
                  </a:srgbClr>
                </a:gs>
              </a:gsLst>
            </a:gradFill>
            <a:prstDash val="solid"/>
            <a:headEnd w="sm" len="sm"/>
            <a:tailEnd len="sm"/>
          </a:ln>
        </p:spPr>
      </p:cxnSp>
      <p:sp>
        <p:nvSpPr>
          <p:cNvPr id="4" name="Freeform 4"/>
          <p:cNvSpPr/>
          <p:nvPr/>
        </p:nvSpPr>
        <p:spPr>
          <a:xfrm>
            <a:off x="5318507" y="1028700"/>
            <a:ext cx="1661232" cy="1395537"/>
          </a:xfrm>
          <a:custGeom>
            <a:avLst/>
            <a:gdLst/>
            <a:ahLst/>
            <a:cxnLst/>
            <a:rect l="l" t="t" r="r" b="b"/>
            <a:pathLst>
              <a:path w="603122" h="506660">
                <a:moveTo>
                  <a:pt x="449184" y="255729"/>
                </a:moveTo>
                <a:cubicBezTo>
                  <a:pt x="461461" y="255729"/>
                  <a:pt x="471377" y="265629"/>
                  <a:pt x="471377" y="277887"/>
                </a:cubicBezTo>
                <a:lnTo>
                  <a:pt x="471377" y="484220"/>
                </a:lnTo>
                <a:cubicBezTo>
                  <a:pt x="471377" y="496478"/>
                  <a:pt x="461461" y="506378"/>
                  <a:pt x="449184" y="506378"/>
                </a:cubicBezTo>
                <a:cubicBezTo>
                  <a:pt x="436907" y="506378"/>
                  <a:pt x="426991" y="496478"/>
                  <a:pt x="426991" y="484220"/>
                </a:cubicBezTo>
                <a:lnTo>
                  <a:pt x="426991" y="277887"/>
                </a:lnTo>
                <a:cubicBezTo>
                  <a:pt x="426991" y="265629"/>
                  <a:pt x="436907" y="255729"/>
                  <a:pt x="449184" y="255729"/>
                </a:cubicBezTo>
                <a:close/>
                <a:moveTo>
                  <a:pt x="153938" y="255729"/>
                </a:moveTo>
                <a:cubicBezTo>
                  <a:pt x="166215" y="255729"/>
                  <a:pt x="176131" y="265629"/>
                  <a:pt x="176131" y="277887"/>
                </a:cubicBezTo>
                <a:lnTo>
                  <a:pt x="176131" y="484220"/>
                </a:lnTo>
                <a:cubicBezTo>
                  <a:pt x="176131" y="496478"/>
                  <a:pt x="166215" y="506378"/>
                  <a:pt x="153938" y="506378"/>
                </a:cubicBezTo>
                <a:cubicBezTo>
                  <a:pt x="141661" y="506378"/>
                  <a:pt x="131745" y="496478"/>
                  <a:pt x="131745" y="484220"/>
                </a:cubicBezTo>
                <a:lnTo>
                  <a:pt x="131745" y="277887"/>
                </a:lnTo>
                <a:cubicBezTo>
                  <a:pt x="131745" y="265629"/>
                  <a:pt x="141661" y="255729"/>
                  <a:pt x="153938" y="255729"/>
                </a:cubicBezTo>
                <a:close/>
                <a:moveTo>
                  <a:pt x="301561" y="0"/>
                </a:moveTo>
                <a:cubicBezTo>
                  <a:pt x="441796" y="0"/>
                  <a:pt x="556062" y="113464"/>
                  <a:pt x="558423" y="253801"/>
                </a:cubicBezTo>
                <a:cubicBezTo>
                  <a:pt x="584235" y="261502"/>
                  <a:pt x="603122" y="286018"/>
                  <a:pt x="603122" y="315091"/>
                </a:cubicBezTo>
                <a:lnTo>
                  <a:pt x="603122" y="442856"/>
                </a:lnTo>
                <a:cubicBezTo>
                  <a:pt x="603122" y="478058"/>
                  <a:pt x="575421" y="506660"/>
                  <a:pt x="541268" y="506660"/>
                </a:cubicBezTo>
                <a:lnTo>
                  <a:pt x="492319" y="506660"/>
                </a:lnTo>
                <a:lnTo>
                  <a:pt x="492319" y="262916"/>
                </a:lnTo>
                <a:cubicBezTo>
                  <a:pt x="492004" y="261345"/>
                  <a:pt x="491847" y="259773"/>
                  <a:pt x="491847" y="258202"/>
                </a:cubicBezTo>
                <a:cubicBezTo>
                  <a:pt x="491847" y="152595"/>
                  <a:pt x="406383" y="66633"/>
                  <a:pt x="301561" y="66633"/>
                </a:cubicBezTo>
                <a:cubicBezTo>
                  <a:pt x="196581" y="66633"/>
                  <a:pt x="111118" y="152595"/>
                  <a:pt x="111118" y="258202"/>
                </a:cubicBezTo>
                <a:cubicBezTo>
                  <a:pt x="111118" y="259459"/>
                  <a:pt x="110960" y="260559"/>
                  <a:pt x="110803" y="261816"/>
                </a:cubicBezTo>
                <a:lnTo>
                  <a:pt x="110803" y="506660"/>
                </a:lnTo>
                <a:lnTo>
                  <a:pt x="61855" y="506660"/>
                </a:lnTo>
                <a:cubicBezTo>
                  <a:pt x="27701" y="506660"/>
                  <a:pt x="0" y="478058"/>
                  <a:pt x="0" y="442856"/>
                </a:cubicBezTo>
                <a:lnTo>
                  <a:pt x="0" y="315091"/>
                </a:lnTo>
                <a:cubicBezTo>
                  <a:pt x="0" y="286018"/>
                  <a:pt x="18729" y="261659"/>
                  <a:pt x="44542" y="253801"/>
                </a:cubicBezTo>
                <a:cubicBezTo>
                  <a:pt x="46902" y="113464"/>
                  <a:pt x="161168" y="0"/>
                  <a:pt x="301561" y="0"/>
                </a:cubicBezTo>
                <a:close/>
              </a:path>
            </a:pathLst>
          </a:custGeom>
          <a:gradFill>
            <a:gsLst>
              <a:gs pos="0">
                <a:srgbClr val="0F99FF">
                  <a:lumMod val="60000"/>
                  <a:lumOff val="40000"/>
                </a:srgbClr>
              </a:gs>
              <a:gs pos="60000">
                <a:srgbClr val="0F99FF"/>
              </a:gs>
            </a:gsLst>
            <a:lin ang="2700000"/>
          </a:gradFill>
          <a:ln cap="rnd" cmpd="sng">
            <a:prstDash val="solid"/>
          </a:ln>
          <a:effectLst>
            <a:outerShdw blurRad="76200" dist="50800" dir="5400000" algn="ctr" rotWithShape="0">
              <a:schemeClr val="accent3">
                <a:alpha val="20000"/>
              </a:schemeClr>
            </a:outerShdw>
          </a:effectLst>
        </p:spPr>
        <p:txBody>
          <a:bodyPr rot="0" vert="horz" wrap="square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grpSp>
        <p:nvGrpSpPr>
          <p:cNvPr id="5" name="Group 5"/>
          <p:cNvGrpSpPr/>
          <p:nvPr/>
        </p:nvGrpSpPr>
        <p:grpSpPr>
          <a:xfrm>
            <a:off x="8928610" y="1855004"/>
            <a:ext cx="410200" cy="410198"/>
            <a:chOff x="6362386" y="3130100"/>
            <a:chExt cx="410200" cy="410198"/>
          </a:xfrm>
        </p:grpSpPr>
        <p:sp>
          <p:nvSpPr>
            <p:cNvPr id="6" name="AutoShape 6"/>
            <p:cNvSpPr/>
            <p:nvPr/>
          </p:nvSpPr>
          <p:spPr>
            <a:xfrm>
              <a:off x="6362386" y="3130100"/>
              <a:ext cx="410200" cy="410198"/>
            </a:xfrm>
            <a:prstGeom prst="roundRect">
              <a:avLst/>
            </a:prstGeom>
            <a:gradFill>
              <a:gsLst>
                <a:gs pos="0">
                  <a:srgbClr val="006BE2">
                    <a:lumMod val="60000"/>
                    <a:lumOff val="40000"/>
                  </a:srgbClr>
                </a:gs>
                <a:gs pos="60000">
                  <a:srgbClr val="006BE2"/>
                </a:gs>
              </a:gsLst>
              <a:lin ang="2700000"/>
            </a:gradFill>
            <a:ln cap="rnd" cmpd="sng">
              <a:prstDash val="solid"/>
            </a:ln>
            <a:effectLst>
              <a:outerShdw blurRad="76200" dist="50800" dir="5400000" algn="ctr" rotWithShape="0">
                <a:schemeClr val="accent4">
                  <a:alpha val="20000"/>
                </a:schemeClr>
              </a:outerShdw>
            </a:effectLst>
          </p:spPr>
          <p:txBody>
            <a:bodyPr rot="0" vert="horz" wrap="square" lIns="91440" tIns="45720" rIns="91440" bIns="45720" anchor="ctr">
              <a:normAutofit/>
            </a:bodyPr>
            <a:lstStyle/>
            <a:p>
              <a:pPr marL="0" algn="ctr"/>
              <a:endParaRPr/>
            </a:p>
          </p:txBody>
        </p:sp>
        <p:sp>
          <p:nvSpPr>
            <p:cNvPr id="7" name="Freeform 7"/>
            <p:cNvSpPr/>
            <p:nvPr/>
          </p:nvSpPr>
          <p:spPr>
            <a:xfrm>
              <a:off x="6478486" y="3270678"/>
              <a:ext cx="178001" cy="141741"/>
            </a:xfrm>
            <a:custGeom>
              <a:avLst/>
              <a:gdLst/>
              <a:ahLst/>
              <a:cxnLst/>
              <a:rect l="l" t="t" r="r" b="b"/>
              <a:pathLst>
                <a:path w="514350" h="409575">
                  <a:moveTo>
                    <a:pt x="486767" y="621"/>
                  </a:moveTo>
                  <a:cubicBezTo>
                    <a:pt x="502579" y="621"/>
                    <a:pt x="515342" y="13385"/>
                    <a:pt x="515342" y="29196"/>
                  </a:cubicBezTo>
                  <a:lnTo>
                    <a:pt x="515342" y="324471"/>
                  </a:lnTo>
                  <a:cubicBezTo>
                    <a:pt x="515342" y="340282"/>
                    <a:pt x="502579" y="353046"/>
                    <a:pt x="486767" y="353046"/>
                  </a:cubicBezTo>
                  <a:lnTo>
                    <a:pt x="192159" y="353046"/>
                  </a:lnTo>
                  <a:lnTo>
                    <a:pt x="115387" y="410196"/>
                  </a:lnTo>
                  <a:lnTo>
                    <a:pt x="115387" y="353046"/>
                  </a:lnTo>
                  <a:lnTo>
                    <a:pt x="29567" y="353046"/>
                  </a:lnTo>
                  <a:cubicBezTo>
                    <a:pt x="13755" y="353046"/>
                    <a:pt x="992" y="340282"/>
                    <a:pt x="992" y="324471"/>
                  </a:cubicBezTo>
                  <a:lnTo>
                    <a:pt x="992" y="29196"/>
                  </a:lnTo>
                  <a:cubicBezTo>
                    <a:pt x="992" y="13385"/>
                    <a:pt x="13755" y="621"/>
                    <a:pt x="29567" y="621"/>
                  </a:cubicBezTo>
                  <a:lnTo>
                    <a:pt x="486767" y="621"/>
                  </a:lnTo>
                  <a:close/>
                  <a:moveTo>
                    <a:pt x="124817" y="143496"/>
                  </a:moveTo>
                  <a:cubicBezTo>
                    <a:pt x="106434" y="143496"/>
                    <a:pt x="91480" y="158450"/>
                    <a:pt x="91480" y="176834"/>
                  </a:cubicBezTo>
                  <a:cubicBezTo>
                    <a:pt x="91480" y="195217"/>
                    <a:pt x="106434" y="210171"/>
                    <a:pt x="124817" y="210171"/>
                  </a:cubicBezTo>
                  <a:cubicBezTo>
                    <a:pt x="143200" y="210171"/>
                    <a:pt x="158155" y="195217"/>
                    <a:pt x="158155" y="176834"/>
                  </a:cubicBezTo>
                  <a:cubicBezTo>
                    <a:pt x="158155" y="158450"/>
                    <a:pt x="143200" y="143496"/>
                    <a:pt x="124817" y="143496"/>
                  </a:cubicBezTo>
                  <a:close/>
                  <a:moveTo>
                    <a:pt x="258167" y="143496"/>
                  </a:moveTo>
                  <a:cubicBezTo>
                    <a:pt x="239784" y="143496"/>
                    <a:pt x="224830" y="158450"/>
                    <a:pt x="224830" y="176834"/>
                  </a:cubicBezTo>
                  <a:cubicBezTo>
                    <a:pt x="224830" y="195217"/>
                    <a:pt x="239784" y="210171"/>
                    <a:pt x="258167" y="210171"/>
                  </a:cubicBezTo>
                  <a:cubicBezTo>
                    <a:pt x="276550" y="210171"/>
                    <a:pt x="291505" y="195217"/>
                    <a:pt x="291505" y="176834"/>
                  </a:cubicBezTo>
                  <a:cubicBezTo>
                    <a:pt x="291505" y="158450"/>
                    <a:pt x="276550" y="143496"/>
                    <a:pt x="258167" y="143496"/>
                  </a:cubicBezTo>
                  <a:close/>
                  <a:moveTo>
                    <a:pt x="391517" y="143496"/>
                  </a:moveTo>
                  <a:cubicBezTo>
                    <a:pt x="373134" y="143496"/>
                    <a:pt x="358180" y="158450"/>
                    <a:pt x="358180" y="176834"/>
                  </a:cubicBezTo>
                  <a:cubicBezTo>
                    <a:pt x="358180" y="195217"/>
                    <a:pt x="373134" y="210171"/>
                    <a:pt x="391517" y="210171"/>
                  </a:cubicBezTo>
                  <a:cubicBezTo>
                    <a:pt x="409900" y="210171"/>
                    <a:pt x="424855" y="195217"/>
                    <a:pt x="424855" y="176834"/>
                  </a:cubicBezTo>
                  <a:cubicBezTo>
                    <a:pt x="424855" y="158450"/>
                    <a:pt x="409900" y="143496"/>
                    <a:pt x="391517" y="143496"/>
                  </a:cubicBezTo>
                  <a:close/>
                </a:path>
              </a:pathLst>
            </a:custGeom>
            <a:solidFill>
              <a:srgbClr val="FFFFFF"/>
            </a:solidFill>
            <a:ln cap="rnd" cmpd="sng">
              <a:prstDash val="solid"/>
            </a:ln>
          </p:spPr>
          <p:txBody>
            <a:bodyPr rot="0" vert="horz" wrap="square" lIns="91440" tIns="45720" rIns="91440" bIns="45720" anchor="ctr">
              <a:prstTxWarp prst="textNoShape">
                <a:avLst/>
              </a:prstTxWarp>
              <a:normAutofit/>
            </a:bodyPr>
            <a:lstStyle/>
            <a:p>
              <a:pPr marL="0" algn="ctr"/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2959436" y="1855004"/>
            <a:ext cx="410200" cy="410198"/>
            <a:chOff x="3526795" y="3130100"/>
            <a:chExt cx="410200" cy="410198"/>
          </a:xfrm>
        </p:grpSpPr>
        <p:sp>
          <p:nvSpPr>
            <p:cNvPr id="9" name="AutoShape 9"/>
            <p:cNvSpPr/>
            <p:nvPr/>
          </p:nvSpPr>
          <p:spPr>
            <a:xfrm>
              <a:off x="3526795" y="3130100"/>
              <a:ext cx="410200" cy="410198"/>
            </a:xfrm>
            <a:prstGeom prst="roundRect">
              <a:avLst/>
            </a:prstGeom>
            <a:gradFill>
              <a:gsLst>
                <a:gs pos="0">
                  <a:srgbClr val="0048B4">
                    <a:lumMod val="60000"/>
                    <a:lumOff val="40000"/>
                  </a:srgbClr>
                </a:gs>
                <a:gs pos="60000">
                  <a:srgbClr val="0048B4"/>
                </a:gs>
              </a:gsLst>
              <a:lin ang="2700000"/>
            </a:gradFill>
            <a:ln cap="rnd" cmpd="sng">
              <a:prstDash val="solid"/>
            </a:ln>
            <a:effectLst>
              <a:outerShdw blurRad="76200" dist="50800" dir="5400000" algn="ctr" rotWithShape="0">
                <a:schemeClr val="accent1">
                  <a:alpha val="20000"/>
                </a:schemeClr>
              </a:outerShdw>
            </a:effectLst>
          </p:spPr>
          <p:txBody>
            <a:bodyPr rot="0" vert="horz" wrap="square" lIns="91440" tIns="45720" rIns="91440" bIns="45720" anchor="ctr">
              <a:normAutofit/>
            </a:bodyPr>
            <a:lstStyle/>
            <a:p>
              <a:pPr marL="0" algn="ctr"/>
              <a:endParaRPr/>
            </a:p>
          </p:txBody>
        </p:sp>
        <p:sp>
          <p:nvSpPr>
            <p:cNvPr id="10" name="Freeform 10"/>
            <p:cNvSpPr/>
            <p:nvPr/>
          </p:nvSpPr>
          <p:spPr>
            <a:xfrm>
              <a:off x="3642895" y="3268449"/>
              <a:ext cx="178001" cy="133500"/>
            </a:xfrm>
            <a:custGeom>
              <a:avLst/>
              <a:gdLst/>
              <a:ahLst/>
              <a:cxnLst/>
              <a:rect l="l" t="t" r="r" b="b"/>
              <a:pathLst>
                <a:path w="533400" h="400050">
                  <a:moveTo>
                    <a:pt x="505433" y="621"/>
                  </a:moveTo>
                  <a:cubicBezTo>
                    <a:pt x="521245" y="621"/>
                    <a:pt x="534008" y="13385"/>
                    <a:pt x="534008" y="29196"/>
                  </a:cubicBezTo>
                  <a:lnTo>
                    <a:pt x="534008" y="372096"/>
                  </a:lnTo>
                  <a:cubicBezTo>
                    <a:pt x="534008" y="387907"/>
                    <a:pt x="521245" y="400671"/>
                    <a:pt x="505433" y="400671"/>
                  </a:cubicBezTo>
                  <a:lnTo>
                    <a:pt x="29183" y="400671"/>
                  </a:lnTo>
                  <a:cubicBezTo>
                    <a:pt x="13371" y="400671"/>
                    <a:pt x="608" y="387907"/>
                    <a:pt x="608" y="372096"/>
                  </a:cubicBezTo>
                  <a:lnTo>
                    <a:pt x="608" y="29196"/>
                  </a:lnTo>
                  <a:cubicBezTo>
                    <a:pt x="608" y="13385"/>
                    <a:pt x="13371" y="621"/>
                    <a:pt x="29183" y="621"/>
                  </a:cubicBezTo>
                  <a:lnTo>
                    <a:pt x="505433" y="621"/>
                  </a:lnTo>
                  <a:close/>
                  <a:moveTo>
                    <a:pt x="391419" y="198646"/>
                  </a:moveTo>
                  <a:cubicBezTo>
                    <a:pt x="378846" y="189121"/>
                    <a:pt x="360939" y="191597"/>
                    <a:pt x="351414" y="204170"/>
                  </a:cubicBezTo>
                  <a:lnTo>
                    <a:pt x="351414" y="204170"/>
                  </a:lnTo>
                  <a:lnTo>
                    <a:pt x="267118" y="315613"/>
                  </a:lnTo>
                  <a:cubicBezTo>
                    <a:pt x="266355" y="316660"/>
                    <a:pt x="265498" y="317518"/>
                    <a:pt x="264641" y="318470"/>
                  </a:cubicBezTo>
                  <a:cubicBezTo>
                    <a:pt x="253592" y="329710"/>
                    <a:pt x="235495" y="329805"/>
                    <a:pt x="224255" y="318756"/>
                  </a:cubicBezTo>
                  <a:lnTo>
                    <a:pt x="224255" y="318756"/>
                  </a:lnTo>
                  <a:lnTo>
                    <a:pt x="162152" y="257415"/>
                  </a:lnTo>
                  <a:cubicBezTo>
                    <a:pt x="161485" y="256844"/>
                    <a:pt x="160914" y="256177"/>
                    <a:pt x="160247" y="255701"/>
                  </a:cubicBezTo>
                  <a:cubicBezTo>
                    <a:pt x="148055" y="245699"/>
                    <a:pt x="130053" y="247414"/>
                    <a:pt x="120052" y="259606"/>
                  </a:cubicBezTo>
                  <a:lnTo>
                    <a:pt x="120052" y="259606"/>
                  </a:lnTo>
                  <a:lnTo>
                    <a:pt x="32517" y="366095"/>
                  </a:lnTo>
                  <a:cubicBezTo>
                    <a:pt x="31088" y="367810"/>
                    <a:pt x="30326" y="369905"/>
                    <a:pt x="30326" y="372096"/>
                  </a:cubicBezTo>
                  <a:cubicBezTo>
                    <a:pt x="30326" y="377335"/>
                    <a:pt x="34612" y="381621"/>
                    <a:pt x="39851" y="381621"/>
                  </a:cubicBezTo>
                  <a:lnTo>
                    <a:pt x="39851" y="381621"/>
                  </a:lnTo>
                  <a:lnTo>
                    <a:pt x="497242" y="381621"/>
                  </a:lnTo>
                  <a:cubicBezTo>
                    <a:pt x="499146" y="381621"/>
                    <a:pt x="500956" y="381050"/>
                    <a:pt x="502480" y="380002"/>
                  </a:cubicBezTo>
                  <a:cubicBezTo>
                    <a:pt x="506862" y="377049"/>
                    <a:pt x="508005" y="371144"/>
                    <a:pt x="505147" y="366762"/>
                  </a:cubicBezTo>
                  <a:lnTo>
                    <a:pt x="505147" y="366762"/>
                  </a:lnTo>
                  <a:lnTo>
                    <a:pt x="397991" y="205504"/>
                  </a:lnTo>
                  <a:cubicBezTo>
                    <a:pt x="396181" y="202932"/>
                    <a:pt x="393990" y="200551"/>
                    <a:pt x="391419" y="198646"/>
                  </a:cubicBezTo>
                  <a:close/>
                  <a:moveTo>
                    <a:pt x="95858" y="57771"/>
                  </a:moveTo>
                  <a:cubicBezTo>
                    <a:pt x="74808" y="57771"/>
                    <a:pt x="57758" y="74821"/>
                    <a:pt x="57758" y="95871"/>
                  </a:cubicBezTo>
                  <a:cubicBezTo>
                    <a:pt x="57758" y="116921"/>
                    <a:pt x="74808" y="133971"/>
                    <a:pt x="95858" y="133971"/>
                  </a:cubicBezTo>
                  <a:cubicBezTo>
                    <a:pt x="116908" y="133971"/>
                    <a:pt x="133958" y="116921"/>
                    <a:pt x="133958" y="95871"/>
                  </a:cubicBezTo>
                  <a:cubicBezTo>
                    <a:pt x="133958" y="74821"/>
                    <a:pt x="116908" y="57771"/>
                    <a:pt x="95858" y="57771"/>
                  </a:cubicBezTo>
                  <a:close/>
                </a:path>
              </a:pathLst>
            </a:custGeom>
            <a:solidFill>
              <a:srgbClr val="FFFFFF"/>
            </a:solidFill>
            <a:ln cap="rnd" cmpd="sng">
              <a:prstDash val="solid"/>
            </a:ln>
          </p:spPr>
          <p:txBody>
            <a:bodyPr rot="0" vert="horz" wrap="square" lIns="91440" tIns="45720" rIns="91440" bIns="45720" anchor="ctr">
              <a:prstTxWarp prst="textNoShape">
                <a:avLst/>
              </a:prstTxWarp>
              <a:normAutofit/>
            </a:bodyPr>
            <a:lstStyle/>
            <a:p>
              <a:pPr marL="0" algn="ctr"/>
              <a:endParaRPr/>
            </a:p>
          </p:txBody>
        </p:sp>
      </p:grpSp>
      <p:sp>
        <p:nvSpPr>
          <p:cNvPr id="11" name="AutoShape 11"/>
          <p:cNvSpPr/>
          <p:nvPr/>
        </p:nvSpPr>
        <p:spPr>
          <a:xfrm>
            <a:off x="1694385" y="2470301"/>
            <a:ext cx="3169136" cy="338554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wrap="square" lIns="91440" tIns="45720" rIns="91440" bIns="45720" anchor="t">
            <a:spAutoFit/>
          </a:bodyPr>
          <a:lstStyle/>
          <a:p>
            <a:pPr marL="0" algn="ctr">
              <a:lnSpc>
                <a:spcPct val="100000"/>
              </a:lnSpc>
            </a:pPr>
            <a:r>
              <a:rPr lang="zh-CN" altLang="en-US" sz="16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规则导向的决策</a:t>
            </a:r>
          </a:p>
        </p:txBody>
      </p:sp>
      <p:sp>
        <p:nvSpPr>
          <p:cNvPr id="12" name="AutoShape 12"/>
          <p:cNvSpPr/>
          <p:nvPr/>
        </p:nvSpPr>
        <p:spPr>
          <a:xfrm>
            <a:off x="1690247" y="3243039"/>
            <a:ext cx="3169136" cy="1669688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wrap="square" lIns="91440" tIns="45720" rIns="91440" bIns="45720" anchor="t">
            <a:spAutoFit/>
          </a:bodyPr>
          <a:lstStyle/>
          <a:p>
            <a:pPr marL="0" algn="ctr">
              <a:lnSpc>
                <a:spcPct val="150000"/>
              </a:lnSpc>
            </a:pPr>
            <a:r>
              <a:rPr lang="zh-CN" altLang="en-US" sz="1400" b="0" i="0" u="none" baseline="0">
                <a:solidFill>
                  <a:srgbClr val="000000"/>
                </a:solidFill>
                <a:latin typeface="微软雅黑"/>
                <a:ea typeface="微软雅黑"/>
              </a:rPr>
              <a:t>规则基础方法采用一系列预设规则对情况进行评估并做出决策，广泛应用于金融服务和法律系统，实现高效、透明的决策过程。</a:t>
            </a:r>
          </a:p>
        </p:txBody>
      </p:sp>
      <p:sp>
        <p:nvSpPr>
          <p:cNvPr id="13" name="AutoShape 13"/>
          <p:cNvSpPr/>
          <p:nvPr/>
        </p:nvSpPr>
        <p:spPr>
          <a:xfrm>
            <a:off x="7600189" y="2464967"/>
            <a:ext cx="3169136" cy="338554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wrap="square" lIns="91440" tIns="45720" rIns="91440" bIns="45720" anchor="t">
            <a:spAutoFit/>
          </a:bodyPr>
          <a:lstStyle/>
          <a:p>
            <a:pPr marL="0" algn="ctr">
              <a:lnSpc>
                <a:spcPct val="100000"/>
              </a:lnSpc>
            </a:pPr>
            <a:r>
              <a:rPr lang="zh-CN" altLang="en-US" sz="16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知识表示与推理机制</a:t>
            </a:r>
          </a:p>
        </p:txBody>
      </p:sp>
      <p:sp>
        <p:nvSpPr>
          <p:cNvPr id="14" name="AutoShape 14"/>
          <p:cNvSpPr/>
          <p:nvPr/>
        </p:nvSpPr>
        <p:spPr>
          <a:xfrm>
            <a:off x="7596051" y="3237705"/>
            <a:ext cx="3169136" cy="1669688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wrap="square" lIns="91440" tIns="45720" rIns="91440" bIns="45720" anchor="t">
            <a:spAutoFit/>
          </a:bodyPr>
          <a:lstStyle/>
          <a:p>
            <a:pPr marL="0" algn="ctr">
              <a:lnSpc>
                <a:spcPct val="150000"/>
              </a:lnSpc>
            </a:pPr>
            <a:r>
              <a:rPr lang="zh-CN" altLang="en-US" sz="1400" b="0" i="0" u="none" baseline="0">
                <a:solidFill>
                  <a:srgbClr val="000000"/>
                </a:solidFill>
                <a:latin typeface="微软雅黑"/>
                <a:ea typeface="微软雅黑"/>
              </a:rPr>
              <a:t>知识表示是将相关信息转化为机器可理解的形式，而推理机制则负责在此基础上进行有效推理，帮助解决问题，增强人工智能的智能水平。</a:t>
            </a:r>
          </a:p>
        </p:txBody>
      </p:sp>
      <p:sp>
        <p:nvSpPr>
          <p:cNvPr id="15" name="AutoShape 15"/>
          <p:cNvSpPr>
            <a:spLocks noGrp="1"/>
          </p:cNvSpPr>
          <p:nvPr>
            <p:ph type="title"/>
          </p:nvPr>
        </p:nvSpPr>
        <p:spPr>
          <a:xfrm>
            <a:off x="660399" y="0"/>
            <a:ext cx="10858500" cy="1028700"/>
          </a:xfrm>
        </p:spPr>
        <p:txBody>
          <a:bodyPr vert="horz" lIns="91440" tIns="45720" rIns="91440" bIns="45720" anchor="b">
            <a:norm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zh-CN" altLang="en-US" sz="28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规则基础方法</a:t>
            </a:r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title"/>
          </p:nvPr>
        </p:nvSpPr>
        <p:spPr>
          <a:xfrm>
            <a:off x="1759568" y="2145656"/>
            <a:ext cx="8358303" cy="646331"/>
          </a:xfrm>
        </p:spPr>
        <p:txBody>
          <a:bodyPr vert="horz" wrap="square" lIns="91440" tIns="45720" rIns="91440" b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3600" b="1" i="0" u="none" baseline="0">
                <a:solidFill>
                  <a:srgbClr val="F0F0F0"/>
                </a:solidFill>
                <a:latin typeface="微软雅黑"/>
                <a:ea typeface="微软雅黑"/>
              </a:rPr>
              <a:t>连接主义的思维模式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94652" y="2126166"/>
            <a:ext cx="750849" cy="707886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l">
              <a:defRPr/>
            </a:pPr>
            <a:r>
              <a:rPr lang="en-US" sz="4000" b="1" i="0" u="none" baseline="0">
                <a:solidFill>
                  <a:srgbClr val="FFFFFF"/>
                </a:solidFill>
                <a:latin typeface="Arial"/>
                <a:ea typeface="Arial"/>
              </a:rPr>
              <a:t>04</a:t>
            </a:r>
            <a:endParaRPr lang="en-US" sz="1100"/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3632289" y="1739591"/>
            <a:ext cx="4319239" cy="4334106"/>
          </a:xfrm>
          <a:prstGeom prst="roundRect">
            <a:avLst/>
          </a:prstGeom>
          <a:solidFill>
            <a:schemeClr val="accent2">
              <a:alpha val="10000"/>
            </a:schemeClr>
          </a:solidFill>
          <a:ln w="12700" cap="rnd" cmpd="sng">
            <a:gradFill>
              <a:gsLst>
                <a:gs pos="0">
                  <a:srgbClr val="002880"/>
                </a:gs>
                <a:gs pos="100000">
                  <a:srgbClr val="002880">
                    <a:alpha val="20000"/>
                    <a:lumMod val="60000"/>
                    <a:lumOff val="40000"/>
                  </a:srgbClr>
                </a:gs>
              </a:gsLst>
              <a:lin ang="2700000"/>
            </a:gradFill>
            <a:prstDash val="solid"/>
          </a:ln>
        </p:spPr>
        <p:txBody>
          <a:bodyPr rot="0" vert="horz" wrap="square" lIns="91440" tIns="45720" rIns="91440" bIns="45720" anchor="ctr">
            <a:noAutofit/>
          </a:bodyPr>
          <a:lstStyle/>
          <a:p>
            <a:pPr marL="0" algn="ctr"/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468350" y="1107687"/>
            <a:ext cx="4319239" cy="4334107"/>
          </a:xfrm>
          <a:prstGeom prst="roundRect">
            <a:avLst/>
          </a:prstGeom>
          <a:gradFill>
            <a:gsLst>
              <a:gs pos="0">
                <a:srgbClr val="002880">
                  <a:lumMod val="60000"/>
                  <a:lumOff val="40000"/>
                </a:srgbClr>
              </a:gs>
              <a:gs pos="60000">
                <a:srgbClr val="002880"/>
              </a:gs>
            </a:gsLst>
            <a:lin ang="2700000"/>
          </a:gradFill>
          <a:ln cap="rnd" cmpd="sng">
            <a:prstDash val="solid"/>
          </a:ln>
          <a:effectLst>
            <a:outerShdw blurRad="76200" dist="50800" dir="5400000" algn="ctr" rotWithShape="0">
              <a:schemeClr val="accent2">
                <a:alpha val="20000"/>
              </a:schemeClr>
            </a:outerShdw>
          </a:effectLst>
        </p:spPr>
        <p:txBody>
          <a:bodyPr rot="0" vert="horz" wrap="none" lIns="91440" tIns="45720" rIns="91440" bIns="45720" anchor="ctr">
            <a:noAutofit/>
          </a:bodyPr>
          <a:lstStyle/>
          <a:p>
            <a:pPr marL="0" algn="ctr"/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951528" y="426492"/>
            <a:ext cx="4158696" cy="4561819"/>
          </a:xfrm>
          <a:prstGeom prst="roundRect">
            <a:avLst>
              <a:gd name="adj" fmla="val 7022"/>
            </a:avLst>
          </a:prstGeom>
          <a:blipFill>
            <a:blip r:embed="rId3"/>
            <a:srcRect/>
            <a:stretch>
              <a:fillRect l="-25119" r="-25119"/>
            </a:stretch>
          </a:blipFill>
          <a:ln cap="flat" cmpd="sng">
            <a:prstDash val="solid"/>
          </a:ln>
        </p:spPr>
        <p:txBody>
          <a:bodyPr rot="0" vert="horz" wrap="square" lIns="91440" tIns="45720" rIns="91440" bIns="45720" anchor="t">
            <a:prstTxWarp prst="textNoShape">
              <a:avLst/>
            </a:prstTxWarp>
            <a:noAutofit/>
          </a:bodyPr>
          <a:lstStyle/>
          <a:p>
            <a:pPr marL="0" algn="ctr"/>
            <a:endParaRPr/>
          </a:p>
        </p:txBody>
      </p:sp>
      <p:sp>
        <p:nvSpPr>
          <p:cNvPr id="5" name="TextBox 5"/>
          <p:cNvSpPr txBox="1"/>
          <p:nvPr/>
        </p:nvSpPr>
        <p:spPr>
          <a:xfrm>
            <a:off x="907869" y="2617727"/>
            <a:ext cx="3389811" cy="1669688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ctr">
              <a:lnSpc>
                <a:spcPct val="150000"/>
              </a:lnSpc>
              <a:defRPr/>
            </a:pPr>
            <a:r>
              <a:rPr lang="zh-CN" altLang="en-US" sz="1400" b="0" i="0" u="none" baseline="0">
                <a:solidFill>
                  <a:srgbClr val="FFFFFF"/>
                </a:solidFill>
                <a:latin typeface="微软雅黑"/>
                <a:ea typeface="微软雅黑"/>
              </a:rPr>
              <a:t>神经元是人工神经网络的基础单元，结构上包括输入、激活和输出。其功能通过模仿生物神经元的传递机制处理信息，实现复杂模式识别。</a:t>
            </a:r>
            <a:endParaRPr lang="en-US" sz="1100"/>
          </a:p>
        </p:txBody>
      </p:sp>
      <p:sp>
        <p:nvSpPr>
          <p:cNvPr id="6" name="TextBox 6"/>
          <p:cNvSpPr txBox="1"/>
          <p:nvPr/>
        </p:nvSpPr>
        <p:spPr>
          <a:xfrm>
            <a:off x="907869" y="1986320"/>
            <a:ext cx="3389812" cy="338554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ctr">
              <a:lnSpc>
                <a:spcPct val="100000"/>
              </a:lnSpc>
              <a:defRPr/>
            </a:pPr>
            <a:r>
              <a:rPr lang="zh-CN" altLang="en-US" sz="1600" b="1" i="0" u="none" baseline="0">
                <a:ln/>
                <a:solidFill>
                  <a:srgbClr val="FFFFFF"/>
                </a:solidFill>
                <a:latin typeface="微软雅黑"/>
                <a:ea typeface="微软雅黑"/>
              </a:rPr>
              <a:t>神经元的结构与功能</a:t>
            </a:r>
            <a:endParaRPr lang="en-US" sz="1100"/>
          </a:p>
        </p:txBody>
      </p:sp>
      <p:sp>
        <p:nvSpPr>
          <p:cNvPr id="7" name="TextBox 7"/>
          <p:cNvSpPr txBox="1"/>
          <p:nvPr/>
        </p:nvSpPr>
        <p:spPr>
          <a:xfrm>
            <a:off x="4757535" y="2962064"/>
            <a:ext cx="2903831" cy="1992853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ctr">
              <a:lnSpc>
                <a:spcPct val="150000"/>
              </a:lnSpc>
              <a:defRPr/>
            </a:pPr>
            <a:r>
              <a:rPr lang="zh-CN" altLang="en-US" sz="1400" b="0" i="0" u="none" baseline="0">
                <a:solidFill>
                  <a:srgbClr val="000000"/>
                </a:solidFill>
                <a:latin typeface="微软雅黑"/>
                <a:ea typeface="微软雅黑"/>
              </a:rPr>
              <a:t>人工神经网络经历了从简单感知器到多层感知器的演变，随后通过引入卷积神经网络（CNN）和递归神经网络（RNN），拓宽了应用领域，极大提升了性能。</a:t>
            </a:r>
            <a:endParaRPr lang="en-US" sz="1100"/>
          </a:p>
        </p:txBody>
      </p:sp>
      <p:sp>
        <p:nvSpPr>
          <p:cNvPr id="8" name="TextBox 8"/>
          <p:cNvSpPr txBox="1"/>
          <p:nvPr/>
        </p:nvSpPr>
        <p:spPr>
          <a:xfrm>
            <a:off x="4757535" y="2330657"/>
            <a:ext cx="2903832" cy="338554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ctr">
              <a:lnSpc>
                <a:spcPct val="100000"/>
              </a:lnSpc>
              <a:defRPr/>
            </a:pPr>
            <a:r>
              <a:rPr lang="zh-CN" altLang="en-US" sz="1600" b="1" i="0" u="none" baseline="0">
                <a:ln/>
                <a:solidFill>
                  <a:srgbClr val="000000"/>
                </a:solidFill>
                <a:latin typeface="微软雅黑"/>
                <a:ea typeface="微软雅黑"/>
              </a:rPr>
              <a:t>人工神经网络的演变</a:t>
            </a:r>
            <a:endParaRPr lang="en-US" sz="1100"/>
          </a:p>
        </p:txBody>
      </p:sp>
      <p:sp>
        <p:nvSpPr>
          <p:cNvPr id="9" name="AutoShape 9"/>
          <p:cNvSpPr>
            <a:spLocks noGrp="1"/>
          </p:cNvSpPr>
          <p:nvPr>
            <p:ph type="title"/>
          </p:nvPr>
        </p:nvSpPr>
        <p:spPr>
          <a:xfrm>
            <a:off x="660399" y="0"/>
            <a:ext cx="10858500" cy="1028700"/>
          </a:xfrm>
        </p:spPr>
        <p:txBody>
          <a:bodyPr vert="horz" lIns="91440" tIns="45720" rIns="91440" bIns="45720" anchor="b">
            <a:norm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zh-CN" altLang="en-US" sz="28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神经网络基础</a:t>
            </a:r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title"/>
          </p:nvPr>
        </p:nvSpPr>
        <p:spPr>
          <a:xfrm>
            <a:off x="660399" y="0"/>
            <a:ext cx="10858500" cy="1028700"/>
          </a:xfrm>
        </p:spPr>
        <p:txBody>
          <a:bodyPr vert="horz" lIns="91440" tIns="45720" rIns="91440" bIns="45720" anchor="b">
            <a:norm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zh-CN" altLang="en-US" sz="28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深度学习的应用</a:t>
            </a:r>
          </a:p>
        </p:txBody>
      </p:sp>
      <p:sp>
        <p:nvSpPr>
          <p:cNvPr id="3" name="AutoShape 3"/>
          <p:cNvSpPr/>
          <p:nvPr/>
        </p:nvSpPr>
        <p:spPr>
          <a:xfrm>
            <a:off x="1072294" y="1675039"/>
            <a:ext cx="4292910" cy="3341460"/>
          </a:xfrm>
          <a:prstGeom prst="rect">
            <a:avLst/>
          </a:prstGeom>
          <a:solidFill>
            <a:srgbClr val="000000">
              <a:alpha val="10000"/>
              <a:lumMod val="50000"/>
              <a:lumOff val="50000"/>
            </a:srgbClr>
          </a:solidFill>
          <a:ln cap="rnd" cmpd="sng">
            <a:prstDash val="solid"/>
          </a:ln>
        </p:spPr>
        <p:txBody>
          <a:bodyPr rot="0" vert="horz" wrap="square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4" name="TextBox 4"/>
          <p:cNvSpPr txBox="1"/>
          <p:nvPr/>
        </p:nvSpPr>
        <p:spPr>
          <a:xfrm>
            <a:off x="1161213" y="2789193"/>
            <a:ext cx="3619789" cy="338554"/>
          </a:xfrm>
          <a:prstGeom prst="rect">
            <a:avLst/>
          </a:prstGeom>
          <a:noFill/>
          <a:ln cap="rnd" cmpd="sng">
            <a:prstDash val="solid"/>
          </a:ln>
        </p:spPr>
        <p:txBody>
          <a:bodyPr rot="0" vert="horz" wrap="square" lIns="91440" tIns="45720" rIns="91440" bIns="45720" rtlCol="0" anchor="ctr">
            <a:prstTxWarp prst="textNoShape">
              <a:avLst/>
            </a:prstTxWarp>
            <a:spAutoFit/>
          </a:bodyPr>
          <a:lstStyle/>
          <a:p>
            <a:pPr marL="0" algn="l">
              <a:defRPr/>
            </a:pPr>
            <a:r>
              <a:rPr lang="zh-CN" altLang="en-US" sz="16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深度学习的关键技术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161212" y="3184540"/>
            <a:ext cx="3619791" cy="1346522"/>
          </a:xfrm>
          <a:prstGeom prst="rect">
            <a:avLst/>
          </a:prstGeom>
        </p:spPr>
        <p:txBody>
          <a:bodyPr vert="horz" wrap="square" lIns="91440" tIns="45720" rIns="91440" bIns="45720" anchor="t">
            <a:spAutoFit/>
          </a:bodyPr>
          <a:lstStyle/>
          <a:p>
            <a:pPr marL="0" algn="l">
              <a:lnSpc>
                <a:spcPct val="150000"/>
              </a:lnSpc>
            </a:pPr>
            <a:r>
              <a:rPr lang="zh-CN" altLang="en-US" sz="1400" b="0" i="0" u="none" baseline="0">
                <a:solidFill>
                  <a:srgbClr val="000000"/>
                </a:solidFill>
                <a:latin typeface="微软雅黑"/>
                <a:ea typeface="微软雅黑"/>
              </a:rPr>
              <a:t>深度学习依赖大量数据和强大的计算能力，关键技术涵盖卷积、池化及反向传播算法，这些技术使得网络能够高效提取特征，实现精确建模。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029435" y="3844814"/>
            <a:ext cx="1441420" cy="1446550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t">
            <a:spAutoFit/>
          </a:bodyPr>
          <a:lstStyle/>
          <a:p>
            <a:pPr marL="0" algn="l">
              <a:defRPr/>
            </a:pPr>
            <a:r>
              <a:rPr lang="en-US" sz="8800" b="1" i="0" u="none" baseline="0">
                <a:solidFill>
                  <a:srgbClr val="FFFFFF"/>
                </a:solidFill>
                <a:latin typeface="Arial"/>
                <a:ea typeface="Arial"/>
              </a:rPr>
              <a:t>01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>
            <a:off x="1072294" y="1688102"/>
            <a:ext cx="4292910" cy="0"/>
          </a:xfrm>
          <a:prstGeom prst="line">
            <a:avLst/>
          </a:prstGeom>
          <a:ln w="25400" cap="flat" cmpd="sng">
            <a:solidFill>
              <a:schemeClr val="accent1"/>
            </a:solidFill>
            <a:prstDash val="solid"/>
          </a:ln>
        </p:spPr>
      </p:cxnSp>
      <p:sp>
        <p:nvSpPr>
          <p:cNvPr id="8" name="Freeform 8"/>
          <p:cNvSpPr/>
          <p:nvPr/>
        </p:nvSpPr>
        <p:spPr>
          <a:xfrm>
            <a:off x="1257741" y="2118478"/>
            <a:ext cx="320770" cy="433039"/>
          </a:xfrm>
          <a:custGeom>
            <a:avLst/>
            <a:gdLst/>
            <a:ahLst/>
            <a:cxnLst/>
            <a:rect l="l" t="t" r="r" b="b"/>
            <a:pathLst>
              <a:path w="381000" h="514350">
                <a:moveTo>
                  <a:pt x="86973" y="38721"/>
                </a:moveTo>
                <a:lnTo>
                  <a:pt x="86973" y="95871"/>
                </a:lnTo>
                <a:lnTo>
                  <a:pt x="296523" y="95871"/>
                </a:lnTo>
                <a:lnTo>
                  <a:pt x="296523" y="38721"/>
                </a:lnTo>
                <a:lnTo>
                  <a:pt x="382248" y="38721"/>
                </a:lnTo>
                <a:lnTo>
                  <a:pt x="382248" y="514971"/>
                </a:lnTo>
                <a:lnTo>
                  <a:pt x="1248" y="514971"/>
                </a:lnTo>
                <a:lnTo>
                  <a:pt x="1248" y="38721"/>
                </a:lnTo>
                <a:lnTo>
                  <a:pt x="86973" y="38721"/>
                </a:lnTo>
                <a:close/>
                <a:moveTo>
                  <a:pt x="191748" y="333996"/>
                </a:moveTo>
                <a:lnTo>
                  <a:pt x="77448" y="333996"/>
                </a:lnTo>
                <a:lnTo>
                  <a:pt x="77448" y="353046"/>
                </a:lnTo>
                <a:lnTo>
                  <a:pt x="191748" y="353046"/>
                </a:lnTo>
                <a:lnTo>
                  <a:pt x="191748" y="333996"/>
                </a:lnTo>
                <a:close/>
                <a:moveTo>
                  <a:pt x="306048" y="257796"/>
                </a:moveTo>
                <a:lnTo>
                  <a:pt x="77448" y="257796"/>
                </a:lnTo>
                <a:lnTo>
                  <a:pt x="77448" y="276846"/>
                </a:lnTo>
                <a:lnTo>
                  <a:pt x="306048" y="276846"/>
                </a:lnTo>
                <a:lnTo>
                  <a:pt x="306048" y="257796"/>
                </a:lnTo>
                <a:close/>
                <a:moveTo>
                  <a:pt x="306048" y="181596"/>
                </a:moveTo>
                <a:lnTo>
                  <a:pt x="77448" y="181596"/>
                </a:lnTo>
                <a:lnTo>
                  <a:pt x="77448" y="200646"/>
                </a:lnTo>
                <a:lnTo>
                  <a:pt x="306048" y="200646"/>
                </a:lnTo>
                <a:lnTo>
                  <a:pt x="306048" y="181596"/>
                </a:lnTo>
                <a:close/>
                <a:moveTo>
                  <a:pt x="277473" y="621"/>
                </a:moveTo>
                <a:lnTo>
                  <a:pt x="277473" y="76821"/>
                </a:lnTo>
                <a:lnTo>
                  <a:pt x="106023" y="76821"/>
                </a:lnTo>
                <a:lnTo>
                  <a:pt x="106023" y="621"/>
                </a:lnTo>
                <a:lnTo>
                  <a:pt x="277473" y="621"/>
                </a:lnTo>
                <a:close/>
              </a:path>
            </a:pathLst>
          </a:custGeom>
          <a:solidFill>
            <a:schemeClr val="accent1"/>
          </a:solidFill>
        </p:spPr>
        <p:txBody>
          <a:bodyPr vert="horz" lIns="91440" tIns="45720" rIns="91440" bIns="45720" anchor="t">
            <a:normAutofit/>
          </a:bodyPr>
          <a:lstStyle/>
          <a:p>
            <a:pPr marL="0" algn="l"/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6721145" y="1675039"/>
            <a:ext cx="4292910" cy="3341460"/>
          </a:xfrm>
          <a:prstGeom prst="rect">
            <a:avLst/>
          </a:prstGeom>
          <a:solidFill>
            <a:srgbClr val="000000">
              <a:alpha val="10000"/>
              <a:lumMod val="50000"/>
              <a:lumOff val="50000"/>
            </a:srgbClr>
          </a:solidFill>
          <a:ln cap="rnd" cmpd="sng">
            <a:prstDash val="solid"/>
          </a:ln>
        </p:spPr>
        <p:txBody>
          <a:bodyPr rot="0" vert="horz" wrap="square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10" name="TextBox 10"/>
          <p:cNvSpPr txBox="1"/>
          <p:nvPr/>
        </p:nvSpPr>
        <p:spPr>
          <a:xfrm>
            <a:off x="6810064" y="2789193"/>
            <a:ext cx="3619789" cy="338554"/>
          </a:xfrm>
          <a:prstGeom prst="rect">
            <a:avLst/>
          </a:prstGeom>
          <a:noFill/>
          <a:ln cap="rnd" cmpd="sng">
            <a:prstDash val="solid"/>
          </a:ln>
        </p:spPr>
        <p:txBody>
          <a:bodyPr rot="0" vert="horz" wrap="square" lIns="91440" tIns="45720" rIns="91440" bIns="45720" rtlCol="0" anchor="ctr">
            <a:prstTxWarp prst="textNoShape">
              <a:avLst/>
            </a:prstTxWarp>
            <a:spAutoFit/>
          </a:bodyPr>
          <a:lstStyle/>
          <a:p>
            <a:pPr marL="0" algn="l">
              <a:defRPr/>
            </a:pPr>
            <a:r>
              <a:rPr lang="zh-CN" altLang="en-US" sz="16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深度学习的实际案例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810063" y="3184540"/>
            <a:ext cx="3619791" cy="1345048"/>
          </a:xfrm>
          <a:prstGeom prst="rect">
            <a:avLst/>
          </a:prstGeom>
        </p:spPr>
        <p:txBody>
          <a:bodyPr vert="horz" wrap="square" lIns="91440" tIns="45720" rIns="91440" bIns="45720" anchor="t">
            <a:spAutoFit/>
          </a:bodyPr>
          <a:lstStyle/>
          <a:p>
            <a:pPr marL="0" algn="l">
              <a:lnSpc>
                <a:spcPct val="150000"/>
              </a:lnSpc>
            </a:pPr>
            <a:r>
              <a:rPr lang="zh-CN" altLang="en-US" sz="1400" b="0" i="0" u="none" baseline="0">
                <a:solidFill>
                  <a:srgbClr val="000000"/>
                </a:solidFill>
                <a:latin typeface="微软雅黑"/>
                <a:ea typeface="微软雅黑"/>
              </a:rPr>
              <a:t>深度学习在图像识别、自然语言处理和自动驾驶等领域表现出色，如Google的图像搜索和Tesla的自动驾驶系统，展现了强大的实用潜力。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678286" y="3844814"/>
            <a:ext cx="1441420" cy="1446550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t">
            <a:spAutoFit/>
          </a:bodyPr>
          <a:lstStyle/>
          <a:p>
            <a:pPr marL="0" algn="l">
              <a:defRPr/>
            </a:pPr>
            <a:r>
              <a:rPr lang="en-US" sz="8800" b="1" i="0" u="none" baseline="0">
                <a:solidFill>
                  <a:srgbClr val="FFFFFF"/>
                </a:solidFill>
                <a:latin typeface="Arial"/>
                <a:ea typeface="Arial"/>
              </a:rPr>
              <a:t>02</a:t>
            </a:r>
            <a:endParaRPr lang="en-US" sz="1100"/>
          </a:p>
        </p:txBody>
      </p:sp>
      <p:cxnSp>
        <p:nvCxnSpPr>
          <p:cNvPr id="13" name="Connector 13"/>
          <p:cNvCxnSpPr/>
          <p:nvPr/>
        </p:nvCxnSpPr>
        <p:spPr>
          <a:xfrm>
            <a:off x="6721145" y="1688102"/>
            <a:ext cx="4292910" cy="0"/>
          </a:xfrm>
          <a:prstGeom prst="line">
            <a:avLst/>
          </a:prstGeom>
          <a:ln w="25400" cap="flat" cmpd="sng">
            <a:solidFill>
              <a:schemeClr val="accent1"/>
            </a:solidFill>
            <a:prstDash val="solid"/>
          </a:ln>
        </p:spPr>
      </p:cxnSp>
      <p:sp>
        <p:nvSpPr>
          <p:cNvPr id="14" name="Freeform 14"/>
          <p:cNvSpPr/>
          <p:nvPr/>
        </p:nvSpPr>
        <p:spPr>
          <a:xfrm>
            <a:off x="6929962" y="2089250"/>
            <a:ext cx="425166" cy="433039"/>
          </a:xfrm>
          <a:custGeom>
            <a:avLst/>
            <a:gdLst/>
            <a:ahLst/>
            <a:cxnLst/>
            <a:rect l="l" t="t" r="r" b="b"/>
            <a:pathLst>
              <a:path w="514350" h="523875">
                <a:moveTo>
                  <a:pt x="257175" y="266700"/>
                </a:moveTo>
                <a:cubicBezTo>
                  <a:pt x="330518" y="266700"/>
                  <a:pt x="390525" y="206693"/>
                  <a:pt x="390525" y="133350"/>
                </a:cubicBezTo>
                <a:cubicBezTo>
                  <a:pt x="390525" y="60008"/>
                  <a:pt x="330518" y="0"/>
                  <a:pt x="257175" y="0"/>
                </a:cubicBezTo>
                <a:cubicBezTo>
                  <a:pt x="183833" y="0"/>
                  <a:pt x="123825" y="60008"/>
                  <a:pt x="123825" y="133350"/>
                </a:cubicBezTo>
                <a:cubicBezTo>
                  <a:pt x="123825" y="206693"/>
                  <a:pt x="183833" y="266700"/>
                  <a:pt x="257175" y="266700"/>
                </a:cubicBezTo>
                <a:close/>
                <a:moveTo>
                  <a:pt x="457200" y="333375"/>
                </a:moveTo>
                <a:lnTo>
                  <a:pt x="57150" y="333375"/>
                </a:lnTo>
                <a:lnTo>
                  <a:pt x="0" y="390525"/>
                </a:lnTo>
                <a:lnTo>
                  <a:pt x="0" y="523875"/>
                </a:lnTo>
                <a:lnTo>
                  <a:pt x="514350" y="523875"/>
                </a:lnTo>
                <a:lnTo>
                  <a:pt x="514350" y="390525"/>
                </a:lnTo>
                <a:lnTo>
                  <a:pt x="457200" y="333375"/>
                </a:lnTo>
                <a:close/>
                <a:moveTo>
                  <a:pt x="447675" y="457200"/>
                </a:moveTo>
                <a:lnTo>
                  <a:pt x="333375" y="457200"/>
                </a:lnTo>
                <a:lnTo>
                  <a:pt x="333375" y="438150"/>
                </a:lnTo>
                <a:lnTo>
                  <a:pt x="447675" y="438150"/>
                </a:lnTo>
                <a:lnTo>
                  <a:pt x="447675" y="457200"/>
                </a:lnTo>
                <a:close/>
              </a:path>
            </a:pathLst>
          </a:custGeom>
          <a:solidFill>
            <a:schemeClr val="accent1"/>
          </a:solidFill>
        </p:spPr>
        <p:txBody>
          <a:bodyPr vert="horz" lIns="91440" tIns="45720" rIns="91440" bIns="45720" anchor="t">
            <a:normAutofit/>
          </a:bodyPr>
          <a:lstStyle/>
          <a:p>
            <a:pPr marL="0" algn="l"/>
            <a:endParaRPr/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title"/>
          </p:nvPr>
        </p:nvSpPr>
        <p:spPr>
          <a:xfrm>
            <a:off x="1759568" y="2145656"/>
            <a:ext cx="8358303" cy="646331"/>
          </a:xfrm>
        </p:spPr>
        <p:txBody>
          <a:bodyPr vert="horz" wrap="square" lIns="91440" tIns="45720" rIns="91440" b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3600" b="1" i="0" u="none" baseline="0">
                <a:solidFill>
                  <a:srgbClr val="F0F0F0"/>
                </a:solidFill>
                <a:latin typeface="微软雅黑"/>
                <a:ea typeface="微软雅黑"/>
              </a:rPr>
              <a:t>演化计算与智能代理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94652" y="2126166"/>
            <a:ext cx="750849" cy="707886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l">
              <a:defRPr/>
            </a:pPr>
            <a:r>
              <a:rPr lang="en-US" sz="4000" b="1" i="0" u="none" baseline="0">
                <a:solidFill>
                  <a:srgbClr val="FFFFFF"/>
                </a:solidFill>
                <a:latin typeface="Arial"/>
                <a:ea typeface="Arial"/>
              </a:rPr>
              <a:t>05</a:t>
            </a:r>
            <a:endParaRPr lang="en-US" sz="1100"/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2"/>
          <p:cNvCxnSpPr/>
          <p:nvPr/>
        </p:nvCxnSpPr>
        <p:spPr>
          <a:xfrm>
            <a:off x="4558857" y="2581356"/>
            <a:ext cx="0" cy="2119085"/>
          </a:xfrm>
          <a:prstGeom prst="line">
            <a:avLst/>
          </a:prstGeom>
          <a:ln w="12700" cap="flat" cmpd="sng">
            <a:solidFill>
              <a:srgbClr val="778495"/>
            </a:solidFill>
            <a:prstDash val="solid"/>
          </a:ln>
        </p:spPr>
      </p:cxnSp>
      <p:sp>
        <p:nvSpPr>
          <p:cNvPr id="3" name="AutoShape 3"/>
          <p:cNvSpPr/>
          <p:nvPr/>
        </p:nvSpPr>
        <p:spPr>
          <a:xfrm flipH="1">
            <a:off x="7725" y="1648246"/>
            <a:ext cx="4370959" cy="3552305"/>
          </a:xfrm>
          <a:prstGeom prst="homePlate">
            <a:avLst>
              <a:gd name="adj" fmla="val 39231"/>
            </a:avLst>
          </a:prstGeom>
          <a:gradFill>
            <a:gsLst>
              <a:gs pos="0">
                <a:srgbClr val="0048B4">
                  <a:lumMod val="60000"/>
                  <a:lumOff val="40000"/>
                </a:srgbClr>
              </a:gs>
              <a:gs pos="60000">
                <a:srgbClr val="0048B4"/>
              </a:gs>
            </a:gsLst>
            <a:lin ang="2700000"/>
          </a:gradFill>
          <a:ln cap="rnd" cmpd="sng">
            <a:prstDash val="solid"/>
          </a:ln>
          <a:effectLst>
            <a:outerShdw blurRad="50800" dist="50800" dir="5400000" algn="ctr" rotWithShape="0">
              <a:schemeClr val="accent1">
                <a:alpha val="20000"/>
              </a:schemeClr>
            </a:outerShdw>
          </a:effectLst>
        </p:spPr>
        <p:txBody>
          <a:bodyPr rot="0" vert="horz" wrap="square" lIns="91440" tIns="45720" rIns="91440" bIns="45720" anchor="b">
            <a:normAutofit/>
          </a:bodyPr>
          <a:lstStyle/>
          <a:p>
            <a:pPr marL="0" algn="ctr"/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733956" y="1667964"/>
            <a:ext cx="4370957" cy="3552305"/>
          </a:xfrm>
          <a:prstGeom prst="homePlate">
            <a:avLst>
              <a:gd name="adj" fmla="val 39231"/>
            </a:avLst>
          </a:prstGeom>
          <a:gradFill>
            <a:gsLst>
              <a:gs pos="0">
                <a:srgbClr val="0048B4">
                  <a:lumMod val="60000"/>
                  <a:lumOff val="40000"/>
                </a:srgbClr>
              </a:gs>
              <a:gs pos="60000">
                <a:srgbClr val="0048B4"/>
              </a:gs>
            </a:gsLst>
            <a:lin ang="2700000"/>
          </a:gradFill>
          <a:ln cap="rnd" cmpd="sng">
            <a:prstDash val="solid"/>
          </a:ln>
          <a:effectLst>
            <a:outerShdw blurRad="50800" dist="50800" dir="5400000" algn="ctr" rotWithShape="0">
              <a:schemeClr val="accent1">
                <a:alpha val="20000"/>
              </a:schemeClr>
            </a:outerShdw>
          </a:effectLst>
        </p:spPr>
        <p:txBody>
          <a:bodyPr rot="0" vert="horz" wrap="square" lIns="91440" tIns="45720" rIns="91440" bIns="45720" anchor="b">
            <a:normAutofit/>
          </a:bodyPr>
          <a:lstStyle/>
          <a:p>
            <a:pPr marL="0" algn="ctr"/>
            <a:endParaRPr/>
          </a:p>
        </p:txBody>
      </p:sp>
      <p:cxnSp>
        <p:nvCxnSpPr>
          <p:cNvPr id="5" name="Connector 5"/>
          <p:cNvCxnSpPr/>
          <p:nvPr/>
        </p:nvCxnSpPr>
        <p:spPr>
          <a:xfrm>
            <a:off x="7530657" y="2581356"/>
            <a:ext cx="0" cy="2119085"/>
          </a:xfrm>
          <a:prstGeom prst="line">
            <a:avLst/>
          </a:prstGeom>
          <a:ln w="12700" cap="flat" cmpd="sng">
            <a:solidFill>
              <a:srgbClr val="778495"/>
            </a:solidFill>
            <a:prstDash val="solid"/>
          </a:ln>
        </p:spPr>
      </p:cxnSp>
      <p:sp>
        <p:nvSpPr>
          <p:cNvPr id="6" name="AutoShape 6"/>
          <p:cNvSpPr/>
          <p:nvPr/>
        </p:nvSpPr>
        <p:spPr>
          <a:xfrm>
            <a:off x="4608240" y="2439464"/>
            <a:ext cx="2922417" cy="2815246"/>
          </a:xfrm>
          <a:prstGeom prst="ellipse">
            <a:avLst/>
          </a:prstGeom>
          <a:blipFill>
            <a:blip r:embed="rId3"/>
            <a:srcRect/>
            <a:stretch>
              <a:fillRect l="-25119" r="-25119"/>
            </a:stretch>
          </a:blipFill>
          <a:ln cap="flat">
            <a:prstDash val="solid"/>
          </a:ln>
        </p:spPr>
        <p:txBody>
          <a:bodyPr rot="0" vert="horz" wrap="square" lIns="91440" tIns="45720" rIns="91440" bIns="45720" anchor="ctr">
            <a:prstTxWarp prst="textNoShape">
              <a:avLst/>
            </a:prstTxWarp>
            <a:noAutofit/>
          </a:bodyPr>
          <a:lstStyle/>
          <a:p>
            <a:pPr marL="0" algn="ctr"/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1720114" y="2100910"/>
            <a:ext cx="2394686" cy="338554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wrap="square" lIns="91440" tIns="45720" rIns="91440" bIns="45720" anchor="t">
            <a:spAutoFit/>
          </a:bodyPr>
          <a:lstStyle/>
          <a:p>
            <a:pPr marL="0" algn="l">
              <a:lnSpc>
                <a:spcPct val="100000"/>
              </a:lnSpc>
            </a:pPr>
            <a:r>
              <a:rPr lang="zh-CN" altLang="en-US" sz="1600" b="1" i="0" u="none" baseline="0">
                <a:solidFill>
                  <a:srgbClr val="FFFFFF"/>
                </a:solidFill>
                <a:latin typeface="微软雅黑"/>
                <a:ea typeface="微软雅黑"/>
              </a:rPr>
              <a:t>进化算法的原理</a:t>
            </a:r>
          </a:p>
        </p:txBody>
      </p:sp>
      <p:sp>
        <p:nvSpPr>
          <p:cNvPr id="8" name="AutoShape 8"/>
          <p:cNvSpPr/>
          <p:nvPr/>
        </p:nvSpPr>
        <p:spPr>
          <a:xfrm>
            <a:off x="1715976" y="2671177"/>
            <a:ext cx="2394686" cy="2316019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wrap="square" lIns="91440" tIns="45720" rIns="91440" bIns="45720" anchor="t">
            <a:spAutoFit/>
          </a:bodyPr>
          <a:lstStyle/>
          <a:p>
            <a:pPr marL="0" algn="l">
              <a:lnSpc>
                <a:spcPct val="150000"/>
              </a:lnSpc>
            </a:pPr>
            <a:r>
              <a:rPr lang="zh-CN" altLang="en-US" sz="1400" b="0" i="0" u="none" baseline="0">
                <a:solidFill>
                  <a:schemeClr val="lt1"/>
                </a:solidFill>
                <a:latin typeface="微软雅黑"/>
                <a:ea typeface="微软雅黑"/>
              </a:rPr>
              <a:t>进化算法模仿自然选择过程，通过种群的选择、交叉和突变，寻找最优解。它特别适合解决复杂、多维度的优化问题，广泛用于工程和经济领域。</a:t>
            </a:r>
          </a:p>
        </p:txBody>
      </p:sp>
      <p:sp>
        <p:nvSpPr>
          <p:cNvPr id="9" name="AutoShape 9"/>
          <p:cNvSpPr/>
          <p:nvPr/>
        </p:nvSpPr>
        <p:spPr>
          <a:xfrm>
            <a:off x="8093636" y="2100910"/>
            <a:ext cx="2394686" cy="338554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wrap="square" lIns="91440" tIns="45720" rIns="91440" bIns="45720" anchor="t">
            <a:spAutoFit/>
          </a:bodyPr>
          <a:lstStyle/>
          <a:p>
            <a:pPr marL="0" algn="l">
              <a:lnSpc>
                <a:spcPct val="100000"/>
              </a:lnSpc>
            </a:pPr>
            <a:r>
              <a:rPr lang="zh-CN" altLang="en-US" sz="1600" b="1" i="0" u="none" baseline="0">
                <a:solidFill>
                  <a:srgbClr val="FFFFFF"/>
                </a:solidFill>
                <a:latin typeface="微软雅黑"/>
                <a:ea typeface="微软雅黑"/>
              </a:rPr>
              <a:t>关键应用场景</a:t>
            </a:r>
          </a:p>
        </p:txBody>
      </p:sp>
      <p:sp>
        <p:nvSpPr>
          <p:cNvPr id="10" name="AutoShape 10"/>
          <p:cNvSpPr/>
          <p:nvPr/>
        </p:nvSpPr>
        <p:spPr>
          <a:xfrm>
            <a:off x="8089498" y="2671177"/>
            <a:ext cx="2394686" cy="2316019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wrap="square" lIns="91440" tIns="45720" rIns="91440" bIns="45720" anchor="t">
            <a:spAutoFit/>
          </a:bodyPr>
          <a:lstStyle/>
          <a:p>
            <a:pPr marL="0" algn="l">
              <a:lnSpc>
                <a:spcPct val="150000"/>
              </a:lnSpc>
            </a:pPr>
            <a:r>
              <a:rPr lang="zh-CN" altLang="en-US" sz="1400" b="0" i="0" u="none" baseline="0">
                <a:solidFill>
                  <a:schemeClr val="lt1"/>
                </a:solidFill>
                <a:latin typeface="微软雅黑"/>
                <a:ea typeface="微软雅黑"/>
              </a:rPr>
              <a:t>演化计算在机器人设计、资源调度及金融投资策略优化等领域表明了良好的应用效果，能够高效适应动态变化的环境。</a:t>
            </a:r>
          </a:p>
        </p:txBody>
      </p:sp>
      <p:sp>
        <p:nvSpPr>
          <p:cNvPr id="11" name="AutoShape 11"/>
          <p:cNvSpPr>
            <a:spLocks noGrp="1"/>
          </p:cNvSpPr>
          <p:nvPr>
            <p:ph type="title"/>
          </p:nvPr>
        </p:nvSpPr>
        <p:spPr>
          <a:xfrm>
            <a:off x="660399" y="0"/>
            <a:ext cx="10858500" cy="1028700"/>
          </a:xfrm>
        </p:spPr>
        <p:txBody>
          <a:bodyPr vert="horz" lIns="91440" tIns="45720" rIns="91440" bIns="45720" anchor="b">
            <a:norm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zh-CN" altLang="en-US" sz="2800" b="1" i="0" u="none" baseline="0">
                <a:solidFill>
                  <a:srgbClr val="000000"/>
                </a:solidFill>
                <a:latin typeface="+mn-ea"/>
                <a:ea typeface="+mn-ea"/>
              </a:rPr>
              <a:t>演化计算简介</a:t>
            </a:r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3632289" y="1739591"/>
            <a:ext cx="4319239" cy="4334106"/>
          </a:xfrm>
          <a:prstGeom prst="roundRect">
            <a:avLst/>
          </a:prstGeom>
          <a:solidFill>
            <a:schemeClr val="accent2">
              <a:alpha val="10000"/>
            </a:schemeClr>
          </a:solidFill>
          <a:ln w="12700" cap="rnd" cmpd="sng">
            <a:gradFill>
              <a:gsLst>
                <a:gs pos="0">
                  <a:srgbClr val="002880"/>
                </a:gs>
                <a:gs pos="100000">
                  <a:srgbClr val="002880">
                    <a:alpha val="20000"/>
                    <a:lumMod val="60000"/>
                    <a:lumOff val="40000"/>
                  </a:srgbClr>
                </a:gs>
              </a:gsLst>
              <a:lin ang="2700000"/>
            </a:gradFill>
            <a:prstDash val="solid"/>
          </a:ln>
        </p:spPr>
        <p:txBody>
          <a:bodyPr rot="0" vert="horz" wrap="square" lIns="91440" tIns="45720" rIns="91440" bIns="45720" anchor="ctr">
            <a:noAutofit/>
          </a:bodyPr>
          <a:lstStyle/>
          <a:p>
            <a:pPr marL="0" algn="ctr"/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468350" y="1107687"/>
            <a:ext cx="4319239" cy="4334107"/>
          </a:xfrm>
          <a:prstGeom prst="roundRect">
            <a:avLst/>
          </a:prstGeom>
          <a:gradFill>
            <a:gsLst>
              <a:gs pos="0">
                <a:srgbClr val="002880">
                  <a:lumMod val="60000"/>
                  <a:lumOff val="40000"/>
                </a:srgbClr>
              </a:gs>
              <a:gs pos="60000">
                <a:srgbClr val="002880"/>
              </a:gs>
            </a:gsLst>
            <a:lin ang="2700000"/>
          </a:gradFill>
          <a:ln cap="rnd" cmpd="sng">
            <a:prstDash val="solid"/>
          </a:ln>
          <a:effectLst>
            <a:outerShdw blurRad="76200" dist="50800" dir="5400000" algn="ctr" rotWithShape="0">
              <a:schemeClr val="accent2">
                <a:alpha val="20000"/>
              </a:schemeClr>
            </a:outerShdw>
          </a:effectLst>
        </p:spPr>
        <p:txBody>
          <a:bodyPr rot="0" vert="horz" wrap="none" lIns="91440" tIns="45720" rIns="91440" bIns="45720" anchor="ctr">
            <a:noAutofit/>
          </a:bodyPr>
          <a:lstStyle/>
          <a:p>
            <a:pPr marL="0" algn="ctr"/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951528" y="426492"/>
            <a:ext cx="4158696" cy="4561819"/>
          </a:xfrm>
          <a:prstGeom prst="roundRect">
            <a:avLst>
              <a:gd name="adj" fmla="val 7022"/>
            </a:avLst>
          </a:prstGeom>
          <a:blipFill>
            <a:blip r:embed="rId3"/>
            <a:srcRect/>
            <a:stretch>
              <a:fillRect l="-25119" r="-25119"/>
            </a:stretch>
          </a:blipFill>
          <a:ln cap="flat" cmpd="sng">
            <a:prstDash val="solid"/>
          </a:ln>
        </p:spPr>
        <p:txBody>
          <a:bodyPr rot="0" vert="horz" wrap="square" lIns="91440" tIns="45720" rIns="91440" bIns="45720" anchor="t">
            <a:prstTxWarp prst="textNoShape">
              <a:avLst/>
            </a:prstTxWarp>
            <a:noAutofit/>
          </a:bodyPr>
          <a:lstStyle/>
          <a:p>
            <a:pPr marL="0" algn="ctr"/>
            <a:endParaRPr/>
          </a:p>
        </p:txBody>
      </p:sp>
      <p:sp>
        <p:nvSpPr>
          <p:cNvPr id="5" name="TextBox 5"/>
          <p:cNvSpPr txBox="1"/>
          <p:nvPr/>
        </p:nvSpPr>
        <p:spPr>
          <a:xfrm>
            <a:off x="907869" y="2617727"/>
            <a:ext cx="3389811" cy="1669688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ctr">
              <a:lnSpc>
                <a:spcPct val="150000"/>
              </a:lnSpc>
              <a:defRPr/>
            </a:pPr>
            <a:r>
              <a:rPr lang="zh-CN" altLang="en-US" sz="1400" b="0" i="0" u="none" baseline="0">
                <a:solidFill>
                  <a:srgbClr val="FFFFFF"/>
                </a:solidFill>
                <a:latin typeface="微软雅黑"/>
                <a:ea typeface="微软雅黑"/>
              </a:rPr>
              <a:t>智能代理是能够自主感知、决策及执行的系统，能够根据环境变化做出适应性反应，改进任务执行效率，提升用户体验。</a:t>
            </a:r>
            <a:endParaRPr lang="en-US" sz="1100"/>
          </a:p>
        </p:txBody>
      </p:sp>
      <p:sp>
        <p:nvSpPr>
          <p:cNvPr id="6" name="TextBox 6"/>
          <p:cNvSpPr txBox="1"/>
          <p:nvPr/>
        </p:nvSpPr>
        <p:spPr>
          <a:xfrm>
            <a:off x="907869" y="1986320"/>
            <a:ext cx="3389812" cy="338554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ctr">
              <a:lnSpc>
                <a:spcPct val="100000"/>
              </a:lnSpc>
              <a:defRPr/>
            </a:pPr>
            <a:r>
              <a:rPr lang="zh-CN" altLang="en-US" sz="1600" b="1" i="0" u="none" baseline="0">
                <a:ln/>
                <a:solidFill>
                  <a:srgbClr val="FFFFFF"/>
                </a:solidFill>
                <a:latin typeface="微软雅黑"/>
                <a:ea typeface="微软雅黑"/>
              </a:rPr>
              <a:t>智能代理的功能</a:t>
            </a:r>
            <a:endParaRPr lang="en-US" sz="1100"/>
          </a:p>
        </p:txBody>
      </p:sp>
      <p:sp>
        <p:nvSpPr>
          <p:cNvPr id="7" name="TextBox 7"/>
          <p:cNvSpPr txBox="1"/>
          <p:nvPr/>
        </p:nvSpPr>
        <p:spPr>
          <a:xfrm>
            <a:off x="4757535" y="2962064"/>
            <a:ext cx="2903831" cy="1992853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ctr">
              <a:lnSpc>
                <a:spcPct val="150000"/>
              </a:lnSpc>
              <a:defRPr/>
            </a:pPr>
            <a:r>
              <a:rPr lang="zh-CN" altLang="en-US" sz="1400" b="0" i="0" u="none" baseline="0">
                <a:solidFill>
                  <a:srgbClr val="000000"/>
                </a:solidFill>
                <a:latin typeface="微软雅黑"/>
                <a:ea typeface="微软雅黑"/>
              </a:rPr>
              <a:t>现实中，智能代理的实例包括聊天机器人、自动客服和虚拟助手等，它们在提高服务质量及降低人力成本方面起到了重要作用。</a:t>
            </a:r>
            <a:endParaRPr lang="en-US" sz="1100"/>
          </a:p>
        </p:txBody>
      </p:sp>
      <p:sp>
        <p:nvSpPr>
          <p:cNvPr id="8" name="TextBox 8"/>
          <p:cNvSpPr txBox="1"/>
          <p:nvPr/>
        </p:nvSpPr>
        <p:spPr>
          <a:xfrm>
            <a:off x="4757535" y="2330657"/>
            <a:ext cx="2903832" cy="338554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ctr">
              <a:lnSpc>
                <a:spcPct val="100000"/>
              </a:lnSpc>
              <a:defRPr/>
            </a:pPr>
            <a:r>
              <a:rPr lang="zh-CN" altLang="en-US" sz="1600" b="1" i="0" u="none" baseline="0">
                <a:ln/>
                <a:solidFill>
                  <a:srgbClr val="000000"/>
                </a:solidFill>
                <a:latin typeface="微软雅黑"/>
                <a:ea typeface="微软雅黑"/>
              </a:rPr>
              <a:t>现实中的智能代理实例</a:t>
            </a:r>
            <a:endParaRPr lang="en-US" sz="1100"/>
          </a:p>
        </p:txBody>
      </p:sp>
      <p:sp>
        <p:nvSpPr>
          <p:cNvPr id="9" name="AutoShape 9"/>
          <p:cNvSpPr>
            <a:spLocks noGrp="1"/>
          </p:cNvSpPr>
          <p:nvPr>
            <p:ph type="title"/>
          </p:nvPr>
        </p:nvSpPr>
        <p:spPr>
          <a:xfrm>
            <a:off x="660399" y="0"/>
            <a:ext cx="10858500" cy="1028700"/>
          </a:xfrm>
        </p:spPr>
        <p:txBody>
          <a:bodyPr vert="horz" lIns="91440" tIns="45720" rIns="91440" bIns="45720" anchor="b">
            <a:norm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zh-CN" altLang="en-US" sz="28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智能代理的角色</a:t>
            </a:r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title"/>
          </p:nvPr>
        </p:nvSpPr>
        <p:spPr>
          <a:xfrm>
            <a:off x="1759568" y="2145656"/>
            <a:ext cx="8358303" cy="646331"/>
          </a:xfrm>
        </p:spPr>
        <p:txBody>
          <a:bodyPr vert="horz" wrap="square" lIns="91440" tIns="45720" rIns="91440" b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3600" b="1" i="0" u="none" baseline="0">
                <a:solidFill>
                  <a:srgbClr val="F0F0F0"/>
                </a:solidFill>
                <a:latin typeface="微软雅黑"/>
                <a:ea typeface="微软雅黑"/>
              </a:rPr>
              <a:t>人工智能的伦理与未来展望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94652" y="2126166"/>
            <a:ext cx="750849" cy="707886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l">
              <a:defRPr/>
            </a:pPr>
            <a:r>
              <a:rPr lang="en-US" sz="4000" b="1" i="0" u="none" baseline="0">
                <a:solidFill>
                  <a:srgbClr val="FFFFFF"/>
                </a:solidFill>
                <a:latin typeface="Arial"/>
                <a:ea typeface="Arial"/>
              </a:rPr>
              <a:t>06</a:t>
            </a:r>
            <a:endParaRPr lang="en-US" sz="1100"/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title"/>
          </p:nvPr>
        </p:nvSpPr>
        <p:spPr>
          <a:xfrm>
            <a:off x="660399" y="0"/>
            <a:ext cx="10858500" cy="1028700"/>
          </a:xfrm>
        </p:spPr>
        <p:txBody>
          <a:bodyPr vert="horz" lIns="91440" tIns="45720" rIns="91440" bIns="45720" anchor="b">
            <a:norm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zh-CN" altLang="en-US" sz="28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人工智能的伦理问题</a:t>
            </a:r>
          </a:p>
        </p:txBody>
      </p:sp>
      <p:sp>
        <p:nvSpPr>
          <p:cNvPr id="3" name="AutoShape 3"/>
          <p:cNvSpPr/>
          <p:nvPr/>
        </p:nvSpPr>
        <p:spPr>
          <a:xfrm>
            <a:off x="1072294" y="1675039"/>
            <a:ext cx="4292910" cy="3341460"/>
          </a:xfrm>
          <a:prstGeom prst="rect">
            <a:avLst/>
          </a:prstGeom>
          <a:solidFill>
            <a:srgbClr val="000000">
              <a:alpha val="10000"/>
              <a:lumMod val="50000"/>
              <a:lumOff val="50000"/>
            </a:srgbClr>
          </a:solidFill>
          <a:ln cap="rnd" cmpd="sng">
            <a:prstDash val="solid"/>
          </a:ln>
        </p:spPr>
        <p:txBody>
          <a:bodyPr rot="0" vert="horz" wrap="square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4" name="TextBox 4"/>
          <p:cNvSpPr txBox="1"/>
          <p:nvPr/>
        </p:nvSpPr>
        <p:spPr>
          <a:xfrm>
            <a:off x="1161213" y="2789193"/>
            <a:ext cx="3619789" cy="338554"/>
          </a:xfrm>
          <a:prstGeom prst="rect">
            <a:avLst/>
          </a:prstGeom>
          <a:noFill/>
          <a:ln cap="rnd" cmpd="sng">
            <a:prstDash val="solid"/>
          </a:ln>
        </p:spPr>
        <p:txBody>
          <a:bodyPr rot="0" vert="horz" wrap="square" lIns="91440" tIns="45720" rIns="91440" bIns="45720" rtlCol="0" anchor="ctr">
            <a:prstTxWarp prst="textNoShape">
              <a:avLst/>
            </a:prstTxWarp>
            <a:spAutoFit/>
          </a:bodyPr>
          <a:lstStyle/>
          <a:p>
            <a:pPr marL="0" algn="l">
              <a:defRPr/>
            </a:pPr>
            <a:r>
              <a:rPr lang="zh-CN" altLang="en-US" sz="16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伦理困境与道德责任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161212" y="3184540"/>
            <a:ext cx="3619791" cy="1346522"/>
          </a:xfrm>
          <a:prstGeom prst="rect">
            <a:avLst/>
          </a:prstGeom>
        </p:spPr>
        <p:txBody>
          <a:bodyPr vert="horz" wrap="square" lIns="91440" tIns="45720" rIns="91440" bIns="45720" anchor="t">
            <a:spAutoFit/>
          </a:bodyPr>
          <a:lstStyle/>
          <a:p>
            <a:pPr marL="0" algn="l">
              <a:lnSpc>
                <a:spcPct val="150000"/>
              </a:lnSpc>
            </a:pPr>
            <a:r>
              <a:rPr lang="zh-CN" altLang="en-US" sz="1400" b="0" i="0" u="none" baseline="0">
                <a:solidFill>
                  <a:srgbClr val="000000"/>
                </a:solidFill>
                <a:latin typeface="微软雅黑"/>
                <a:ea typeface="微软雅黑"/>
              </a:rPr>
              <a:t>随着AI技术的广泛应用，伦理困境逐渐显现，如算法偏见、决策透明性等问题，亟需人们深入探讨AI的发展与人类社会的道德责任。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029435" y="3844814"/>
            <a:ext cx="1441420" cy="1446550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t">
            <a:spAutoFit/>
          </a:bodyPr>
          <a:lstStyle/>
          <a:p>
            <a:pPr marL="0" algn="l">
              <a:defRPr/>
            </a:pPr>
            <a:r>
              <a:rPr lang="en-US" sz="8800" b="1" i="0" u="none" baseline="0">
                <a:solidFill>
                  <a:srgbClr val="FFFFFF"/>
                </a:solidFill>
                <a:latin typeface="Arial"/>
                <a:ea typeface="Arial"/>
              </a:rPr>
              <a:t>01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>
            <a:off x="1072294" y="1688102"/>
            <a:ext cx="4292910" cy="0"/>
          </a:xfrm>
          <a:prstGeom prst="line">
            <a:avLst/>
          </a:prstGeom>
          <a:ln w="25400" cap="flat" cmpd="sng">
            <a:solidFill>
              <a:schemeClr val="accent1"/>
            </a:solidFill>
            <a:prstDash val="solid"/>
          </a:ln>
        </p:spPr>
      </p:cxnSp>
      <p:sp>
        <p:nvSpPr>
          <p:cNvPr id="8" name="Freeform 8"/>
          <p:cNvSpPr/>
          <p:nvPr/>
        </p:nvSpPr>
        <p:spPr>
          <a:xfrm>
            <a:off x="1257741" y="2118478"/>
            <a:ext cx="320770" cy="433039"/>
          </a:xfrm>
          <a:custGeom>
            <a:avLst/>
            <a:gdLst/>
            <a:ahLst/>
            <a:cxnLst/>
            <a:rect l="l" t="t" r="r" b="b"/>
            <a:pathLst>
              <a:path w="381000" h="514350">
                <a:moveTo>
                  <a:pt x="86973" y="38721"/>
                </a:moveTo>
                <a:lnTo>
                  <a:pt x="86973" y="95871"/>
                </a:lnTo>
                <a:lnTo>
                  <a:pt x="296523" y="95871"/>
                </a:lnTo>
                <a:lnTo>
                  <a:pt x="296523" y="38721"/>
                </a:lnTo>
                <a:lnTo>
                  <a:pt x="382248" y="38721"/>
                </a:lnTo>
                <a:lnTo>
                  <a:pt x="382248" y="514971"/>
                </a:lnTo>
                <a:lnTo>
                  <a:pt x="1248" y="514971"/>
                </a:lnTo>
                <a:lnTo>
                  <a:pt x="1248" y="38721"/>
                </a:lnTo>
                <a:lnTo>
                  <a:pt x="86973" y="38721"/>
                </a:lnTo>
                <a:close/>
                <a:moveTo>
                  <a:pt x="191748" y="333996"/>
                </a:moveTo>
                <a:lnTo>
                  <a:pt x="77448" y="333996"/>
                </a:lnTo>
                <a:lnTo>
                  <a:pt x="77448" y="353046"/>
                </a:lnTo>
                <a:lnTo>
                  <a:pt x="191748" y="353046"/>
                </a:lnTo>
                <a:lnTo>
                  <a:pt x="191748" y="333996"/>
                </a:lnTo>
                <a:close/>
                <a:moveTo>
                  <a:pt x="306048" y="257796"/>
                </a:moveTo>
                <a:lnTo>
                  <a:pt x="77448" y="257796"/>
                </a:lnTo>
                <a:lnTo>
                  <a:pt x="77448" y="276846"/>
                </a:lnTo>
                <a:lnTo>
                  <a:pt x="306048" y="276846"/>
                </a:lnTo>
                <a:lnTo>
                  <a:pt x="306048" y="257796"/>
                </a:lnTo>
                <a:close/>
                <a:moveTo>
                  <a:pt x="306048" y="181596"/>
                </a:moveTo>
                <a:lnTo>
                  <a:pt x="77448" y="181596"/>
                </a:lnTo>
                <a:lnTo>
                  <a:pt x="77448" y="200646"/>
                </a:lnTo>
                <a:lnTo>
                  <a:pt x="306048" y="200646"/>
                </a:lnTo>
                <a:lnTo>
                  <a:pt x="306048" y="181596"/>
                </a:lnTo>
                <a:close/>
                <a:moveTo>
                  <a:pt x="277473" y="621"/>
                </a:moveTo>
                <a:lnTo>
                  <a:pt x="277473" y="76821"/>
                </a:lnTo>
                <a:lnTo>
                  <a:pt x="106023" y="76821"/>
                </a:lnTo>
                <a:lnTo>
                  <a:pt x="106023" y="621"/>
                </a:lnTo>
                <a:lnTo>
                  <a:pt x="277473" y="621"/>
                </a:lnTo>
                <a:close/>
              </a:path>
            </a:pathLst>
          </a:custGeom>
          <a:solidFill>
            <a:schemeClr val="accent1"/>
          </a:solidFill>
        </p:spPr>
        <p:txBody>
          <a:bodyPr vert="horz" lIns="91440" tIns="45720" rIns="91440" bIns="45720" anchor="t">
            <a:normAutofit/>
          </a:bodyPr>
          <a:lstStyle/>
          <a:p>
            <a:pPr marL="0" algn="l"/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6721145" y="1675039"/>
            <a:ext cx="4292910" cy="3341460"/>
          </a:xfrm>
          <a:prstGeom prst="rect">
            <a:avLst/>
          </a:prstGeom>
          <a:solidFill>
            <a:srgbClr val="000000">
              <a:alpha val="10000"/>
              <a:lumMod val="50000"/>
              <a:lumOff val="50000"/>
            </a:srgbClr>
          </a:solidFill>
          <a:ln cap="rnd" cmpd="sng">
            <a:prstDash val="solid"/>
          </a:ln>
        </p:spPr>
        <p:txBody>
          <a:bodyPr rot="0" vert="horz" wrap="square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10" name="TextBox 10"/>
          <p:cNvSpPr txBox="1"/>
          <p:nvPr/>
        </p:nvSpPr>
        <p:spPr>
          <a:xfrm>
            <a:off x="6810064" y="2789193"/>
            <a:ext cx="3619789" cy="338554"/>
          </a:xfrm>
          <a:prstGeom prst="rect">
            <a:avLst/>
          </a:prstGeom>
          <a:noFill/>
          <a:ln cap="rnd" cmpd="sng">
            <a:prstDash val="solid"/>
          </a:ln>
        </p:spPr>
        <p:txBody>
          <a:bodyPr rot="0" vert="horz" wrap="square" lIns="91440" tIns="45720" rIns="91440" bIns="45720" rtlCol="0" anchor="ctr">
            <a:prstTxWarp prst="textNoShape">
              <a:avLst/>
            </a:prstTxWarp>
            <a:spAutoFit/>
          </a:bodyPr>
          <a:lstStyle/>
          <a:p>
            <a:pPr marL="0" algn="l">
              <a:defRPr/>
            </a:pPr>
            <a:r>
              <a:rPr lang="zh-CN" altLang="en-US" sz="1600" b="1" i="0" u="none" baseline="0">
                <a:solidFill>
                  <a:srgbClr val="000000"/>
                </a:solidFill>
                <a:latin typeface="微软雅黑"/>
                <a:ea typeface="微软雅黑"/>
              </a:rPr>
              <a:t>数据隐私与安全性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810063" y="3184540"/>
            <a:ext cx="3619791" cy="1345048"/>
          </a:xfrm>
          <a:prstGeom prst="rect">
            <a:avLst/>
          </a:prstGeom>
        </p:spPr>
        <p:txBody>
          <a:bodyPr vert="horz" wrap="square" lIns="91440" tIns="45720" rIns="91440" bIns="45720" anchor="t">
            <a:spAutoFit/>
          </a:bodyPr>
          <a:lstStyle/>
          <a:p>
            <a:pPr marL="0" algn="l">
              <a:lnSpc>
                <a:spcPct val="150000"/>
              </a:lnSpc>
            </a:pPr>
            <a:r>
              <a:rPr lang="zh-CN" altLang="en-US" sz="1400" b="0" i="0" u="none" baseline="0">
                <a:solidFill>
                  <a:srgbClr val="000000"/>
                </a:solidFill>
                <a:latin typeface="微软雅黑"/>
                <a:ea typeface="微软雅黑"/>
              </a:rPr>
              <a:t>数据隐私保护成为AI发展的重要议题，如何在确保技术创新与保护用户隐私之间取得平衡，是行业面临的重大挑战。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678286" y="3844814"/>
            <a:ext cx="1441420" cy="1446550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t">
            <a:spAutoFit/>
          </a:bodyPr>
          <a:lstStyle/>
          <a:p>
            <a:pPr marL="0" algn="l">
              <a:defRPr/>
            </a:pPr>
            <a:r>
              <a:rPr lang="en-US" sz="8800" b="1" i="0" u="none" baseline="0">
                <a:solidFill>
                  <a:srgbClr val="FFFFFF"/>
                </a:solidFill>
                <a:latin typeface="Arial"/>
                <a:ea typeface="Arial"/>
              </a:rPr>
              <a:t>02</a:t>
            </a:r>
            <a:endParaRPr lang="en-US" sz="1100"/>
          </a:p>
        </p:txBody>
      </p:sp>
      <p:cxnSp>
        <p:nvCxnSpPr>
          <p:cNvPr id="13" name="Connector 13"/>
          <p:cNvCxnSpPr/>
          <p:nvPr/>
        </p:nvCxnSpPr>
        <p:spPr>
          <a:xfrm>
            <a:off x="6721145" y="1688102"/>
            <a:ext cx="4292910" cy="0"/>
          </a:xfrm>
          <a:prstGeom prst="line">
            <a:avLst/>
          </a:prstGeom>
          <a:ln w="25400" cap="flat" cmpd="sng">
            <a:solidFill>
              <a:schemeClr val="accent1"/>
            </a:solidFill>
            <a:prstDash val="solid"/>
          </a:ln>
        </p:spPr>
      </p:cxnSp>
      <p:sp>
        <p:nvSpPr>
          <p:cNvPr id="14" name="Freeform 14"/>
          <p:cNvSpPr/>
          <p:nvPr/>
        </p:nvSpPr>
        <p:spPr>
          <a:xfrm>
            <a:off x="6929962" y="2089250"/>
            <a:ext cx="425166" cy="433039"/>
          </a:xfrm>
          <a:custGeom>
            <a:avLst/>
            <a:gdLst/>
            <a:ahLst/>
            <a:cxnLst/>
            <a:rect l="l" t="t" r="r" b="b"/>
            <a:pathLst>
              <a:path w="514350" h="523875">
                <a:moveTo>
                  <a:pt x="257175" y="266700"/>
                </a:moveTo>
                <a:cubicBezTo>
                  <a:pt x="330518" y="266700"/>
                  <a:pt x="390525" y="206693"/>
                  <a:pt x="390525" y="133350"/>
                </a:cubicBezTo>
                <a:cubicBezTo>
                  <a:pt x="390525" y="60008"/>
                  <a:pt x="330518" y="0"/>
                  <a:pt x="257175" y="0"/>
                </a:cubicBezTo>
                <a:cubicBezTo>
                  <a:pt x="183833" y="0"/>
                  <a:pt x="123825" y="60008"/>
                  <a:pt x="123825" y="133350"/>
                </a:cubicBezTo>
                <a:cubicBezTo>
                  <a:pt x="123825" y="206693"/>
                  <a:pt x="183833" y="266700"/>
                  <a:pt x="257175" y="266700"/>
                </a:cubicBezTo>
                <a:close/>
                <a:moveTo>
                  <a:pt x="457200" y="333375"/>
                </a:moveTo>
                <a:lnTo>
                  <a:pt x="57150" y="333375"/>
                </a:lnTo>
                <a:lnTo>
                  <a:pt x="0" y="390525"/>
                </a:lnTo>
                <a:lnTo>
                  <a:pt x="0" y="523875"/>
                </a:lnTo>
                <a:lnTo>
                  <a:pt x="514350" y="523875"/>
                </a:lnTo>
                <a:lnTo>
                  <a:pt x="514350" y="390525"/>
                </a:lnTo>
                <a:lnTo>
                  <a:pt x="457200" y="333375"/>
                </a:lnTo>
                <a:close/>
                <a:moveTo>
                  <a:pt x="447675" y="457200"/>
                </a:moveTo>
                <a:lnTo>
                  <a:pt x="333375" y="457200"/>
                </a:lnTo>
                <a:lnTo>
                  <a:pt x="333375" y="438150"/>
                </a:lnTo>
                <a:lnTo>
                  <a:pt x="447675" y="438150"/>
                </a:lnTo>
                <a:lnTo>
                  <a:pt x="447675" y="457200"/>
                </a:lnTo>
                <a:close/>
              </a:path>
            </a:pathLst>
          </a:custGeom>
          <a:solidFill>
            <a:schemeClr val="accent1"/>
          </a:solidFill>
        </p:spPr>
        <p:txBody>
          <a:bodyPr vert="horz" lIns="91440" tIns="45720" rIns="91440" bIns="45720" anchor="t">
            <a:normAutofit/>
          </a:bodyPr>
          <a:lstStyle/>
          <a:p>
            <a:pPr marL="0" algn="l"/>
            <a:endParaRPr/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2"/>
          <p:cNvCxnSpPr/>
          <p:nvPr/>
        </p:nvCxnSpPr>
        <p:spPr>
          <a:xfrm>
            <a:off x="4558857" y="2581356"/>
            <a:ext cx="0" cy="2119085"/>
          </a:xfrm>
          <a:prstGeom prst="line">
            <a:avLst/>
          </a:prstGeom>
          <a:ln w="12700" cap="flat" cmpd="sng">
            <a:solidFill>
              <a:srgbClr val="778495"/>
            </a:solidFill>
            <a:prstDash val="solid"/>
          </a:ln>
        </p:spPr>
      </p:cxnSp>
      <p:sp>
        <p:nvSpPr>
          <p:cNvPr id="3" name="AutoShape 3"/>
          <p:cNvSpPr/>
          <p:nvPr/>
        </p:nvSpPr>
        <p:spPr>
          <a:xfrm flipH="1">
            <a:off x="7725" y="1648246"/>
            <a:ext cx="4370959" cy="3552305"/>
          </a:xfrm>
          <a:prstGeom prst="homePlate">
            <a:avLst>
              <a:gd name="adj" fmla="val 39231"/>
            </a:avLst>
          </a:prstGeom>
          <a:gradFill>
            <a:gsLst>
              <a:gs pos="0">
                <a:srgbClr val="0048B4">
                  <a:lumMod val="60000"/>
                  <a:lumOff val="40000"/>
                </a:srgbClr>
              </a:gs>
              <a:gs pos="60000">
                <a:srgbClr val="0048B4"/>
              </a:gs>
            </a:gsLst>
            <a:lin ang="2700000"/>
          </a:gradFill>
          <a:ln cap="rnd" cmpd="sng">
            <a:prstDash val="solid"/>
          </a:ln>
          <a:effectLst>
            <a:outerShdw blurRad="50800" dist="50800" dir="5400000" algn="ctr" rotWithShape="0">
              <a:schemeClr val="accent1">
                <a:alpha val="20000"/>
              </a:schemeClr>
            </a:outerShdw>
          </a:effectLst>
        </p:spPr>
        <p:txBody>
          <a:bodyPr rot="0" vert="horz" wrap="square" lIns="91440" tIns="45720" rIns="91440" bIns="45720" anchor="b">
            <a:normAutofit/>
          </a:bodyPr>
          <a:lstStyle/>
          <a:p>
            <a:pPr marL="0" algn="ctr"/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733956" y="1667964"/>
            <a:ext cx="4370957" cy="3552305"/>
          </a:xfrm>
          <a:prstGeom prst="homePlate">
            <a:avLst>
              <a:gd name="adj" fmla="val 39231"/>
            </a:avLst>
          </a:prstGeom>
          <a:gradFill>
            <a:gsLst>
              <a:gs pos="0">
                <a:srgbClr val="0048B4">
                  <a:lumMod val="60000"/>
                  <a:lumOff val="40000"/>
                </a:srgbClr>
              </a:gs>
              <a:gs pos="60000">
                <a:srgbClr val="0048B4"/>
              </a:gs>
            </a:gsLst>
            <a:lin ang="2700000"/>
          </a:gradFill>
          <a:ln cap="rnd" cmpd="sng">
            <a:prstDash val="solid"/>
          </a:ln>
          <a:effectLst>
            <a:outerShdw blurRad="50800" dist="50800" dir="5400000" algn="ctr" rotWithShape="0">
              <a:schemeClr val="accent1">
                <a:alpha val="20000"/>
              </a:schemeClr>
            </a:outerShdw>
          </a:effectLst>
        </p:spPr>
        <p:txBody>
          <a:bodyPr rot="0" vert="horz" wrap="square" lIns="91440" tIns="45720" rIns="91440" bIns="45720" anchor="b">
            <a:normAutofit/>
          </a:bodyPr>
          <a:lstStyle/>
          <a:p>
            <a:pPr marL="0" algn="ctr"/>
            <a:endParaRPr/>
          </a:p>
        </p:txBody>
      </p:sp>
      <p:cxnSp>
        <p:nvCxnSpPr>
          <p:cNvPr id="5" name="Connector 5"/>
          <p:cNvCxnSpPr/>
          <p:nvPr/>
        </p:nvCxnSpPr>
        <p:spPr>
          <a:xfrm>
            <a:off x="7530657" y="2581356"/>
            <a:ext cx="0" cy="2119085"/>
          </a:xfrm>
          <a:prstGeom prst="line">
            <a:avLst/>
          </a:prstGeom>
          <a:ln w="12700" cap="flat" cmpd="sng">
            <a:solidFill>
              <a:srgbClr val="778495"/>
            </a:solidFill>
            <a:prstDash val="solid"/>
          </a:ln>
        </p:spPr>
      </p:cxnSp>
      <p:sp>
        <p:nvSpPr>
          <p:cNvPr id="6" name="AutoShape 6"/>
          <p:cNvSpPr/>
          <p:nvPr/>
        </p:nvSpPr>
        <p:spPr>
          <a:xfrm>
            <a:off x="4608240" y="2439464"/>
            <a:ext cx="2922417" cy="2815246"/>
          </a:xfrm>
          <a:prstGeom prst="ellipse">
            <a:avLst/>
          </a:prstGeom>
          <a:blipFill>
            <a:blip r:embed="rId3"/>
            <a:srcRect/>
            <a:stretch>
              <a:fillRect l="-25119" r="-25119"/>
            </a:stretch>
          </a:blipFill>
          <a:ln cap="flat">
            <a:prstDash val="solid"/>
          </a:ln>
        </p:spPr>
        <p:txBody>
          <a:bodyPr rot="0" vert="horz" wrap="square" lIns="91440" tIns="45720" rIns="91440" bIns="45720" anchor="ctr">
            <a:prstTxWarp prst="textNoShape">
              <a:avLst/>
            </a:prstTxWarp>
            <a:noAutofit/>
          </a:bodyPr>
          <a:lstStyle/>
          <a:p>
            <a:pPr marL="0" algn="ctr"/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1720114" y="2100910"/>
            <a:ext cx="2394686" cy="338554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wrap="square" lIns="91440" tIns="45720" rIns="91440" bIns="45720" anchor="t">
            <a:spAutoFit/>
          </a:bodyPr>
          <a:lstStyle/>
          <a:p>
            <a:pPr marL="0" algn="l">
              <a:lnSpc>
                <a:spcPct val="100000"/>
              </a:lnSpc>
            </a:pPr>
            <a:r>
              <a:rPr lang="zh-CN" altLang="en-US" sz="1600" b="1" i="0" u="none" baseline="0">
                <a:solidFill>
                  <a:srgbClr val="FFFFFF"/>
                </a:solidFill>
                <a:latin typeface="微软雅黑"/>
                <a:ea typeface="微软雅黑"/>
              </a:rPr>
              <a:t>可能的技术变革</a:t>
            </a:r>
          </a:p>
        </p:txBody>
      </p:sp>
      <p:sp>
        <p:nvSpPr>
          <p:cNvPr id="8" name="AutoShape 8"/>
          <p:cNvSpPr/>
          <p:nvPr/>
        </p:nvSpPr>
        <p:spPr>
          <a:xfrm>
            <a:off x="1715976" y="2671177"/>
            <a:ext cx="2394686" cy="2316019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wrap="square" lIns="91440" tIns="45720" rIns="91440" bIns="45720" anchor="t">
            <a:spAutoFit/>
          </a:bodyPr>
          <a:lstStyle/>
          <a:p>
            <a:pPr marL="0" algn="l">
              <a:lnSpc>
                <a:spcPct val="150000"/>
              </a:lnSpc>
            </a:pPr>
            <a:r>
              <a:rPr lang="zh-CN" altLang="en-US" sz="1400" b="0" i="0" u="none" baseline="0">
                <a:solidFill>
                  <a:schemeClr val="lt1"/>
                </a:solidFill>
                <a:latin typeface="微软雅黑"/>
                <a:ea typeface="微软雅黑"/>
              </a:rPr>
              <a:t>未来人工智能有望在多模态学习、自我学习和情感计算等领域实现技术变革，提高智能化水平，增强人机交互的自然性。</a:t>
            </a:r>
          </a:p>
        </p:txBody>
      </p:sp>
      <p:sp>
        <p:nvSpPr>
          <p:cNvPr id="9" name="AutoShape 9"/>
          <p:cNvSpPr/>
          <p:nvPr/>
        </p:nvSpPr>
        <p:spPr>
          <a:xfrm>
            <a:off x="8093636" y="2100910"/>
            <a:ext cx="2394686" cy="338554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wrap="square" lIns="91440" tIns="45720" rIns="91440" bIns="45720" anchor="t">
            <a:spAutoFit/>
          </a:bodyPr>
          <a:lstStyle/>
          <a:p>
            <a:pPr marL="0" algn="l">
              <a:lnSpc>
                <a:spcPct val="100000"/>
              </a:lnSpc>
            </a:pPr>
            <a:r>
              <a:rPr lang="zh-CN" altLang="en-US" sz="1600" b="1" i="0" u="none" baseline="0">
                <a:solidFill>
                  <a:srgbClr val="FFFFFF"/>
                </a:solidFill>
                <a:latin typeface="微软雅黑"/>
                <a:ea typeface="微软雅黑"/>
              </a:rPr>
              <a:t>对社会的长期影响</a:t>
            </a:r>
          </a:p>
        </p:txBody>
      </p:sp>
      <p:sp>
        <p:nvSpPr>
          <p:cNvPr id="10" name="AutoShape 10"/>
          <p:cNvSpPr/>
          <p:nvPr/>
        </p:nvSpPr>
        <p:spPr>
          <a:xfrm>
            <a:off x="8089498" y="2671177"/>
            <a:ext cx="2394686" cy="2316019"/>
          </a:xfrm>
          <a:prstGeom prst="rect">
            <a:avLst/>
          </a:prstGeom>
          <a:noFill/>
          <a:ln cap="flat" cmpd="sng">
            <a:prstDash val="solid"/>
          </a:ln>
        </p:spPr>
        <p:txBody>
          <a:bodyPr vert="horz" wrap="square" lIns="91440" tIns="45720" rIns="91440" bIns="45720" anchor="t">
            <a:spAutoFit/>
          </a:bodyPr>
          <a:lstStyle/>
          <a:p>
            <a:pPr marL="0" algn="l">
              <a:lnSpc>
                <a:spcPct val="150000"/>
              </a:lnSpc>
            </a:pPr>
            <a:r>
              <a:rPr lang="zh-CN" altLang="en-US" sz="1400" b="0" i="0" u="none" baseline="0">
                <a:solidFill>
                  <a:schemeClr val="lt1"/>
                </a:solidFill>
                <a:latin typeface="微软雅黑"/>
                <a:ea typeface="微软雅黑"/>
              </a:rPr>
              <a:t>人工智能的持续发展将可能重塑社会结构，影响就业市场与日常生活方式，理应引起广泛关注，推动政策与法规的跟进，以应对潜在的社会变化。</a:t>
            </a:r>
          </a:p>
        </p:txBody>
      </p:sp>
      <p:sp>
        <p:nvSpPr>
          <p:cNvPr id="11" name="AutoShape 11"/>
          <p:cNvSpPr>
            <a:spLocks noGrp="1"/>
          </p:cNvSpPr>
          <p:nvPr>
            <p:ph type="title"/>
          </p:nvPr>
        </p:nvSpPr>
        <p:spPr>
          <a:xfrm>
            <a:off x="660399" y="0"/>
            <a:ext cx="10858500" cy="1028700"/>
          </a:xfrm>
        </p:spPr>
        <p:txBody>
          <a:bodyPr vert="horz" lIns="91440" tIns="45720" rIns="91440" bIns="45720" anchor="b">
            <a:norm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zh-CN" altLang="en-US" sz="2800" b="1" i="0" u="none" baseline="0">
                <a:solidFill>
                  <a:srgbClr val="000000"/>
                </a:solidFill>
                <a:latin typeface="+mn-ea"/>
                <a:ea typeface="+mn-ea"/>
              </a:rPr>
              <a:t>人工智能的未来发展</a:t>
            </a:r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title"/>
          </p:nvPr>
        </p:nvSpPr>
        <p:spPr>
          <a:xfrm>
            <a:off x="1047750" y="857250"/>
            <a:ext cx="5810250" cy="1809750"/>
          </a:xfrm>
        </p:spPr>
        <p:txBody>
          <a:bodyPr vert="horz" wrap="square" lIns="91440" tIns="45720" rIns="91440" bIns="45720" anchor="b">
            <a:norm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zh-CN" altLang="en-US" sz="6000" b="1" i="0" u="none" baseline="0">
                <a:solidFill>
                  <a:srgbClr val="F0F0F0"/>
                </a:solidFill>
                <a:latin typeface="微软雅黑"/>
                <a:ea typeface="微软雅黑"/>
              </a:rPr>
              <a:t>感谢聆听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144858" y="2818841"/>
            <a:ext cx="862361" cy="307777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l">
              <a:defRPr/>
            </a:pPr>
            <a:r>
              <a:rPr lang="zh-CN" altLang="en-US" sz="1400" b="0" i="0" u="none" baseline="0">
                <a:solidFill>
                  <a:srgbClr val="FFFFFF"/>
                </a:solidFill>
                <a:latin typeface="微软雅黑"/>
                <a:ea typeface="微软雅黑"/>
              </a:rPr>
              <a:t>汇报人</a:t>
            </a:r>
            <a:endParaRPr lang="en-US" sz="1100"/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0048B4"/>
      </a:accent1>
      <a:accent2>
        <a:srgbClr val="002880"/>
      </a:accent2>
      <a:accent3>
        <a:srgbClr val="0F99FF"/>
      </a:accent3>
      <a:accent4>
        <a:srgbClr val="006BE2"/>
      </a:accent4>
      <a:accent5>
        <a:srgbClr val="A20841"/>
      </a:accent5>
      <a:accent6>
        <a:srgbClr val="800012"/>
      </a:accent6>
      <a:hlink>
        <a:srgbClr val="4472C4"/>
      </a:hlink>
      <a:folHlink>
        <a:srgbClr val="BFBFBF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1249</Words>
  <Application>Microsoft Office PowerPoint</Application>
  <PresentationFormat>宽屏</PresentationFormat>
  <Paragraphs>106</Paragraphs>
  <Slides>21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24" baseType="lpstr">
      <vt:lpstr>微软雅黑</vt:lpstr>
      <vt:lpstr>Arial</vt:lpstr>
      <vt:lpstr>Office Theme</vt:lpstr>
      <vt:lpstr>第一讲认识人工智能--人工智能主要流派</vt:lpstr>
      <vt:lpstr>PowerPoint 演示文稿</vt:lpstr>
      <vt:lpstr>人工智能概述</vt:lpstr>
      <vt:lpstr>人工智能定义</vt:lpstr>
      <vt:lpstr>人工智能的应用领域</vt:lpstr>
      <vt:lpstr>人工智能流派概述</vt:lpstr>
      <vt:lpstr>人工智能流派分类</vt:lpstr>
      <vt:lpstr>人工智能流派的影响</vt:lpstr>
      <vt:lpstr>符号主义与规则基础</vt:lpstr>
      <vt:lpstr>符号主义的定义与特点</vt:lpstr>
      <vt:lpstr>规则基础方法</vt:lpstr>
      <vt:lpstr>连接主义的思维模式</vt:lpstr>
      <vt:lpstr>神经网络基础</vt:lpstr>
      <vt:lpstr>深度学习的应用</vt:lpstr>
      <vt:lpstr>演化计算与智能代理</vt:lpstr>
      <vt:lpstr>演化计算简介</vt:lpstr>
      <vt:lpstr>智能代理的角色</vt:lpstr>
      <vt:lpstr>人工智能的伦理与未来展望</vt:lpstr>
      <vt:lpstr>人工智能的伦理问题</vt:lpstr>
      <vt:lpstr>人工智能的未来发展</vt:lpstr>
      <vt:lpstr>感谢聆听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充 刘</cp:lastModifiedBy>
  <cp:revision>2</cp:revision>
  <dcterms:created xsi:type="dcterms:W3CDTF">2025-07-16T04:22:11Z</dcterms:created>
  <dcterms:modified xsi:type="dcterms:W3CDTF">2025-07-16T09:44:05Z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pyright">
    <vt:lpwstr>https://docmee.cn</vt:lpwstr>
  </property>
  <property fmtid="{D5CDD505-2E9C-101B-9397-08002B2CF9AE}" pid="3" name="developer">
    <vt:lpwstr>https://github.com/veasion</vt:lpwstr>
  </property>
</Properties>
</file>